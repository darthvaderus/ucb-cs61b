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Lst>
  <p:sldSz cy="5143500" cx="9144000"/>
  <p:notesSz cx="6858000" cy="9144000"/>
  <p:embeddedFontLst>
    <p:embeddedFont>
      <p:font typeface="Roboto Medium"/>
      <p:regular r:id="rId67"/>
      <p:bold r:id="rId68"/>
      <p:italic r:id="rId69"/>
      <p:boldItalic r:id="rId70"/>
    </p:embeddedFont>
    <p:embeddedFont>
      <p:font typeface="Roboto"/>
      <p:regular r:id="rId71"/>
      <p:bold r:id="rId72"/>
      <p:italic r:id="rId73"/>
      <p:boldItalic r:id="rId74"/>
    </p:embeddedFont>
    <p:embeddedFont>
      <p:font typeface="Roboto Light"/>
      <p:regular r:id="rId75"/>
      <p:bold r:id="rId76"/>
      <p:italic r:id="rId77"/>
      <p:boldItalic r:id="rId7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Roboto-italic.fntdata"/><Relationship Id="rId72" Type="http://schemas.openxmlformats.org/officeDocument/2006/relationships/font" Target="fonts/Roboto-bold.fntdata"/><Relationship Id="rId31" Type="http://schemas.openxmlformats.org/officeDocument/2006/relationships/slide" Target="slides/slide26.xml"/><Relationship Id="rId75" Type="http://schemas.openxmlformats.org/officeDocument/2006/relationships/font" Target="fonts/RobotoLight-regular.fntdata"/><Relationship Id="rId30" Type="http://schemas.openxmlformats.org/officeDocument/2006/relationships/slide" Target="slides/slide25.xml"/><Relationship Id="rId74" Type="http://schemas.openxmlformats.org/officeDocument/2006/relationships/font" Target="fonts/Roboto-boldItalic.fntdata"/><Relationship Id="rId33" Type="http://schemas.openxmlformats.org/officeDocument/2006/relationships/slide" Target="slides/slide28.xml"/><Relationship Id="rId77" Type="http://schemas.openxmlformats.org/officeDocument/2006/relationships/font" Target="fonts/RobotoLight-italic.fntdata"/><Relationship Id="rId32" Type="http://schemas.openxmlformats.org/officeDocument/2006/relationships/slide" Target="slides/slide27.xml"/><Relationship Id="rId76" Type="http://schemas.openxmlformats.org/officeDocument/2006/relationships/font" Target="fonts/RobotoLight-bold.fntdata"/><Relationship Id="rId35" Type="http://schemas.openxmlformats.org/officeDocument/2006/relationships/slide" Target="slides/slide30.xml"/><Relationship Id="rId34" Type="http://schemas.openxmlformats.org/officeDocument/2006/relationships/slide" Target="slides/slide29.xml"/><Relationship Id="rId78" Type="http://schemas.openxmlformats.org/officeDocument/2006/relationships/font" Target="fonts/RobotoLight-boldItalic.fntdata"/><Relationship Id="rId71" Type="http://schemas.openxmlformats.org/officeDocument/2006/relationships/font" Target="fonts/Roboto-regular.fntdata"/><Relationship Id="rId70" Type="http://schemas.openxmlformats.org/officeDocument/2006/relationships/font" Target="fonts/RobotoMedium-bold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font" Target="fonts/RobotoMedium-bold.fntdata"/><Relationship Id="rId23" Type="http://schemas.openxmlformats.org/officeDocument/2006/relationships/slide" Target="slides/slide18.xml"/><Relationship Id="rId67" Type="http://schemas.openxmlformats.org/officeDocument/2006/relationships/font" Target="fonts/RobotoMedium-regular.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RobotoMedium-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forms/d/e/1FAIpQLScCrQPTuTaPSkmGnnTIp-0A4c6vKU9AXrXe41T6bMN4y8TXmw/viewform"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forms/d/e/1FAIpQLScfgTOgU-SA6SyqMUaTVfbMTMvGwbViHPZjs3s4Vka2c2ZTEg/viewform"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forms/d/e/1FAIpQLSdQ5uZfDeAFIoRTf1Udv3NX0K6qPRgpwDNi5_DmaFoi2Akm_Q/viewform"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forms/d/e/1FAIpQLSf4J5po51gRSIYGc7OdoDjvY6FzY2oc9jAtH9NidY31-TIKnQ/viewform"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f5aad9eaf1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f5aad9eaf1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f5aad9eaf1_0_47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f5aad9eaf1_0_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f5aad9eaf1_0_49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1f5aad9eaf1_0_4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508ece10b0_1_3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508ece10b0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4fe50d0bd7_0_9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4fe50d0bd7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https://docs.google.com/forms/d/e/1FAIpQLScCrQPTuTaPSkmGnnTIp-0A4c6vKU9AXrXe41T6bMN4y8TXmw/viewform</a:t>
            </a:r>
            <a:r>
              <a:rPr lang="en"/>
              <a:t>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4fe50d0bd7_0_14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4fe50d0bd7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508ece10b0_1_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508ece10b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https://docs.google.com/forms/d/e/1FAIpQLScfgTOgU-SA6SyqMUaTVfbMTMvGwbViHPZjs3s4Vka2c2ZTEg/viewform</a:t>
            </a:r>
            <a:r>
              <a:rPr lang="en"/>
              <a:t>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508ece10b0_1_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508ece10b0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508ece10b0_1_1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508ece10b0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https://docs.google.com/forms/d/e/1FAIpQLSdQ5uZfDeAFIoRTf1Udv3NX0K6qPRgpwDNi5_DmaFoi2Akm_Q/viewform</a:t>
            </a:r>
            <a:r>
              <a:rPr lang="en"/>
              <a:t>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508ece10b0_1_1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508ece10b0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508ece10b0_1_2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508ece10b0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https://docs.google.com/forms/d/e/1FAIpQLSf4J5po51gRSIYGc7OdoDjvY6FzY2oc9jAtH9NidY31-TIKnQ/viewform</a:t>
            </a:r>
            <a:r>
              <a:rPr lang="en"/>
              <a:t>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508ece10b0_1_2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508ece10b0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508ece10b0_1_8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508ece10b0_1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508ece10b0_1_129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508ece10b0_1_1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509a066c55_0_3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509a066c55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1f5aad9eaf1_0_46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1f5aad9eaf1_0_4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4fe50d0bd7_3_1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4fe50d0bd7_3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4fe50d0bd7_3_5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4fe50d0bd7_3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508ece10b0_1_10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508ece10b0_1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508ece10b0_1_10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508ece10b0_1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508ece10b0_1_16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508ece10b0_1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4fe50d0bd7_0_19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4fe50d0bd7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4fe50d0bd7_3_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4fe50d0bd7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508ece10b0_1_17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508ece10b0_1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508ece10b0_1_18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508ece10b0_1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Reason we don’t do this: Don’t have all data in advance. Analogy to use: Imagine keeping a map from the day’s date to a list of things that happened on that day. Obviously can’t add randomly.</a:t>
            </a:r>
            <a:endParaRPr/>
          </a:p>
          <a:p>
            <a:pPr indent="0" lvl="0" marL="0" rtl="0" algn="l">
              <a:spcBef>
                <a:spcPts val="0"/>
              </a:spcBef>
              <a:spcAft>
                <a:spcPts val="0"/>
              </a:spcAft>
              <a:buNone/>
            </a:pPr>
            <a:r>
              <a:rPr lang="en"/>
              <a:t>Ross: Storing incoming emails, tree sorted by time received. As a teacher, your inbox never stops being flooded.</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508ece10b0_1_26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14" name="Google Shape;614;g508ece10b0_1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Reason we don’t do this: Don’t have all data in advance. Analogy to use: Imagine keeping a map from the day’s date to a list of things that happened on that day. Obviously can’t add randomly.</a:t>
            </a:r>
            <a:endParaRPr/>
          </a:p>
          <a:p>
            <a:pPr indent="0" lvl="0" marL="0" rtl="0" algn="l">
              <a:spcBef>
                <a:spcPts val="0"/>
              </a:spcBef>
              <a:spcAft>
                <a:spcPts val="0"/>
              </a:spcAft>
              <a:buNone/>
            </a:pPr>
            <a:r>
              <a:rPr lang="en"/>
              <a:t>Ross: Storing incoming emails, tree sorted by time received. As a teacher, your inbox never stops being flooded.</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1f5aad9eaf1_0_46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42" name="Google Shape;642;g1f5aad9eaf1_0_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508ece10b0_1_33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49" name="Google Shape;649;g508ece10b0_1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 adding new leaves doesn’t mean we can’t add new data.</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508ece10b0_1_36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508ece10b0_1_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508ece10b0_1_41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25" name="Google Shape;725;g508ece10b0_1_4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508ece10b0_1_44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58" name="Google Shape;758;g508ece10b0_1_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508ece10b0_1_46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79" name="Google Shape;779;g508ece10b0_1_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Trying to find p in this. Compare to m? Right. Compare to oq? ????</a:t>
            </a:r>
            <a:endParaRPr/>
          </a:p>
          <a:p>
            <a:pPr indent="0" lvl="0" marL="0" rtl="0" algn="l">
              <a:spcBef>
                <a:spcPts val="0"/>
              </a:spcBef>
              <a:spcAft>
                <a:spcPts val="0"/>
              </a:spcAft>
              <a:buNone/>
            </a:pPr>
            <a:r>
              <a:rPr lang="en"/>
              <a:t>Ross: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508ece10b0_1_49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16" name="Google Shape;816;g508ece10b0_1_4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g508ece10b0_1_53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49" name="Google Shape;849;g508ece10b0_1_5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g508ece10b0_1_56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83" name="Google Shape;883;g508ece10b0_1_5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g508ece10b0_1_58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04" name="Google Shape;904;g508ece10b0_1_5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g508ece10b0_1_62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44" name="Google Shape;944;g508ece10b0_1_6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2019 note: It’s ~7 minutes with no pausing for student work to get to this point from the title slide for this section. Maybe ~10 with time for them to work.</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1f5aad9eaf1_0_45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00" name="Google Shape;1000;g1f5aad9eaf1_0_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g508ece10b0_1_67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07" name="Google Shape;1007;g508ece10b0_1_6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adding o: 30 seconds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5" name="Shape 1095"/>
        <p:cNvGrpSpPr/>
        <p:nvPr/>
      </p:nvGrpSpPr>
      <p:grpSpPr>
        <a:xfrm>
          <a:off x="0" y="0"/>
          <a:ext cx="0" cy="0"/>
          <a:chOff x="0" y="0"/>
          <a:chExt cx="0" cy="0"/>
        </a:xfrm>
      </p:grpSpPr>
      <p:sp>
        <p:nvSpPr>
          <p:cNvPr id="1096" name="Google Shape;1096;g508ece10b0_1_76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97" name="Google Shape;1097;g508ece10b0_1_7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8" name="Shape 1148"/>
        <p:cNvGrpSpPr/>
        <p:nvPr/>
      </p:nvGrpSpPr>
      <p:grpSpPr>
        <a:xfrm>
          <a:off x="0" y="0"/>
          <a:ext cx="0" cy="0"/>
          <a:chOff x="0" y="0"/>
          <a:chExt cx="0" cy="0"/>
        </a:xfrm>
      </p:grpSpPr>
      <p:sp>
        <p:nvSpPr>
          <p:cNvPr id="1149" name="Google Shape;1149;g508ece10b0_1_81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50" name="Google Shape;1150;g508ece10b0_1_8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1f5aad9eaf1_0_45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91" name="Google Shape;1191;g1f5aad9eaf1_0_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6" name="Shape 1196"/>
        <p:cNvGrpSpPr/>
        <p:nvPr/>
      </p:nvGrpSpPr>
      <p:grpSpPr>
        <a:xfrm>
          <a:off x="0" y="0"/>
          <a:ext cx="0" cy="0"/>
          <a:chOff x="0" y="0"/>
          <a:chExt cx="0" cy="0"/>
        </a:xfrm>
      </p:grpSpPr>
      <p:sp>
        <p:nvSpPr>
          <p:cNvPr id="1197" name="Google Shape;1197;g508ece10b0_1_85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98" name="Google Shape;1198;g508ece10b0_1_8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Does this tree look like you’d be impaled by it? Or would you be safe?</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g508ece10b0_1_87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19" name="Google Shape;1219;g508ece10b0_1_8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g508ece10b0_1_88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26" name="Google Shape;1226;g508ece10b0_1_8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general M=4 is so hard, why are large M btrees used?</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4" name="Shape 1284"/>
        <p:cNvGrpSpPr/>
        <p:nvPr/>
      </p:nvGrpSpPr>
      <p:grpSpPr>
        <a:xfrm>
          <a:off x="0" y="0"/>
          <a:ext cx="0" cy="0"/>
          <a:chOff x="0" y="0"/>
          <a:chExt cx="0" cy="0"/>
        </a:xfrm>
      </p:grpSpPr>
      <p:sp>
        <p:nvSpPr>
          <p:cNvPr id="1285" name="Google Shape;1285;g1f5aad9eaf1_0_44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86" name="Google Shape;1286;g1f5aad9eaf1_0_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1" name="Shape 1291"/>
        <p:cNvGrpSpPr/>
        <p:nvPr/>
      </p:nvGrpSpPr>
      <p:grpSpPr>
        <a:xfrm>
          <a:off x="0" y="0"/>
          <a:ext cx="0" cy="0"/>
          <a:chOff x="0" y="0"/>
          <a:chExt cx="0" cy="0"/>
        </a:xfrm>
      </p:grpSpPr>
      <p:sp>
        <p:nvSpPr>
          <p:cNvPr id="1292" name="Google Shape;1292;g508ece10b0_1_98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93" name="Google Shape;1293;g508ece10b0_1_9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general M=4 is so hard, why are large M btrees used?</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7" name="Shape 1297"/>
        <p:cNvGrpSpPr/>
        <p:nvPr/>
      </p:nvGrpSpPr>
      <p:grpSpPr>
        <a:xfrm>
          <a:off x="0" y="0"/>
          <a:ext cx="0" cy="0"/>
          <a:chOff x="0" y="0"/>
          <a:chExt cx="0" cy="0"/>
        </a:xfrm>
      </p:grpSpPr>
      <p:sp>
        <p:nvSpPr>
          <p:cNvPr id="1298" name="Google Shape;1298;g25d9e214879_0_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99" name="Google Shape;1299;g25d9e21487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7" name="Shape 1317"/>
        <p:cNvGrpSpPr/>
        <p:nvPr/>
      </p:nvGrpSpPr>
      <p:grpSpPr>
        <a:xfrm>
          <a:off x="0" y="0"/>
          <a:ext cx="0" cy="0"/>
          <a:chOff x="0" y="0"/>
          <a:chExt cx="0" cy="0"/>
        </a:xfrm>
      </p:grpSpPr>
      <p:sp>
        <p:nvSpPr>
          <p:cNvPr id="1318" name="Google Shape;1318;g25d9e214879_0_4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19" name="Google Shape;1319;g25d9e21487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7" name="Shape 1337"/>
        <p:cNvGrpSpPr/>
        <p:nvPr/>
      </p:nvGrpSpPr>
      <p:grpSpPr>
        <a:xfrm>
          <a:off x="0" y="0"/>
          <a:ext cx="0" cy="0"/>
          <a:chOff x="0" y="0"/>
          <a:chExt cx="0" cy="0"/>
        </a:xfrm>
      </p:grpSpPr>
      <p:sp>
        <p:nvSpPr>
          <p:cNvPr id="1338" name="Google Shape;1338;g25d9e214879_0_9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39" name="Google Shape;1339;g25d9e214879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5" name="Shape 1375"/>
        <p:cNvGrpSpPr/>
        <p:nvPr/>
      </p:nvGrpSpPr>
      <p:grpSpPr>
        <a:xfrm>
          <a:off x="0" y="0"/>
          <a:ext cx="0" cy="0"/>
          <a:chOff x="0" y="0"/>
          <a:chExt cx="0" cy="0"/>
        </a:xfrm>
      </p:grpSpPr>
      <p:sp>
        <p:nvSpPr>
          <p:cNvPr id="1376" name="Google Shape;1376;g25d9e214879_0_31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77" name="Google Shape;1377;g25d9e214879_0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5" name="Shape 1435"/>
        <p:cNvGrpSpPr/>
        <p:nvPr/>
      </p:nvGrpSpPr>
      <p:grpSpPr>
        <a:xfrm>
          <a:off x="0" y="0"/>
          <a:ext cx="0" cy="0"/>
          <a:chOff x="0" y="0"/>
          <a:chExt cx="0" cy="0"/>
        </a:xfrm>
      </p:grpSpPr>
      <p:sp>
        <p:nvSpPr>
          <p:cNvPr id="1436" name="Google Shape;1436;g508ece10b0_1_98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37" name="Google Shape;1437;g508ece10b0_1_9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general M=4 is so hard, why are large M btrees used?</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8" name="Shape 1468"/>
        <p:cNvGrpSpPr/>
        <p:nvPr/>
      </p:nvGrpSpPr>
      <p:grpSpPr>
        <a:xfrm>
          <a:off x="0" y="0"/>
          <a:ext cx="0" cy="0"/>
          <a:chOff x="0" y="0"/>
          <a:chExt cx="0" cy="0"/>
        </a:xfrm>
      </p:grpSpPr>
      <p:sp>
        <p:nvSpPr>
          <p:cNvPr id="1469" name="Google Shape;1469;g508ece10b0_1_101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70" name="Google Shape;1470;g508ece10b0_1_10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4" name="Shape 1474"/>
        <p:cNvGrpSpPr/>
        <p:nvPr/>
      </p:nvGrpSpPr>
      <p:grpSpPr>
        <a:xfrm>
          <a:off x="0" y="0"/>
          <a:ext cx="0" cy="0"/>
          <a:chOff x="0" y="0"/>
          <a:chExt cx="0" cy="0"/>
        </a:xfrm>
      </p:grpSpPr>
      <p:sp>
        <p:nvSpPr>
          <p:cNvPr id="1475" name="Google Shape;1475;g508ece10b0_1_102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76" name="Google Shape;1476;g508ece10b0_1_10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8" name="Shape 1488"/>
        <p:cNvGrpSpPr/>
        <p:nvPr/>
      </p:nvGrpSpPr>
      <p:grpSpPr>
        <a:xfrm>
          <a:off x="0" y="0"/>
          <a:ext cx="0" cy="0"/>
          <a:chOff x="0" y="0"/>
          <a:chExt cx="0" cy="0"/>
        </a:xfrm>
      </p:grpSpPr>
      <p:sp>
        <p:nvSpPr>
          <p:cNvPr id="1489" name="Google Shape;1489;g508ece10b0_1_124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90" name="Google Shape;1490;g508ece10b0_1_1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2" name="Shape 1502"/>
        <p:cNvGrpSpPr/>
        <p:nvPr/>
      </p:nvGrpSpPr>
      <p:grpSpPr>
        <a:xfrm>
          <a:off x="0" y="0"/>
          <a:ext cx="0" cy="0"/>
          <a:chOff x="0" y="0"/>
          <a:chExt cx="0" cy="0"/>
        </a:xfrm>
      </p:grpSpPr>
      <p:sp>
        <p:nvSpPr>
          <p:cNvPr id="1503" name="Google Shape;1503;g508ece10b0_1_127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04" name="Google Shape;1504;g508ece10b0_1_1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8" name="Shape 1508"/>
        <p:cNvGrpSpPr/>
        <p:nvPr/>
      </p:nvGrpSpPr>
      <p:grpSpPr>
        <a:xfrm>
          <a:off x="0" y="0"/>
          <a:ext cx="0" cy="0"/>
          <a:chOff x="0" y="0"/>
          <a:chExt cx="0" cy="0"/>
        </a:xfrm>
      </p:grpSpPr>
      <p:sp>
        <p:nvSpPr>
          <p:cNvPr id="1509" name="Google Shape;1509;g1f5aad9eaf1_0_43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10" name="Google Shape;1510;g1f5aad9eaf1_0_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5" name="Shape 1515"/>
        <p:cNvGrpSpPr/>
        <p:nvPr/>
      </p:nvGrpSpPr>
      <p:grpSpPr>
        <a:xfrm>
          <a:off x="0" y="0"/>
          <a:ext cx="0" cy="0"/>
          <a:chOff x="0" y="0"/>
          <a:chExt cx="0" cy="0"/>
        </a:xfrm>
      </p:grpSpPr>
      <p:sp>
        <p:nvSpPr>
          <p:cNvPr id="1516" name="Google Shape;1516;g508ece10b0_1_111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17" name="Google Shape;1517;g508ece10b0_1_1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9" name="Shape 1569"/>
        <p:cNvGrpSpPr/>
        <p:nvPr/>
      </p:nvGrpSpPr>
      <p:grpSpPr>
        <a:xfrm>
          <a:off x="0" y="0"/>
          <a:ext cx="0" cy="0"/>
          <a:chOff x="0" y="0"/>
          <a:chExt cx="0" cy="0"/>
        </a:xfrm>
      </p:grpSpPr>
      <p:sp>
        <p:nvSpPr>
          <p:cNvPr id="1570" name="Google Shape;1570;g508ece10b0_1_116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71" name="Google Shape;1571;g508ece10b0_1_1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 from FA23: An earlier version of these slides (as seen in the web videos) said "Overall runtime: O(HL) = O(L)". We weren't able to figure out why the H could be dropped here, and we think the slide is consistent without the extra equality statement, so we've </a:t>
            </a:r>
            <a:r>
              <a:rPr lang="en"/>
              <a:t>deleted</a:t>
            </a:r>
            <a:r>
              <a:rPr lang="en"/>
              <a:t> the second part of this statement. The slide should be correct as-is now.</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7" name="Shape 1577"/>
        <p:cNvGrpSpPr/>
        <p:nvPr/>
      </p:nvGrpSpPr>
      <p:grpSpPr>
        <a:xfrm>
          <a:off x="0" y="0"/>
          <a:ext cx="0" cy="0"/>
          <a:chOff x="0" y="0"/>
          <a:chExt cx="0" cy="0"/>
        </a:xfrm>
      </p:grpSpPr>
      <p:sp>
        <p:nvSpPr>
          <p:cNvPr id="1578" name="Google Shape;1578;g508ece10b0_1_117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79" name="Google Shape;1579;g508ece10b0_1_1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5" name="Shape 1585"/>
        <p:cNvGrpSpPr/>
        <p:nvPr/>
      </p:nvGrpSpPr>
      <p:grpSpPr>
        <a:xfrm>
          <a:off x="0" y="0"/>
          <a:ext cx="0" cy="0"/>
          <a:chOff x="0" y="0"/>
          <a:chExt cx="0" cy="0"/>
        </a:xfrm>
      </p:grpSpPr>
      <p:sp>
        <p:nvSpPr>
          <p:cNvPr id="1586" name="Google Shape;1586;g508ece10b0_1_122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87" name="Google Shape;1587;g508ece10b0_1_1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SzPts val="4400"/>
              <a:buNone/>
              <a:defRPr sz="4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p:txBody>
      </p:sp>
      <p:sp>
        <p:nvSpPr>
          <p:cNvPr id="12" name="Google Shape;12;p2"/>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7" name="Google Shape;17;p3"/>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21" name="Google Shape;21;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22" name="Google Shape;22;p4"/>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SECTION_TITLE_AND_DESCRIPTION_1">
    <p:spTree>
      <p:nvGrpSpPr>
        <p:cNvPr id="23" name="Shape 23"/>
        <p:cNvGrpSpPr/>
        <p:nvPr/>
      </p:nvGrpSpPr>
      <p:grpSpPr>
        <a:xfrm>
          <a:off x="0" y="0"/>
          <a:ext cx="0" cy="0"/>
          <a:chOff x="0" y="0"/>
          <a:chExt cx="0" cy="0"/>
        </a:xfrm>
      </p:grpSpPr>
      <p:sp>
        <p:nvSpPr>
          <p:cNvPr id="24" name="Google Shape;24;p5"/>
          <p:cNvSpPr/>
          <p:nvPr/>
        </p:nvSpPr>
        <p:spPr>
          <a:xfrm>
            <a:off x="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6" name="Google Shape;26;p5"/>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1pPr>
            <a:lvl2pPr indent="-342900" lvl="1" marL="9144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2pPr>
            <a:lvl3pPr indent="-342900" lvl="2" marL="13716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3pPr>
            <a:lvl4pPr indent="-342900" lvl="3" marL="18288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4pPr>
            <a:lvl5pPr indent="-342900" lvl="4" marL="22860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5pPr>
            <a:lvl6pPr indent="-342900" lvl="5" marL="27432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6pPr>
            <a:lvl7pPr indent="-342900" lvl="6" marL="32004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7pPr>
            <a:lvl8pPr indent="-342900" lvl="7" marL="36576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8pPr>
            <a:lvl9pPr indent="-342900" lvl="8" marL="41148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9pPr>
          </a:lstStyle>
          <a:p/>
        </p:txBody>
      </p:sp>
      <p:pic>
        <p:nvPicPr>
          <p:cNvPr id="27" name="Google Shape;27;p5"/>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28" name="Google Shape;28;p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cxnSp>
        <p:nvCxnSpPr>
          <p:cNvPr id="29" name="Google Shape;29;p5"/>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30" name="Google Shape;30;p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SzPts val="18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right">
  <p:cSld name="SECTION_TITLE_AND_DESCRIPTION_2">
    <p:spTree>
      <p:nvGrpSpPr>
        <p:cNvPr id="31" name="Shape 31"/>
        <p:cNvGrpSpPr/>
        <p:nvPr/>
      </p:nvGrpSpPr>
      <p:grpSpPr>
        <a:xfrm>
          <a:off x="0" y="0"/>
          <a:ext cx="0" cy="0"/>
          <a:chOff x="0" y="0"/>
          <a:chExt cx="0" cy="0"/>
        </a:xfrm>
      </p:grpSpPr>
      <p:sp>
        <p:nvSpPr>
          <p:cNvPr id="32" name="Google Shape;32;p6"/>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txBox="1"/>
          <p:nvPr>
            <p:ph idx="1" type="subTitle"/>
          </p:nvPr>
        </p:nvSpPr>
        <p:spPr>
          <a:xfrm>
            <a:off x="4835400" y="4198275"/>
            <a:ext cx="4045200" cy="465000"/>
          </a:xfrm>
          <a:prstGeom prst="rect">
            <a:avLst/>
          </a:prstGeom>
        </p:spPr>
        <p:txBody>
          <a:bodyPr anchorCtr="0" anchor="t" bIns="91425" lIns="91425" spcFirstLastPara="1" rIns="91425" wrap="square" tIns="91425">
            <a:noAutofit/>
          </a:bodyPr>
          <a:lstStyle>
            <a:lvl1pPr lvl="0" rtl="0" algn="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34" name="Google Shape;34;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5" name="Google Shape;35;p6"/>
          <p:cNvSpPr txBox="1"/>
          <p:nvPr/>
        </p:nvSpPr>
        <p:spPr>
          <a:xfrm>
            <a:off x="6365900" y="3724875"/>
            <a:ext cx="2591100" cy="5694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36" name="Google Shape;36;p6"/>
          <p:cNvSpPr txBox="1"/>
          <p:nvPr>
            <p:ph idx="2" type="body"/>
          </p:nvPr>
        </p:nvSpPr>
        <p:spPr>
          <a:xfrm>
            <a:off x="95425" y="402200"/>
            <a:ext cx="43023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37" name="Google Shape;37;p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38" name="Google Shape;38;p6"/>
          <p:cNvCxnSpPr/>
          <p:nvPr/>
        </p:nvCxnSpPr>
        <p:spPr>
          <a:xfrm>
            <a:off x="95431" y="402210"/>
            <a:ext cx="43521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left">
  <p:cSld name="SECTION_TITLE_AND_DESCRIPTION_2_1">
    <p:spTree>
      <p:nvGrpSpPr>
        <p:cNvPr id="39" name="Shape 39"/>
        <p:cNvGrpSpPr/>
        <p:nvPr/>
      </p:nvGrpSpPr>
      <p:grpSpPr>
        <a:xfrm>
          <a:off x="0" y="0"/>
          <a:ext cx="0" cy="0"/>
          <a:chOff x="0" y="0"/>
          <a:chExt cx="0" cy="0"/>
        </a:xfrm>
      </p:grpSpPr>
      <p:sp>
        <p:nvSpPr>
          <p:cNvPr id="40" name="Google Shape;40;p7"/>
          <p:cNvSpPr/>
          <p:nvPr/>
        </p:nvSpPr>
        <p:spPr>
          <a:xfrm>
            <a:off x="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7"/>
          <p:cNvSpPr txBox="1"/>
          <p:nvPr>
            <p:ph idx="1"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42" name="Google Shape;42;p7"/>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43" name="Google Shape;43;p7"/>
          <p:cNvSpPr txBox="1"/>
          <p:nvPr>
            <p:ph idx="2" type="body"/>
          </p:nvPr>
        </p:nvSpPr>
        <p:spPr>
          <a:xfrm>
            <a:off x="4667425" y="402200"/>
            <a:ext cx="43023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44" name="Google Shape;44;p7"/>
          <p:cNvSpPr txBox="1"/>
          <p:nvPr>
            <p:ph type="title"/>
          </p:nvPr>
        </p:nvSpPr>
        <p:spPr>
          <a:xfrm>
            <a:off x="4572000" y="0"/>
            <a:ext cx="45720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45" name="Google Shape;45;p7"/>
          <p:cNvCxnSpPr/>
          <p:nvPr/>
        </p:nvCxnSpPr>
        <p:spPr>
          <a:xfrm>
            <a:off x="4667431" y="402210"/>
            <a:ext cx="4352100" cy="0"/>
          </a:xfrm>
          <a:prstGeom prst="straightConnector1">
            <a:avLst/>
          </a:prstGeom>
          <a:noFill/>
          <a:ln cap="flat" cmpd="sng" w="19050">
            <a:solidFill>
              <a:srgbClr val="BF9000"/>
            </a:solidFill>
            <a:prstDash val="solid"/>
            <a:round/>
            <a:headEnd len="med" w="med" type="none"/>
            <a:tailEnd len="med" w="med" type="none"/>
          </a:ln>
        </p:spPr>
      </p:cxnSp>
      <p:pic>
        <p:nvPicPr>
          <p:cNvPr id="46" name="Google Shape;46;p7"/>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p:cSld name="SECTION_TITLE_AND_DESCRIPTION_2_1_1">
    <p:spTree>
      <p:nvGrpSpPr>
        <p:cNvPr id="48" name="Shape 48"/>
        <p:cNvGrpSpPr/>
        <p:nvPr/>
      </p:nvGrpSpPr>
      <p:grpSpPr>
        <a:xfrm>
          <a:off x="0" y="0"/>
          <a:ext cx="0" cy="0"/>
          <a:chOff x="0" y="0"/>
          <a:chExt cx="0" cy="0"/>
        </a:xfrm>
      </p:grpSpPr>
      <p:sp>
        <p:nvSpPr>
          <p:cNvPr id="49" name="Google Shape;49;p8"/>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8"/>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51" name="Google Shape;51;p8"/>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52" name="Google Shape;52;p8"/>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53" name="Google Shape;53;p8"/>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54" name="Google Shape;54;p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55" name="Google Shape;5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6" name="Google Shape;56;p8"/>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a:t>
            </a:r>
            <a:endParaRPr b="1" sz="2500">
              <a:solidFill>
                <a:schemeClr val="accent3"/>
              </a:solidFill>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1">
  <p:cSld name="SECTION_TITLE_AND_DESCRIPTION_2_1_1_2">
    <p:spTree>
      <p:nvGrpSpPr>
        <p:cNvPr id="57" name="Shape 57"/>
        <p:cNvGrpSpPr/>
        <p:nvPr/>
      </p:nvGrpSpPr>
      <p:grpSpPr>
        <a:xfrm>
          <a:off x="0" y="0"/>
          <a:ext cx="0" cy="0"/>
          <a:chOff x="0" y="0"/>
          <a:chExt cx="0" cy="0"/>
        </a:xfrm>
      </p:grpSpPr>
      <p:sp>
        <p:nvSpPr>
          <p:cNvPr id="58" name="Google Shape;58;p9"/>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9"/>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60" name="Google Shape;60;p9"/>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Compare</a:t>
            </a:r>
            <a:endParaRPr b="1" sz="2500">
              <a:solidFill>
                <a:schemeClr val="accent3"/>
              </a:solidFill>
              <a:latin typeface="Roboto"/>
              <a:ea typeface="Roboto"/>
              <a:cs typeface="Roboto"/>
              <a:sym typeface="Roboto"/>
            </a:endParaRPr>
          </a:p>
        </p:txBody>
      </p:sp>
      <p:sp>
        <p:nvSpPr>
          <p:cNvPr id="61" name="Google Shape;61;p9"/>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62" name="Google Shape;62;p9"/>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63" name="Google Shape;63;p9"/>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64" name="Google Shape;64;p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65" name="Google Shape;6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Solution">
  <p:cSld name="SECTION_TITLE_AND_DESCRIPTION_2_1_1_1">
    <p:spTree>
      <p:nvGrpSpPr>
        <p:cNvPr id="66" name="Shape 66"/>
        <p:cNvGrpSpPr/>
        <p:nvPr/>
      </p:nvGrpSpPr>
      <p:grpSpPr>
        <a:xfrm>
          <a:off x="0" y="0"/>
          <a:ext cx="0" cy="0"/>
          <a:chOff x="0" y="0"/>
          <a:chExt cx="0" cy="0"/>
        </a:xfrm>
      </p:grpSpPr>
      <p:sp>
        <p:nvSpPr>
          <p:cNvPr id="67" name="Google Shape;67;p10"/>
          <p:cNvSpPr/>
          <p:nvPr/>
        </p:nvSpPr>
        <p:spPr>
          <a:xfrm>
            <a:off x="0" y="-125"/>
            <a:ext cx="2776500" cy="5143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0"/>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69" name="Google Shape;69;p10"/>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Solution</a:t>
            </a:r>
            <a:endParaRPr b="1" sz="2500">
              <a:solidFill>
                <a:schemeClr val="accent3"/>
              </a:solidFill>
              <a:latin typeface="Roboto"/>
              <a:ea typeface="Roboto"/>
              <a:cs typeface="Roboto"/>
              <a:sym typeface="Roboto"/>
            </a:endParaRPr>
          </a:p>
        </p:txBody>
      </p:sp>
      <p:sp>
        <p:nvSpPr>
          <p:cNvPr id="70" name="Google Shape;70;p10"/>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71" name="Google Shape;71;p10"/>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72" name="Google Shape;72;p10"/>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73" name="Google Shape;73;p10"/>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74" name="Google Shape;7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5" name="Shape 75"/>
        <p:cNvGrpSpPr/>
        <p:nvPr/>
      </p:nvGrpSpPr>
      <p:grpSpPr>
        <a:xfrm>
          <a:off x="0" y="0"/>
          <a:ext cx="0" cy="0"/>
          <a:chOff x="0" y="0"/>
          <a:chExt cx="0" cy="0"/>
        </a:xfrm>
      </p:grpSpPr>
      <p:sp>
        <p:nvSpPr>
          <p:cNvPr id="76" name="Google Shape;76;p1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 name="Google Shape;77;p11"/>
          <p:cNvSpPr txBox="1"/>
          <p:nvPr>
            <p:ph idx="1"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78" name="Google Shape;78;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79" name="Google Shape;79;p11"/>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80" name="Google Shape;80;p11"/>
          <p:cNvSpPr txBox="1"/>
          <p:nvPr>
            <p:ph idx="2" type="body"/>
          </p:nvPr>
        </p:nvSpPr>
        <p:spPr>
          <a:xfrm>
            <a:off x="9543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1" name="Shape 81"/>
        <p:cNvGrpSpPr/>
        <p:nvPr/>
      </p:nvGrpSpPr>
      <p:grpSpPr>
        <a:xfrm>
          <a:off x="0" y="0"/>
          <a:ext cx="0" cy="0"/>
          <a:chOff x="0" y="0"/>
          <a:chExt cx="0" cy="0"/>
        </a:xfrm>
      </p:grpSpPr>
      <p:sp>
        <p:nvSpPr>
          <p:cNvPr id="82" name="Google Shape;82;p1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3" name="Google Shape;83;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4" name="Google Shape;84;p12"/>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5" name="Shape 85"/>
        <p:cNvGrpSpPr/>
        <p:nvPr/>
      </p:nvGrpSpPr>
      <p:grpSpPr>
        <a:xfrm>
          <a:off x="0" y="0"/>
          <a:ext cx="0" cy="0"/>
          <a:chOff x="0" y="0"/>
          <a:chExt cx="0" cy="0"/>
        </a:xfrm>
      </p:grpSpPr>
      <p:sp>
        <p:nvSpPr>
          <p:cNvPr id="86" name="Google Shape;86;p1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7" name="Google Shape;87;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TITLE_AND_DESCRIPTION_3">
  <p:cSld name="SECTION_TITLE_AND_DESCRIPTION_3">
    <p:spTree>
      <p:nvGrpSpPr>
        <p:cNvPr id="88" name="Shape 88"/>
        <p:cNvGrpSpPr/>
        <p:nvPr/>
      </p:nvGrpSpPr>
      <p:grpSpPr>
        <a:xfrm>
          <a:off x="0" y="0"/>
          <a:ext cx="0" cy="0"/>
          <a:chOff x="0" y="0"/>
          <a:chExt cx="0" cy="0"/>
        </a:xfrm>
      </p:grpSpPr>
      <p:sp>
        <p:nvSpPr>
          <p:cNvPr id="89" name="Google Shape;89;p14"/>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91" name="Google Shape;91;p1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92" name="Google Shape;92;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14"/>
          <p:cNvSpPr txBox="1"/>
          <p:nvPr>
            <p:ph idx="2"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4" name="Shape 94"/>
        <p:cNvGrpSpPr/>
        <p:nvPr/>
      </p:nvGrpSpPr>
      <p:grpSpPr>
        <a:xfrm>
          <a:off x="0" y="0"/>
          <a:ext cx="0" cy="0"/>
          <a:chOff x="0" y="0"/>
          <a:chExt cx="0" cy="0"/>
        </a:xfrm>
      </p:grpSpPr>
      <p:sp>
        <p:nvSpPr>
          <p:cNvPr id="95" name="Google Shape;95;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6" name="Google Shape;96;p15"/>
          <p:cNvSpPr txBox="1"/>
          <p:nvPr>
            <p:ph type="title"/>
          </p:nvPr>
        </p:nvSpPr>
        <p:spPr>
          <a:xfrm>
            <a:off x="95425" y="4382350"/>
            <a:ext cx="8425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cxnSp>
        <p:nvCxnSpPr>
          <p:cNvPr id="97" name="Google Shape;97;p15"/>
          <p:cNvCxnSpPr/>
          <p:nvPr/>
        </p:nvCxnSpPr>
        <p:spPr>
          <a:xfrm>
            <a:off x="168250" y="4288400"/>
            <a:ext cx="87570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dark">
  <p:cSld name="BLANK_1">
    <p:bg>
      <p:bgPr>
        <a:solidFill>
          <a:schemeClr val="dk1"/>
        </a:solidFill>
      </p:bgPr>
    </p:bg>
    <p:spTree>
      <p:nvGrpSpPr>
        <p:cNvPr id="100" name="Shape 100"/>
        <p:cNvGrpSpPr/>
        <p:nvPr/>
      </p:nvGrpSpPr>
      <p:grpSpPr>
        <a:xfrm>
          <a:off x="0" y="0"/>
          <a:ext cx="0" cy="0"/>
          <a:chOff x="0" y="0"/>
          <a:chExt cx="0" cy="0"/>
        </a:xfrm>
      </p:grpSpPr>
      <p:sp>
        <p:nvSpPr>
          <p:cNvPr id="101" name="Google Shape;101;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lude">
  <p:cSld name="SECTION_TITLE_AND_DESCRIPTION_1_3">
    <p:spTree>
      <p:nvGrpSpPr>
        <p:cNvPr id="102" name="Shape 102"/>
        <p:cNvGrpSpPr/>
        <p:nvPr/>
      </p:nvGrpSpPr>
      <p:grpSpPr>
        <a:xfrm>
          <a:off x="0" y="0"/>
          <a:ext cx="0" cy="0"/>
          <a:chOff x="0" y="0"/>
          <a:chExt cx="0" cy="0"/>
        </a:xfrm>
      </p:grpSpPr>
      <p:sp>
        <p:nvSpPr>
          <p:cNvPr id="103" name="Google Shape;103;p18"/>
          <p:cNvSpPr/>
          <p:nvPr/>
        </p:nvSpPr>
        <p:spPr>
          <a:xfrm>
            <a:off x="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18"/>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pic>
        <p:nvPicPr>
          <p:cNvPr id="106" name="Google Shape;106;p1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07" name="Google Shape;107;p18"/>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cxnSp>
        <p:nvCxnSpPr>
          <p:cNvPr id="108" name="Google Shape;108;p18"/>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109" name="Google Shape;109;p18"/>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Clr>
                <a:schemeClr val="lt1"/>
              </a:buClr>
              <a:buSzPts val="1800"/>
              <a:buNone/>
              <a:defRPr>
                <a:solidFill>
                  <a:schemeClr val="lt1"/>
                </a:solidFill>
              </a:defRPr>
            </a:lvl1pPr>
            <a:lvl2pPr lvl="1" rtl="0">
              <a:lnSpc>
                <a:spcPct val="100000"/>
              </a:lnSpc>
              <a:spcBef>
                <a:spcPts val="600"/>
              </a:spcBef>
              <a:spcAft>
                <a:spcPts val="0"/>
              </a:spcAft>
              <a:buClr>
                <a:schemeClr val="lt1"/>
              </a:buClr>
              <a:buSzPts val="2100"/>
              <a:buNone/>
              <a:defRPr sz="2100">
                <a:solidFill>
                  <a:schemeClr val="lt1"/>
                </a:solidFill>
              </a:defRPr>
            </a:lvl2pPr>
            <a:lvl3pPr lvl="2" rtl="0">
              <a:lnSpc>
                <a:spcPct val="100000"/>
              </a:lnSpc>
              <a:spcBef>
                <a:spcPts val="600"/>
              </a:spcBef>
              <a:spcAft>
                <a:spcPts val="0"/>
              </a:spcAft>
              <a:buClr>
                <a:schemeClr val="lt1"/>
              </a:buClr>
              <a:buSzPts val="2100"/>
              <a:buNone/>
              <a:defRPr sz="2100">
                <a:solidFill>
                  <a:schemeClr val="lt1"/>
                </a:solidFill>
              </a:defRPr>
            </a:lvl3pPr>
            <a:lvl4pPr lvl="3" rtl="0">
              <a:lnSpc>
                <a:spcPct val="100000"/>
              </a:lnSpc>
              <a:spcBef>
                <a:spcPts val="600"/>
              </a:spcBef>
              <a:spcAft>
                <a:spcPts val="0"/>
              </a:spcAft>
              <a:buClr>
                <a:schemeClr val="lt1"/>
              </a:buClr>
              <a:buSzPts val="2100"/>
              <a:buNone/>
              <a:defRPr sz="2100">
                <a:solidFill>
                  <a:schemeClr val="lt1"/>
                </a:solidFill>
              </a:defRPr>
            </a:lvl4pPr>
            <a:lvl5pPr lvl="4" rtl="0">
              <a:lnSpc>
                <a:spcPct val="100000"/>
              </a:lnSpc>
              <a:spcBef>
                <a:spcPts val="600"/>
              </a:spcBef>
              <a:spcAft>
                <a:spcPts val="0"/>
              </a:spcAft>
              <a:buClr>
                <a:schemeClr val="lt1"/>
              </a:buClr>
              <a:buSzPts val="2100"/>
              <a:buNone/>
              <a:defRPr sz="2100">
                <a:solidFill>
                  <a:schemeClr val="lt1"/>
                </a:solidFill>
              </a:defRPr>
            </a:lvl5pPr>
            <a:lvl6pPr lvl="5" rtl="0">
              <a:lnSpc>
                <a:spcPct val="100000"/>
              </a:lnSpc>
              <a:spcBef>
                <a:spcPts val="600"/>
              </a:spcBef>
              <a:spcAft>
                <a:spcPts val="0"/>
              </a:spcAft>
              <a:buClr>
                <a:schemeClr val="lt1"/>
              </a:buClr>
              <a:buSzPts val="2100"/>
              <a:buNone/>
              <a:defRPr sz="2100">
                <a:solidFill>
                  <a:schemeClr val="lt1"/>
                </a:solidFill>
              </a:defRPr>
            </a:lvl6pPr>
            <a:lvl7pPr lvl="6" rtl="0">
              <a:lnSpc>
                <a:spcPct val="100000"/>
              </a:lnSpc>
              <a:spcBef>
                <a:spcPts val="600"/>
              </a:spcBef>
              <a:spcAft>
                <a:spcPts val="0"/>
              </a:spcAft>
              <a:buClr>
                <a:schemeClr val="lt1"/>
              </a:buClr>
              <a:buSzPts val="2100"/>
              <a:buNone/>
              <a:defRPr sz="2100">
                <a:solidFill>
                  <a:schemeClr val="lt1"/>
                </a:solidFill>
              </a:defRPr>
            </a:lvl7pPr>
            <a:lvl8pPr lvl="7" rtl="0">
              <a:lnSpc>
                <a:spcPct val="100000"/>
              </a:lnSpc>
              <a:spcBef>
                <a:spcPts val="600"/>
              </a:spcBef>
              <a:spcAft>
                <a:spcPts val="0"/>
              </a:spcAft>
              <a:buClr>
                <a:schemeClr val="lt1"/>
              </a:buClr>
              <a:buSzPts val="2100"/>
              <a:buNone/>
              <a:defRPr sz="2100">
                <a:solidFill>
                  <a:schemeClr val="lt1"/>
                </a:solidFill>
              </a:defRPr>
            </a:lvl8pPr>
            <a:lvl9pPr lvl="8" rtl="0">
              <a:lnSpc>
                <a:spcPct val="100000"/>
              </a:lnSpc>
              <a:spcBef>
                <a:spcPts val="600"/>
              </a:spcBef>
              <a:spcAft>
                <a:spcPts val="0"/>
              </a:spcAft>
              <a:buClr>
                <a:schemeClr val="lt1"/>
              </a:buClr>
              <a:buSzPts val="2100"/>
              <a:buNone/>
              <a:defRPr sz="2100">
                <a:solidFill>
                  <a:schemeClr val="lt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_1">
    <p:spTree>
      <p:nvGrpSpPr>
        <p:cNvPr id="110" name="Shape 110"/>
        <p:cNvGrpSpPr/>
        <p:nvPr/>
      </p:nvGrpSpPr>
      <p:grpSpPr>
        <a:xfrm>
          <a:off x="0" y="0"/>
          <a:ext cx="0" cy="0"/>
          <a:chOff x="0" y="0"/>
          <a:chExt cx="0" cy="0"/>
        </a:xfrm>
      </p:grpSpPr>
      <p:sp>
        <p:nvSpPr>
          <p:cNvPr id="111" name="Google Shape;111;p19"/>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13" name="Google Shape;113;p1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14" name="Google Shape;114;p1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15" name="Google Shape;115;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left">
  <p:cSld name="SECTION_TITLE_AND_DESCRIPTION_1_1_1">
    <p:spTree>
      <p:nvGrpSpPr>
        <p:cNvPr id="116" name="Shape 116"/>
        <p:cNvGrpSpPr/>
        <p:nvPr/>
      </p:nvGrpSpPr>
      <p:grpSpPr>
        <a:xfrm>
          <a:off x="0" y="0"/>
          <a:ext cx="0" cy="0"/>
          <a:chOff x="0" y="0"/>
          <a:chExt cx="0" cy="0"/>
        </a:xfrm>
      </p:grpSpPr>
      <p:sp>
        <p:nvSpPr>
          <p:cNvPr id="117" name="Google Shape;117;p20"/>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20"/>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0" name="Google Shape;120;p20"/>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1" name="Google Shape;121;p20"/>
          <p:cNvSpPr txBox="1"/>
          <p:nvPr>
            <p:ph type="title"/>
          </p:nvPr>
        </p:nvSpPr>
        <p:spPr>
          <a:xfrm>
            <a:off x="48829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2" name="Google Shape;122;p20"/>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left, Heading">
  <p:cSld name="SECTION_TITLE_AND_DESCRIPTION_1_1_1_1">
    <p:spTree>
      <p:nvGrpSpPr>
        <p:cNvPr id="123" name="Shape 123"/>
        <p:cNvGrpSpPr/>
        <p:nvPr/>
      </p:nvGrpSpPr>
      <p:grpSpPr>
        <a:xfrm>
          <a:off x="0" y="0"/>
          <a:ext cx="0" cy="0"/>
          <a:chOff x="0" y="0"/>
          <a:chExt cx="0" cy="0"/>
        </a:xfrm>
      </p:grpSpPr>
      <p:sp>
        <p:nvSpPr>
          <p:cNvPr id="124" name="Google Shape;124;p21"/>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6" name="Google Shape;126;p21"/>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7" name="Google Shape;127;p21"/>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8" name="Google Shape;128;p21"/>
          <p:cNvSpPr txBox="1"/>
          <p:nvPr>
            <p:ph idx="3"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29" name="Google Shape;129;p21"/>
          <p:cNvSpPr txBox="1"/>
          <p:nvPr>
            <p:ph type="title"/>
          </p:nvPr>
        </p:nvSpPr>
        <p:spPr>
          <a:xfrm>
            <a:off x="208450" y="3418425"/>
            <a:ext cx="39501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pic>
        <p:nvPicPr>
          <p:cNvPr id="130" name="Google Shape;130;p21"/>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131" name="Shape 131"/>
        <p:cNvGrpSpPr/>
        <p:nvPr/>
      </p:nvGrpSpPr>
      <p:grpSpPr>
        <a:xfrm>
          <a:off x="0" y="0"/>
          <a:ext cx="0" cy="0"/>
          <a:chOff x="0" y="0"/>
          <a:chExt cx="0" cy="0"/>
        </a:xfrm>
      </p:grpSpPr>
      <p:sp>
        <p:nvSpPr>
          <p:cNvPr id="132" name="Google Shape;132;p2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33" name="Google Shape;133;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right">
  <p:cSld name="SECTION_TITLE_AND_DESCRIPTION_1_2">
    <p:spTree>
      <p:nvGrpSpPr>
        <p:cNvPr id="134" name="Shape 134"/>
        <p:cNvGrpSpPr/>
        <p:nvPr/>
      </p:nvGrpSpPr>
      <p:grpSpPr>
        <a:xfrm>
          <a:off x="0" y="0"/>
          <a:ext cx="0" cy="0"/>
          <a:chOff x="0" y="0"/>
          <a:chExt cx="0" cy="0"/>
        </a:xfrm>
      </p:grpSpPr>
      <p:sp>
        <p:nvSpPr>
          <p:cNvPr id="135" name="Google Shape;135;p23"/>
          <p:cNvSpPr/>
          <p:nvPr/>
        </p:nvSpPr>
        <p:spPr>
          <a:xfrm>
            <a:off x="457200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7" name="Google Shape;137;p23"/>
          <p:cNvSpPr txBox="1"/>
          <p:nvPr>
            <p:ph idx="1" type="body"/>
          </p:nvPr>
        </p:nvSpPr>
        <p:spPr>
          <a:xfrm>
            <a:off x="3117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38" name="Google Shape;138;p23"/>
          <p:cNvSpPr txBox="1"/>
          <p:nvPr>
            <p:ph idx="2" type="body"/>
          </p:nvPr>
        </p:nvSpPr>
        <p:spPr>
          <a:xfrm>
            <a:off x="4882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39" name="Google Shape;139;p23"/>
          <p:cNvSpPr txBox="1"/>
          <p:nvPr>
            <p:ph type="title"/>
          </p:nvPr>
        </p:nvSpPr>
        <p:spPr>
          <a:xfrm>
            <a:off x="3117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11" Type="http://schemas.openxmlformats.org/officeDocument/2006/relationships/slideLayout" Target="../slideLayouts/slideLayout10.xml"/><Relationship Id="rId22" Type="http://schemas.openxmlformats.org/officeDocument/2006/relationships/slideLayout" Target="../slideLayouts/slideLayout21.xml"/><Relationship Id="rId10" Type="http://schemas.openxmlformats.org/officeDocument/2006/relationships/slideLayout" Target="../slideLayouts/slideLayout9.xml"/><Relationship Id="rId21" Type="http://schemas.openxmlformats.org/officeDocument/2006/relationships/slideLayout" Target="../slideLayouts/slideLayout20.xml"/><Relationship Id="rId13" Type="http://schemas.openxmlformats.org/officeDocument/2006/relationships/slideLayout" Target="../slideLayouts/slideLayout12.xml"/><Relationship Id="rId24" Type="http://schemas.openxmlformats.org/officeDocument/2006/relationships/theme" Target="../theme/theme2.xml"/><Relationship Id="rId12" Type="http://schemas.openxmlformats.org/officeDocument/2006/relationships/slideLayout" Target="../slideLayouts/slideLayout11.xml"/><Relationship Id="rId23"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0" y="0"/>
            <a:ext cx="8520600" cy="393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p:txBody>
      </p:sp>
      <p:sp>
        <p:nvSpPr>
          <p:cNvPr id="7" name="Google Shape;7;p1"/>
          <p:cNvSpPr txBox="1"/>
          <p:nvPr>
            <p:ph idx="1" type="body"/>
          </p:nvPr>
        </p:nvSpPr>
        <p:spPr>
          <a:xfrm>
            <a:off x="311700" y="572700"/>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42900" lvl="1" marL="9144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2pPr>
            <a:lvl3pPr indent="-342900" lvl="2" marL="13716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3pPr>
            <a:lvl4pPr indent="-342900" lvl="3" marL="18288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4pPr>
            <a:lvl5pPr indent="-342900" lvl="4" marL="22860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5pPr>
            <a:lvl6pPr indent="-342900" lvl="5" marL="27432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6pPr>
            <a:lvl7pPr indent="-342900" lvl="6" marL="32004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7pPr>
            <a:lvl8pPr indent="-342900" lvl="7" marL="36576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8pPr>
            <a:lvl9pPr indent="-342900" lvl="8" marL="41148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1"/>
                </a:solidFill>
                <a:latin typeface="Roboto"/>
                <a:ea typeface="Roboto"/>
                <a:cs typeface="Roboto"/>
                <a:sym typeface="Roboto"/>
              </a:defRPr>
            </a:lvl1pPr>
            <a:lvl2pPr lvl="1" rtl="0" algn="r">
              <a:buNone/>
              <a:defRPr sz="1000">
                <a:solidFill>
                  <a:schemeClr val="dk1"/>
                </a:solidFill>
                <a:latin typeface="Roboto"/>
                <a:ea typeface="Roboto"/>
                <a:cs typeface="Roboto"/>
                <a:sym typeface="Roboto"/>
              </a:defRPr>
            </a:lvl2pPr>
            <a:lvl3pPr lvl="2" rtl="0" algn="r">
              <a:buNone/>
              <a:defRPr sz="1000">
                <a:solidFill>
                  <a:schemeClr val="dk1"/>
                </a:solidFill>
                <a:latin typeface="Roboto"/>
                <a:ea typeface="Roboto"/>
                <a:cs typeface="Roboto"/>
                <a:sym typeface="Roboto"/>
              </a:defRPr>
            </a:lvl3pPr>
            <a:lvl4pPr lvl="3" rtl="0" algn="r">
              <a:buNone/>
              <a:defRPr sz="1000">
                <a:solidFill>
                  <a:schemeClr val="dk1"/>
                </a:solidFill>
                <a:latin typeface="Roboto"/>
                <a:ea typeface="Roboto"/>
                <a:cs typeface="Roboto"/>
                <a:sym typeface="Roboto"/>
              </a:defRPr>
            </a:lvl4pPr>
            <a:lvl5pPr lvl="4" rtl="0" algn="r">
              <a:buNone/>
              <a:defRPr sz="1000">
                <a:solidFill>
                  <a:schemeClr val="dk1"/>
                </a:solidFill>
                <a:latin typeface="Roboto"/>
                <a:ea typeface="Roboto"/>
                <a:cs typeface="Roboto"/>
                <a:sym typeface="Roboto"/>
              </a:defRPr>
            </a:lvl5pPr>
            <a:lvl6pPr lvl="5" rtl="0" algn="r">
              <a:buNone/>
              <a:defRPr sz="1000">
                <a:solidFill>
                  <a:schemeClr val="dk1"/>
                </a:solidFill>
                <a:latin typeface="Roboto"/>
                <a:ea typeface="Roboto"/>
                <a:cs typeface="Roboto"/>
                <a:sym typeface="Roboto"/>
              </a:defRPr>
            </a:lvl6pPr>
            <a:lvl7pPr lvl="6" rtl="0" algn="r">
              <a:buNone/>
              <a:defRPr sz="1000">
                <a:solidFill>
                  <a:schemeClr val="dk1"/>
                </a:solidFill>
                <a:latin typeface="Roboto"/>
                <a:ea typeface="Roboto"/>
                <a:cs typeface="Roboto"/>
                <a:sym typeface="Roboto"/>
              </a:defRPr>
            </a:lvl7pPr>
            <a:lvl8pPr lvl="7" rtl="0" algn="r">
              <a:buNone/>
              <a:defRPr sz="1000">
                <a:solidFill>
                  <a:schemeClr val="dk1"/>
                </a:solidFill>
                <a:latin typeface="Roboto"/>
                <a:ea typeface="Roboto"/>
                <a:cs typeface="Roboto"/>
                <a:sym typeface="Roboto"/>
              </a:defRPr>
            </a:lvl8pPr>
            <a:lvl9pPr lvl="8" rtl="0"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1"/>
          <p:cNvPicPr preferRelativeResize="0"/>
          <p:nvPr/>
        </p:nvPicPr>
        <p:blipFill>
          <a:blip r:embed="rId1">
            <a:alphaModFix/>
          </a:blip>
          <a:stretch>
            <a:fillRect/>
          </a:stretch>
        </p:blipFill>
        <p:spPr>
          <a:xfrm>
            <a:off x="0" y="4983478"/>
            <a:ext cx="457200" cy="16002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hyperlink" Target="https://www.google.com/maps?q=comanche+motel+fort+stockton&amp;um=1&amp;ie=UTF-8&amp;sa=X&amp;ved=0ahUKEwjDv4LthPTYAhVI7WMKHUh8AooQ_AUICigB" TargetMode="External"/><Relationship Id="rId5"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www.youtube.com/watch?v=yz850zzjrHQ" TargetMode="External"/><Relationship Id="rId4" Type="http://schemas.openxmlformats.org/officeDocument/2006/relationships/image" Target="../media/image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citeseerx.ist.psu.edu/viewdoc/download?doi=10.1.1.152.1289&amp;rep=rep1&amp;type=pdf"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8.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hyperlink" Target="https://tinyurl.com/balanceYD" TargetMode="External"/><Relationship Id="rId4" Type="http://schemas.openxmlformats.org/officeDocument/2006/relationships/hyperlink" Target="https://www.cs.usfca.edu/~galles/visualization/BTree.html"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hyperlink" Target="https://tinyurl.com/balanceYD"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hyperlink" Target="https://docs.google.com/presentation/d/1mNAtzfc7Mna1rpVzoTcrn9p8ejWIh72QBuEqOJwQzbk/edit#slide=id.g1f5aad9eaf1_0_432"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txBox="1"/>
          <p:nvPr>
            <p:ph type="ctrTitle"/>
          </p:nvPr>
        </p:nvSpPr>
        <p:spPr>
          <a:xfrm>
            <a:off x="311700" y="1658975"/>
            <a:ext cx="8709600" cy="205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600">
                <a:solidFill>
                  <a:schemeClr val="accent3"/>
                </a:solidFill>
              </a:rPr>
              <a:t>B-Trees (and 2-3 and 2-3-4 Trees)</a:t>
            </a:r>
            <a:endParaRPr sz="3600">
              <a:solidFill>
                <a:schemeClr val="accent3"/>
              </a:solidFill>
            </a:endParaRPr>
          </a:p>
        </p:txBody>
      </p:sp>
      <p:sp>
        <p:nvSpPr>
          <p:cNvPr id="145" name="Google Shape;145;p24"/>
          <p:cNvSpPr txBox="1"/>
          <p:nvPr/>
        </p:nvSpPr>
        <p:spPr>
          <a:xfrm>
            <a:off x="345775" y="2740300"/>
            <a:ext cx="2762700" cy="2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BF9000"/>
                </a:solidFill>
                <a:latin typeface="Roboto Medium"/>
                <a:ea typeface="Roboto Medium"/>
                <a:cs typeface="Roboto Medium"/>
                <a:sym typeface="Roboto Medium"/>
              </a:rPr>
              <a:t>Lecture 17 (Data Structures 3)</a:t>
            </a:r>
            <a:endParaRPr sz="1200">
              <a:solidFill>
                <a:srgbClr val="BF9000"/>
              </a:solidFill>
              <a:latin typeface="Roboto Medium"/>
              <a:ea typeface="Roboto Medium"/>
              <a:cs typeface="Roboto Medium"/>
              <a:sym typeface="Roboto Medium"/>
            </a:endParaRPr>
          </a:p>
        </p:txBody>
      </p:sp>
      <p:sp>
        <p:nvSpPr>
          <p:cNvPr id="146" name="Google Shape;146;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7" name="Google Shape;147;p24"/>
          <p:cNvSpPr txBox="1"/>
          <p:nvPr/>
        </p:nvSpPr>
        <p:spPr>
          <a:xfrm>
            <a:off x="311700" y="3854350"/>
            <a:ext cx="8520600" cy="658500"/>
          </a:xfrm>
          <a:prstGeom prst="rect">
            <a:avLst/>
          </a:prstGeom>
          <a:noFill/>
          <a:ln>
            <a:noFill/>
          </a:ln>
        </p:spPr>
        <p:txBody>
          <a:bodyPr anchorCtr="0" anchor="t" bIns="91425" lIns="91425" spcFirstLastPara="1" rIns="91425" wrap="square" tIns="91425">
            <a:noAutofit/>
          </a:bodyPr>
          <a:lstStyle/>
          <a:p>
            <a:pPr indent="0" lvl="0" marL="0" rtl="0" algn="l">
              <a:spcBef>
                <a:spcPts val="600"/>
              </a:spcBef>
              <a:spcAft>
                <a:spcPts val="0"/>
              </a:spcAft>
              <a:buNone/>
            </a:pPr>
            <a:r>
              <a:rPr lang="en" sz="1600">
                <a:latin typeface="Roboto Medium"/>
                <a:ea typeface="Roboto Medium"/>
                <a:cs typeface="Roboto Medium"/>
                <a:sym typeface="Roboto Medium"/>
              </a:rPr>
              <a:t>CS61B, Fall</a:t>
            </a:r>
            <a:r>
              <a:rPr lang="en" sz="1600">
                <a:solidFill>
                  <a:srgbClr val="000000"/>
                </a:solidFill>
                <a:latin typeface="Roboto Medium"/>
                <a:ea typeface="Roboto Medium"/>
                <a:cs typeface="Roboto Medium"/>
                <a:sym typeface="Roboto Medium"/>
              </a:rPr>
              <a:t> 202</a:t>
            </a:r>
            <a:r>
              <a:rPr lang="en" sz="1600">
                <a:latin typeface="Roboto Medium"/>
                <a:ea typeface="Roboto Medium"/>
                <a:cs typeface="Roboto Medium"/>
                <a:sym typeface="Roboto Medium"/>
              </a:rPr>
              <a:t>3</a:t>
            </a:r>
            <a:r>
              <a:rPr lang="en" sz="1600">
                <a:solidFill>
                  <a:srgbClr val="000000"/>
                </a:solidFill>
                <a:latin typeface="Roboto Medium"/>
                <a:ea typeface="Roboto Medium"/>
                <a:cs typeface="Roboto Medium"/>
                <a:sym typeface="Roboto Medium"/>
              </a:rPr>
              <a:t> @ UC Berkeley</a:t>
            </a:r>
            <a:endParaRPr sz="1600">
              <a:solidFill>
                <a:srgbClr val="000000"/>
              </a:solidFill>
              <a:latin typeface="Roboto Medium"/>
              <a:ea typeface="Roboto Medium"/>
              <a:cs typeface="Roboto Medium"/>
              <a:sym typeface="Roboto Medium"/>
            </a:endParaRPr>
          </a:p>
          <a:p>
            <a:pPr indent="0" lvl="0" marL="0" rtl="0" algn="l">
              <a:spcBef>
                <a:spcPts val="600"/>
              </a:spcBef>
              <a:spcAft>
                <a:spcPts val="0"/>
              </a:spcAft>
              <a:buNone/>
            </a:pPr>
            <a:r>
              <a:rPr lang="en" sz="1600">
                <a:latin typeface="Roboto Light"/>
                <a:ea typeface="Roboto Light"/>
                <a:cs typeface="Roboto Light"/>
                <a:sym typeface="Roboto Light"/>
              </a:rPr>
              <a:t>Slides credit: </a:t>
            </a:r>
            <a:r>
              <a:rPr lang="en" sz="1600">
                <a:solidFill>
                  <a:srgbClr val="000000"/>
                </a:solidFill>
                <a:latin typeface="Roboto Light"/>
                <a:ea typeface="Roboto Light"/>
                <a:cs typeface="Roboto Light"/>
                <a:sym typeface="Roboto Light"/>
              </a:rPr>
              <a:t>Josh Hug</a:t>
            </a:r>
            <a:endParaRPr sz="1600">
              <a:solidFill>
                <a:srgbClr val="000000"/>
              </a:solidFill>
              <a:latin typeface="Roboto Light"/>
              <a:ea typeface="Roboto Light"/>
              <a:cs typeface="Roboto Light"/>
              <a:sym typeface="Roboto Light"/>
            </a:endParaRPr>
          </a:p>
        </p:txBody>
      </p:sp>
      <p:sp>
        <p:nvSpPr>
          <p:cNvPr id="148" name="Google Shape;148;p24"/>
          <p:cNvSpPr/>
          <p:nvPr/>
        </p:nvSpPr>
        <p:spPr>
          <a:xfrm>
            <a:off x="7087644" y="1061275"/>
            <a:ext cx="5742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3  5</a:t>
            </a:r>
            <a:endParaRPr sz="1800"/>
          </a:p>
        </p:txBody>
      </p:sp>
      <p:sp>
        <p:nvSpPr>
          <p:cNvPr id="149" name="Google Shape;149;p24"/>
          <p:cNvSpPr/>
          <p:nvPr/>
        </p:nvSpPr>
        <p:spPr>
          <a:xfrm>
            <a:off x="6243363" y="1689700"/>
            <a:ext cx="5742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1  2</a:t>
            </a:r>
            <a:endParaRPr sz="1800"/>
          </a:p>
        </p:txBody>
      </p:sp>
      <p:sp>
        <p:nvSpPr>
          <p:cNvPr id="150" name="Google Shape;150;p24"/>
          <p:cNvSpPr/>
          <p:nvPr/>
        </p:nvSpPr>
        <p:spPr>
          <a:xfrm>
            <a:off x="7930888" y="1689700"/>
            <a:ext cx="5742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6  7</a:t>
            </a:r>
            <a:endParaRPr sz="1800"/>
          </a:p>
        </p:txBody>
      </p:sp>
      <p:sp>
        <p:nvSpPr>
          <p:cNvPr id="151" name="Google Shape;151;p24"/>
          <p:cNvSpPr/>
          <p:nvPr/>
        </p:nvSpPr>
        <p:spPr>
          <a:xfrm>
            <a:off x="7087644" y="1689700"/>
            <a:ext cx="5742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4</a:t>
            </a:r>
            <a:endParaRPr sz="1800"/>
          </a:p>
        </p:txBody>
      </p:sp>
      <p:cxnSp>
        <p:nvCxnSpPr>
          <p:cNvPr id="152" name="Google Shape;152;p24"/>
          <p:cNvCxnSpPr>
            <a:stCxn id="148" idx="2"/>
            <a:endCxn id="149" idx="0"/>
          </p:cNvCxnSpPr>
          <p:nvPr/>
        </p:nvCxnSpPr>
        <p:spPr>
          <a:xfrm flipH="1">
            <a:off x="6530544" y="1386175"/>
            <a:ext cx="844200" cy="303600"/>
          </a:xfrm>
          <a:prstGeom prst="straightConnector1">
            <a:avLst/>
          </a:prstGeom>
          <a:noFill/>
          <a:ln cap="flat" cmpd="sng" w="19050">
            <a:solidFill>
              <a:srgbClr val="666666"/>
            </a:solidFill>
            <a:prstDash val="solid"/>
            <a:round/>
            <a:headEnd len="med" w="med" type="none"/>
            <a:tailEnd len="med" w="med" type="none"/>
          </a:ln>
        </p:spPr>
      </p:cxnSp>
      <p:cxnSp>
        <p:nvCxnSpPr>
          <p:cNvPr id="153" name="Google Shape;153;p24"/>
          <p:cNvCxnSpPr>
            <a:stCxn id="148" idx="2"/>
            <a:endCxn id="151" idx="0"/>
          </p:cNvCxnSpPr>
          <p:nvPr/>
        </p:nvCxnSpPr>
        <p:spPr>
          <a:xfrm>
            <a:off x="7374744" y="1386175"/>
            <a:ext cx="0" cy="303600"/>
          </a:xfrm>
          <a:prstGeom prst="straightConnector1">
            <a:avLst/>
          </a:prstGeom>
          <a:noFill/>
          <a:ln cap="flat" cmpd="sng" w="19050">
            <a:solidFill>
              <a:srgbClr val="666666"/>
            </a:solidFill>
            <a:prstDash val="solid"/>
            <a:round/>
            <a:headEnd len="med" w="med" type="none"/>
            <a:tailEnd len="med" w="med" type="none"/>
          </a:ln>
        </p:spPr>
      </p:cxnSp>
      <p:cxnSp>
        <p:nvCxnSpPr>
          <p:cNvPr id="154" name="Google Shape;154;p24"/>
          <p:cNvCxnSpPr>
            <a:stCxn id="148" idx="2"/>
            <a:endCxn id="150" idx="0"/>
          </p:cNvCxnSpPr>
          <p:nvPr/>
        </p:nvCxnSpPr>
        <p:spPr>
          <a:xfrm>
            <a:off x="7374744" y="1386175"/>
            <a:ext cx="843300" cy="303600"/>
          </a:xfrm>
          <a:prstGeom prst="straightConnector1">
            <a:avLst/>
          </a:prstGeom>
          <a:noFill/>
          <a:ln cap="flat" cmpd="sng" w="19050">
            <a:solidFill>
              <a:srgbClr val="666666"/>
            </a:solidFill>
            <a:prstDash val="solid"/>
            <a:round/>
            <a:headEnd len="med" w="med" type="none"/>
            <a:tailEnd len="med" w="med" type="none"/>
          </a:ln>
        </p:spPr>
      </p:cxnSp>
      <p:sp>
        <p:nvSpPr>
          <p:cNvPr id="155" name="Google Shape;155;p24"/>
          <p:cNvSpPr/>
          <p:nvPr/>
        </p:nvSpPr>
        <p:spPr>
          <a:xfrm>
            <a:off x="3890975" y="1405682"/>
            <a:ext cx="40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a:t>
            </a:r>
            <a:endParaRPr sz="1800"/>
          </a:p>
        </p:txBody>
      </p:sp>
      <p:sp>
        <p:nvSpPr>
          <p:cNvPr id="156" name="Google Shape;156;p24"/>
          <p:cNvSpPr/>
          <p:nvPr/>
        </p:nvSpPr>
        <p:spPr>
          <a:xfrm>
            <a:off x="5078098" y="1405682"/>
            <a:ext cx="40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6</a:t>
            </a:r>
            <a:endParaRPr sz="1800"/>
          </a:p>
        </p:txBody>
      </p:sp>
      <p:sp>
        <p:nvSpPr>
          <p:cNvPr id="157" name="Google Shape;157;p24"/>
          <p:cNvSpPr/>
          <p:nvPr/>
        </p:nvSpPr>
        <p:spPr>
          <a:xfrm>
            <a:off x="4443875" y="893057"/>
            <a:ext cx="40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4</a:t>
            </a:r>
            <a:endParaRPr sz="1800"/>
          </a:p>
        </p:txBody>
      </p:sp>
      <p:sp>
        <p:nvSpPr>
          <p:cNvPr id="158" name="Google Shape;158;p24"/>
          <p:cNvSpPr/>
          <p:nvPr/>
        </p:nvSpPr>
        <p:spPr>
          <a:xfrm>
            <a:off x="3570925" y="1918307"/>
            <a:ext cx="40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a:t>
            </a:r>
            <a:endParaRPr sz="1800"/>
          </a:p>
        </p:txBody>
      </p:sp>
      <p:sp>
        <p:nvSpPr>
          <p:cNvPr id="159" name="Google Shape;159;p24"/>
          <p:cNvSpPr/>
          <p:nvPr/>
        </p:nvSpPr>
        <p:spPr>
          <a:xfrm>
            <a:off x="4214825" y="1918307"/>
            <a:ext cx="40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3</a:t>
            </a:r>
            <a:endParaRPr sz="1800"/>
          </a:p>
        </p:txBody>
      </p:sp>
      <p:sp>
        <p:nvSpPr>
          <p:cNvPr id="160" name="Google Shape;160;p24"/>
          <p:cNvSpPr/>
          <p:nvPr/>
        </p:nvSpPr>
        <p:spPr>
          <a:xfrm>
            <a:off x="4797825" y="1918307"/>
            <a:ext cx="40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5</a:t>
            </a:r>
            <a:endParaRPr sz="1800"/>
          </a:p>
        </p:txBody>
      </p:sp>
      <p:sp>
        <p:nvSpPr>
          <p:cNvPr id="161" name="Google Shape;161;p24"/>
          <p:cNvSpPr/>
          <p:nvPr/>
        </p:nvSpPr>
        <p:spPr>
          <a:xfrm>
            <a:off x="5365525" y="1918307"/>
            <a:ext cx="40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7</a:t>
            </a:r>
            <a:endParaRPr sz="1800"/>
          </a:p>
        </p:txBody>
      </p:sp>
      <p:cxnSp>
        <p:nvCxnSpPr>
          <p:cNvPr id="162" name="Google Shape;162;p24"/>
          <p:cNvCxnSpPr>
            <a:stCxn id="157" idx="2"/>
            <a:endCxn id="155" idx="0"/>
          </p:cNvCxnSpPr>
          <p:nvPr/>
        </p:nvCxnSpPr>
        <p:spPr>
          <a:xfrm flipH="1">
            <a:off x="4091225" y="1217957"/>
            <a:ext cx="552900" cy="187800"/>
          </a:xfrm>
          <a:prstGeom prst="straightConnector1">
            <a:avLst/>
          </a:prstGeom>
          <a:noFill/>
          <a:ln cap="flat" cmpd="sng" w="19050">
            <a:solidFill>
              <a:srgbClr val="666666"/>
            </a:solidFill>
            <a:prstDash val="solid"/>
            <a:round/>
            <a:headEnd len="med" w="med" type="none"/>
            <a:tailEnd len="med" w="med" type="none"/>
          </a:ln>
        </p:spPr>
      </p:cxnSp>
      <p:cxnSp>
        <p:nvCxnSpPr>
          <p:cNvPr id="163" name="Google Shape;163;p24"/>
          <p:cNvCxnSpPr>
            <a:stCxn id="155" idx="2"/>
            <a:endCxn id="159" idx="0"/>
          </p:cNvCxnSpPr>
          <p:nvPr/>
        </p:nvCxnSpPr>
        <p:spPr>
          <a:xfrm>
            <a:off x="4091225" y="1730582"/>
            <a:ext cx="324000" cy="187800"/>
          </a:xfrm>
          <a:prstGeom prst="straightConnector1">
            <a:avLst/>
          </a:prstGeom>
          <a:noFill/>
          <a:ln cap="flat" cmpd="sng" w="19050">
            <a:solidFill>
              <a:srgbClr val="666666"/>
            </a:solidFill>
            <a:prstDash val="solid"/>
            <a:round/>
            <a:headEnd len="med" w="med" type="none"/>
            <a:tailEnd len="med" w="med" type="none"/>
          </a:ln>
        </p:spPr>
      </p:cxnSp>
      <p:cxnSp>
        <p:nvCxnSpPr>
          <p:cNvPr id="164" name="Google Shape;164;p24"/>
          <p:cNvCxnSpPr>
            <a:stCxn id="155" idx="2"/>
            <a:endCxn id="158" idx="0"/>
          </p:cNvCxnSpPr>
          <p:nvPr/>
        </p:nvCxnSpPr>
        <p:spPr>
          <a:xfrm flipH="1">
            <a:off x="3771125" y="1730582"/>
            <a:ext cx="320100" cy="187800"/>
          </a:xfrm>
          <a:prstGeom prst="straightConnector1">
            <a:avLst/>
          </a:prstGeom>
          <a:noFill/>
          <a:ln cap="flat" cmpd="sng" w="19050">
            <a:solidFill>
              <a:srgbClr val="666666"/>
            </a:solidFill>
            <a:prstDash val="solid"/>
            <a:round/>
            <a:headEnd len="med" w="med" type="none"/>
            <a:tailEnd len="med" w="med" type="none"/>
          </a:ln>
        </p:spPr>
      </p:cxnSp>
      <p:cxnSp>
        <p:nvCxnSpPr>
          <p:cNvPr id="165" name="Google Shape;165;p24"/>
          <p:cNvCxnSpPr>
            <a:stCxn id="156" idx="2"/>
            <a:endCxn id="160" idx="0"/>
          </p:cNvCxnSpPr>
          <p:nvPr/>
        </p:nvCxnSpPr>
        <p:spPr>
          <a:xfrm flipH="1">
            <a:off x="4998148" y="1730582"/>
            <a:ext cx="280200" cy="187800"/>
          </a:xfrm>
          <a:prstGeom prst="straightConnector1">
            <a:avLst/>
          </a:prstGeom>
          <a:noFill/>
          <a:ln cap="flat" cmpd="sng" w="19050">
            <a:solidFill>
              <a:srgbClr val="666666"/>
            </a:solidFill>
            <a:prstDash val="solid"/>
            <a:round/>
            <a:headEnd len="med" w="med" type="none"/>
            <a:tailEnd len="med" w="med" type="none"/>
          </a:ln>
        </p:spPr>
      </p:cxnSp>
      <p:cxnSp>
        <p:nvCxnSpPr>
          <p:cNvPr id="166" name="Google Shape;166;p24"/>
          <p:cNvCxnSpPr>
            <a:stCxn id="156" idx="2"/>
            <a:endCxn id="161" idx="0"/>
          </p:cNvCxnSpPr>
          <p:nvPr/>
        </p:nvCxnSpPr>
        <p:spPr>
          <a:xfrm>
            <a:off x="5278348" y="1730582"/>
            <a:ext cx="287400" cy="187800"/>
          </a:xfrm>
          <a:prstGeom prst="straightConnector1">
            <a:avLst/>
          </a:prstGeom>
          <a:noFill/>
          <a:ln cap="flat" cmpd="sng" w="19050">
            <a:solidFill>
              <a:srgbClr val="666666"/>
            </a:solidFill>
            <a:prstDash val="solid"/>
            <a:round/>
            <a:headEnd len="med" w="med" type="none"/>
            <a:tailEnd len="med" w="med" type="none"/>
          </a:ln>
        </p:spPr>
      </p:cxnSp>
      <p:cxnSp>
        <p:nvCxnSpPr>
          <p:cNvPr id="167" name="Google Shape;167;p24"/>
          <p:cNvCxnSpPr>
            <a:stCxn id="157" idx="2"/>
            <a:endCxn id="156" idx="0"/>
          </p:cNvCxnSpPr>
          <p:nvPr/>
        </p:nvCxnSpPr>
        <p:spPr>
          <a:xfrm>
            <a:off x="4644125" y="1217957"/>
            <a:ext cx="634200" cy="187800"/>
          </a:xfrm>
          <a:prstGeom prst="straightConnector1">
            <a:avLst/>
          </a:prstGeom>
          <a:noFill/>
          <a:ln cap="flat" cmpd="sng" w="19050">
            <a:solidFill>
              <a:srgbClr val="666666"/>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5"/>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b="1" lang="en">
                <a:solidFill>
                  <a:schemeClr val="accent3"/>
                </a:solidFill>
                <a:latin typeface="Roboto"/>
                <a:ea typeface="Roboto"/>
                <a:cs typeface="Roboto"/>
                <a:sym typeface="Roboto"/>
              </a:rPr>
              <a:t>Binary Search Trees</a:t>
            </a:r>
            <a:endParaRPr b="1">
              <a:solidFill>
                <a:schemeClr val="accent3"/>
              </a:solidFill>
              <a:latin typeface="Roboto"/>
              <a:ea typeface="Roboto"/>
              <a:cs typeface="Roboto"/>
              <a:sym typeface="Roboto"/>
            </a:endParaRPr>
          </a:p>
          <a:p>
            <a:pPr indent="-342900" lvl="0" marL="457200" rtl="0" algn="l">
              <a:spcBef>
                <a:spcPts val="60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BST Height, Big O vs. Worst Case Big Theta</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Worst Case Performance</a:t>
            </a:r>
            <a:endParaRPr>
              <a:solidFill>
                <a:srgbClr val="B7B7B7"/>
              </a:solidFill>
            </a:endParaRPr>
          </a:p>
          <a:p>
            <a:pPr indent="0" lvl="0" marL="0" rtl="0" algn="l">
              <a:spcBef>
                <a:spcPts val="600"/>
              </a:spcBef>
              <a:spcAft>
                <a:spcPts val="0"/>
              </a:spcAft>
              <a:buNone/>
            </a:pPr>
            <a:r>
              <a:rPr lang="en">
                <a:solidFill>
                  <a:srgbClr val="B7B7B7"/>
                </a:solidFill>
              </a:rPr>
              <a:t>B-Trees</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Splitting Juicy Nodes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Chain Reaction Splitting</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B-Tree Terminology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Invariants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Worst Case Performance</a:t>
            </a:r>
            <a:endParaRPr>
              <a:solidFill>
                <a:srgbClr val="B7B7B7"/>
              </a:solidFill>
            </a:endParaRPr>
          </a:p>
        </p:txBody>
      </p:sp>
      <p:sp>
        <p:nvSpPr>
          <p:cNvPr id="173" name="Google Shape;173;p2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BST Height, Big O vs. Worst Case Big Theta</a:t>
            </a:r>
            <a:endParaRPr/>
          </a:p>
        </p:txBody>
      </p:sp>
      <p:sp>
        <p:nvSpPr>
          <p:cNvPr id="174" name="Google Shape;174;p2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17, CS61B, Fall 2023</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Big Theta vs. Big O</a:t>
            </a:r>
            <a:endParaRPr/>
          </a:p>
        </p:txBody>
      </p:sp>
      <p:sp>
        <p:nvSpPr>
          <p:cNvPr id="180" name="Google Shape;180;p2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 student a couple weeks ago asked: If we have big theta, why do we also have big O?</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The answer is the same as: If we have </a:t>
            </a:r>
            <a:r>
              <a:rPr lang="en" sz="2400"/>
              <a:t>=</a:t>
            </a:r>
            <a:r>
              <a:rPr lang="en"/>
              <a:t>, why do we also have </a:t>
            </a:r>
            <a:r>
              <a:rPr lang="en" sz="2400">
                <a:solidFill>
                  <a:srgbClr val="202124"/>
                </a:solidFill>
                <a:highlight>
                  <a:srgbClr val="FFFFFF"/>
                </a:highlight>
              </a:rPr>
              <a:t>≤</a:t>
            </a:r>
            <a:r>
              <a:rPr lang="en"/>
              <a:t>.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Let’s dig on this point, and also get a better feel for BSTs as we go.</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BST Tree Height</a:t>
            </a:r>
            <a:endParaRPr/>
          </a:p>
        </p:txBody>
      </p:sp>
      <p:sp>
        <p:nvSpPr>
          <p:cNvPr id="186" name="Google Shape;186;p27"/>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Let’s start today by carefully discussing the height of binary search trees.</a:t>
            </a:r>
            <a:endParaRPr/>
          </a:p>
          <a:p>
            <a:pPr indent="0" lvl="0" marL="457200" rtl="0" algn="l">
              <a:spcBef>
                <a:spcPts val="600"/>
              </a:spcBef>
              <a:spcAft>
                <a:spcPts val="0"/>
              </a:spcAft>
              <a:buNone/>
            </a:pPr>
            <a:r>
              <a:t/>
            </a:r>
            <a:endParaRPr/>
          </a:p>
          <a:p>
            <a:pPr indent="0" lvl="0" marL="0" rtl="0" algn="l">
              <a:spcBef>
                <a:spcPts val="600"/>
              </a:spcBef>
              <a:spcAft>
                <a:spcPts val="0"/>
              </a:spcAft>
              <a:buNone/>
            </a:pPr>
            <a:r>
              <a:rPr lang="en"/>
              <a:t>Trees range from best-case “bushy” to worst-case “spindly”.</a:t>
            </a:r>
            <a:endParaRPr/>
          </a:p>
          <a:p>
            <a:pPr indent="-342900" lvl="0" marL="457200" rtl="0" algn="l">
              <a:spcBef>
                <a:spcPts val="600"/>
              </a:spcBef>
              <a:spcAft>
                <a:spcPts val="0"/>
              </a:spcAft>
              <a:buSzPts val="1800"/>
              <a:buChar char="●"/>
            </a:pPr>
            <a:r>
              <a:rPr lang="en"/>
              <a:t>Difference is dramatic!</a:t>
            </a:r>
            <a:endParaRPr/>
          </a:p>
        </p:txBody>
      </p:sp>
      <p:grpSp>
        <p:nvGrpSpPr>
          <p:cNvPr id="187" name="Google Shape;187;p27"/>
          <p:cNvGrpSpPr/>
          <p:nvPr/>
        </p:nvGrpSpPr>
        <p:grpSpPr>
          <a:xfrm>
            <a:off x="594600" y="3439088"/>
            <a:ext cx="1762689" cy="1040218"/>
            <a:chOff x="5860100" y="3678825"/>
            <a:chExt cx="1762689" cy="1040218"/>
          </a:xfrm>
        </p:grpSpPr>
        <p:sp>
          <p:nvSpPr>
            <p:cNvPr id="188" name="Google Shape;188;p27"/>
            <p:cNvSpPr/>
            <p:nvPr/>
          </p:nvSpPr>
          <p:spPr>
            <a:xfrm>
              <a:off x="6582425" y="3678825"/>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e</a:t>
              </a:r>
              <a:endParaRPr/>
            </a:p>
          </p:txBody>
        </p:sp>
        <p:sp>
          <p:nvSpPr>
            <p:cNvPr id="189" name="Google Shape;189;p27"/>
            <p:cNvSpPr/>
            <p:nvPr/>
          </p:nvSpPr>
          <p:spPr>
            <a:xfrm>
              <a:off x="6125225" y="4059825"/>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a:t>
              </a:r>
              <a:endParaRPr/>
            </a:p>
          </p:txBody>
        </p:sp>
        <p:sp>
          <p:nvSpPr>
            <p:cNvPr id="190" name="Google Shape;190;p27"/>
            <p:cNvSpPr/>
            <p:nvPr/>
          </p:nvSpPr>
          <p:spPr>
            <a:xfrm>
              <a:off x="7039625" y="4059825"/>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g</a:t>
              </a:r>
              <a:endParaRPr/>
            </a:p>
          </p:txBody>
        </p:sp>
        <p:sp>
          <p:nvSpPr>
            <p:cNvPr id="191" name="Google Shape;191;p27"/>
            <p:cNvSpPr/>
            <p:nvPr/>
          </p:nvSpPr>
          <p:spPr>
            <a:xfrm>
              <a:off x="5860100" y="4448825"/>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a:t>
              </a:r>
              <a:endParaRPr/>
            </a:p>
          </p:txBody>
        </p:sp>
        <p:sp>
          <p:nvSpPr>
            <p:cNvPr id="192" name="Google Shape;192;p27"/>
            <p:cNvSpPr/>
            <p:nvPr/>
          </p:nvSpPr>
          <p:spPr>
            <a:xfrm>
              <a:off x="6338643" y="4454743"/>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t>
              </a:r>
              <a:endParaRPr/>
            </a:p>
          </p:txBody>
        </p:sp>
        <p:sp>
          <p:nvSpPr>
            <p:cNvPr id="193" name="Google Shape;193;p27"/>
            <p:cNvSpPr/>
            <p:nvPr/>
          </p:nvSpPr>
          <p:spPr>
            <a:xfrm>
              <a:off x="6781925" y="4454743"/>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f</a:t>
              </a:r>
              <a:endParaRPr/>
            </a:p>
          </p:txBody>
        </p:sp>
        <p:sp>
          <p:nvSpPr>
            <p:cNvPr id="194" name="Google Shape;194;p27"/>
            <p:cNvSpPr/>
            <p:nvPr/>
          </p:nvSpPr>
          <p:spPr>
            <a:xfrm>
              <a:off x="7288889" y="4454743"/>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j</a:t>
              </a:r>
              <a:endParaRPr/>
            </a:p>
          </p:txBody>
        </p:sp>
        <p:cxnSp>
          <p:nvCxnSpPr>
            <p:cNvPr id="195" name="Google Shape;195;p27"/>
            <p:cNvCxnSpPr>
              <a:stCxn id="189" idx="0"/>
              <a:endCxn id="188" idx="2"/>
            </p:cNvCxnSpPr>
            <p:nvPr/>
          </p:nvCxnSpPr>
          <p:spPr>
            <a:xfrm flipH="1" rot="10800000">
              <a:off x="6292175" y="3943125"/>
              <a:ext cx="457200" cy="116700"/>
            </a:xfrm>
            <a:prstGeom prst="straightConnector1">
              <a:avLst/>
            </a:prstGeom>
            <a:noFill/>
            <a:ln cap="flat" cmpd="sng" w="19050">
              <a:solidFill>
                <a:srgbClr val="666666"/>
              </a:solidFill>
              <a:prstDash val="solid"/>
              <a:round/>
              <a:headEnd len="med" w="med" type="none"/>
              <a:tailEnd len="med" w="med" type="none"/>
            </a:ln>
          </p:spPr>
        </p:cxnSp>
        <p:cxnSp>
          <p:nvCxnSpPr>
            <p:cNvPr id="196" name="Google Shape;196;p27"/>
            <p:cNvCxnSpPr>
              <a:stCxn id="190" idx="0"/>
              <a:endCxn id="188" idx="2"/>
            </p:cNvCxnSpPr>
            <p:nvPr/>
          </p:nvCxnSpPr>
          <p:spPr>
            <a:xfrm rot="10800000">
              <a:off x="6749375" y="3943125"/>
              <a:ext cx="457200" cy="116700"/>
            </a:xfrm>
            <a:prstGeom prst="straightConnector1">
              <a:avLst/>
            </a:prstGeom>
            <a:noFill/>
            <a:ln cap="flat" cmpd="sng" w="19050">
              <a:solidFill>
                <a:srgbClr val="666666"/>
              </a:solidFill>
              <a:prstDash val="solid"/>
              <a:round/>
              <a:headEnd len="med" w="med" type="none"/>
              <a:tailEnd len="med" w="med" type="none"/>
            </a:ln>
          </p:spPr>
        </p:cxnSp>
        <p:cxnSp>
          <p:nvCxnSpPr>
            <p:cNvPr id="197" name="Google Shape;197;p27"/>
            <p:cNvCxnSpPr>
              <a:stCxn id="191" idx="0"/>
              <a:endCxn id="189" idx="2"/>
            </p:cNvCxnSpPr>
            <p:nvPr/>
          </p:nvCxnSpPr>
          <p:spPr>
            <a:xfrm flipH="1" rot="10800000">
              <a:off x="6027050" y="4324025"/>
              <a:ext cx="265200" cy="124800"/>
            </a:xfrm>
            <a:prstGeom prst="straightConnector1">
              <a:avLst/>
            </a:prstGeom>
            <a:noFill/>
            <a:ln cap="flat" cmpd="sng" w="19050">
              <a:solidFill>
                <a:srgbClr val="666666"/>
              </a:solidFill>
              <a:prstDash val="solid"/>
              <a:round/>
              <a:headEnd len="med" w="med" type="none"/>
              <a:tailEnd len="med" w="med" type="none"/>
            </a:ln>
          </p:spPr>
        </p:cxnSp>
        <p:cxnSp>
          <p:nvCxnSpPr>
            <p:cNvPr id="198" name="Google Shape;198;p27"/>
            <p:cNvCxnSpPr>
              <a:stCxn id="189" idx="2"/>
              <a:endCxn id="192" idx="0"/>
            </p:cNvCxnSpPr>
            <p:nvPr/>
          </p:nvCxnSpPr>
          <p:spPr>
            <a:xfrm>
              <a:off x="6292175" y="4324125"/>
              <a:ext cx="213300" cy="130500"/>
            </a:xfrm>
            <a:prstGeom prst="straightConnector1">
              <a:avLst/>
            </a:prstGeom>
            <a:noFill/>
            <a:ln cap="flat" cmpd="sng" w="19050">
              <a:solidFill>
                <a:srgbClr val="666666"/>
              </a:solidFill>
              <a:prstDash val="solid"/>
              <a:round/>
              <a:headEnd len="med" w="med" type="none"/>
              <a:tailEnd len="med" w="med" type="none"/>
            </a:ln>
          </p:spPr>
        </p:cxnSp>
        <p:cxnSp>
          <p:nvCxnSpPr>
            <p:cNvPr id="199" name="Google Shape;199;p27"/>
            <p:cNvCxnSpPr>
              <a:stCxn id="190" idx="2"/>
              <a:endCxn id="193" idx="0"/>
            </p:cNvCxnSpPr>
            <p:nvPr/>
          </p:nvCxnSpPr>
          <p:spPr>
            <a:xfrm flipH="1">
              <a:off x="6948875" y="4324125"/>
              <a:ext cx="257700" cy="130500"/>
            </a:xfrm>
            <a:prstGeom prst="straightConnector1">
              <a:avLst/>
            </a:prstGeom>
            <a:noFill/>
            <a:ln cap="flat" cmpd="sng" w="19050">
              <a:solidFill>
                <a:srgbClr val="666666"/>
              </a:solidFill>
              <a:prstDash val="solid"/>
              <a:round/>
              <a:headEnd len="med" w="med" type="none"/>
              <a:tailEnd len="med" w="med" type="none"/>
            </a:ln>
          </p:spPr>
        </p:cxnSp>
        <p:cxnSp>
          <p:nvCxnSpPr>
            <p:cNvPr id="200" name="Google Shape;200;p27"/>
            <p:cNvCxnSpPr>
              <a:stCxn id="190" idx="2"/>
              <a:endCxn id="194" idx="0"/>
            </p:cNvCxnSpPr>
            <p:nvPr/>
          </p:nvCxnSpPr>
          <p:spPr>
            <a:xfrm>
              <a:off x="7206575" y="4324125"/>
              <a:ext cx="249300" cy="130500"/>
            </a:xfrm>
            <a:prstGeom prst="straightConnector1">
              <a:avLst/>
            </a:prstGeom>
            <a:noFill/>
            <a:ln cap="flat" cmpd="sng" w="19050">
              <a:solidFill>
                <a:srgbClr val="666666"/>
              </a:solidFill>
              <a:prstDash val="solid"/>
              <a:round/>
              <a:headEnd len="med" w="med" type="none"/>
              <a:tailEnd len="med" w="med" type="none"/>
            </a:ln>
          </p:spPr>
        </p:cxnSp>
      </p:grpSp>
      <p:sp>
        <p:nvSpPr>
          <p:cNvPr id="201" name="Google Shape;201;p27"/>
          <p:cNvSpPr/>
          <p:nvPr/>
        </p:nvSpPr>
        <p:spPr>
          <a:xfrm>
            <a:off x="3252925" y="3445712"/>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v</a:t>
            </a:r>
            <a:endParaRPr/>
          </a:p>
        </p:txBody>
      </p:sp>
      <p:sp>
        <p:nvSpPr>
          <p:cNvPr id="202" name="Google Shape;202;p27"/>
          <p:cNvSpPr/>
          <p:nvPr/>
        </p:nvSpPr>
        <p:spPr>
          <a:xfrm>
            <a:off x="2795725" y="3826712"/>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a:t>
            </a:r>
            <a:endParaRPr/>
          </a:p>
        </p:txBody>
      </p:sp>
      <p:sp>
        <p:nvSpPr>
          <p:cNvPr id="203" name="Google Shape;203;p27"/>
          <p:cNvSpPr/>
          <p:nvPr/>
        </p:nvSpPr>
        <p:spPr>
          <a:xfrm>
            <a:off x="3710125" y="3826712"/>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y</a:t>
            </a:r>
            <a:endParaRPr/>
          </a:p>
        </p:txBody>
      </p:sp>
      <p:sp>
        <p:nvSpPr>
          <p:cNvPr id="204" name="Google Shape;204;p27"/>
          <p:cNvSpPr/>
          <p:nvPr/>
        </p:nvSpPr>
        <p:spPr>
          <a:xfrm>
            <a:off x="2530600" y="4215712"/>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a:t>
            </a:r>
            <a:endParaRPr/>
          </a:p>
        </p:txBody>
      </p:sp>
      <p:sp>
        <p:nvSpPr>
          <p:cNvPr id="205" name="Google Shape;205;p27"/>
          <p:cNvSpPr/>
          <p:nvPr/>
        </p:nvSpPr>
        <p:spPr>
          <a:xfrm>
            <a:off x="3009143" y="4221630"/>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a:t>
            </a:r>
            <a:endParaRPr/>
          </a:p>
        </p:txBody>
      </p:sp>
      <p:sp>
        <p:nvSpPr>
          <p:cNvPr id="206" name="Google Shape;206;p27"/>
          <p:cNvSpPr/>
          <p:nvPr/>
        </p:nvSpPr>
        <p:spPr>
          <a:xfrm>
            <a:off x="3452425" y="4221630"/>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x</a:t>
            </a:r>
            <a:endParaRPr/>
          </a:p>
        </p:txBody>
      </p:sp>
      <p:sp>
        <p:nvSpPr>
          <p:cNvPr id="207" name="Google Shape;207;p27"/>
          <p:cNvSpPr/>
          <p:nvPr/>
        </p:nvSpPr>
        <p:spPr>
          <a:xfrm>
            <a:off x="3959389" y="4221630"/>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z</a:t>
            </a:r>
            <a:endParaRPr/>
          </a:p>
        </p:txBody>
      </p:sp>
      <p:cxnSp>
        <p:nvCxnSpPr>
          <p:cNvPr id="208" name="Google Shape;208;p27"/>
          <p:cNvCxnSpPr>
            <a:stCxn id="202" idx="0"/>
            <a:endCxn id="201" idx="2"/>
          </p:cNvCxnSpPr>
          <p:nvPr/>
        </p:nvCxnSpPr>
        <p:spPr>
          <a:xfrm flipH="1" rot="10800000">
            <a:off x="2962675" y="3710012"/>
            <a:ext cx="457200" cy="116700"/>
          </a:xfrm>
          <a:prstGeom prst="straightConnector1">
            <a:avLst/>
          </a:prstGeom>
          <a:noFill/>
          <a:ln cap="flat" cmpd="sng" w="19050">
            <a:solidFill>
              <a:srgbClr val="666666"/>
            </a:solidFill>
            <a:prstDash val="solid"/>
            <a:round/>
            <a:headEnd len="med" w="med" type="none"/>
            <a:tailEnd len="med" w="med" type="none"/>
          </a:ln>
        </p:spPr>
      </p:cxnSp>
      <p:cxnSp>
        <p:nvCxnSpPr>
          <p:cNvPr id="209" name="Google Shape;209;p27"/>
          <p:cNvCxnSpPr>
            <a:stCxn id="203" idx="0"/>
            <a:endCxn id="201" idx="2"/>
          </p:cNvCxnSpPr>
          <p:nvPr/>
        </p:nvCxnSpPr>
        <p:spPr>
          <a:xfrm rot="10800000">
            <a:off x="3419875" y="3710012"/>
            <a:ext cx="457200" cy="116700"/>
          </a:xfrm>
          <a:prstGeom prst="straightConnector1">
            <a:avLst/>
          </a:prstGeom>
          <a:noFill/>
          <a:ln cap="flat" cmpd="sng" w="19050">
            <a:solidFill>
              <a:srgbClr val="666666"/>
            </a:solidFill>
            <a:prstDash val="solid"/>
            <a:round/>
            <a:headEnd len="med" w="med" type="none"/>
            <a:tailEnd len="med" w="med" type="none"/>
          </a:ln>
        </p:spPr>
      </p:cxnSp>
      <p:cxnSp>
        <p:nvCxnSpPr>
          <p:cNvPr id="210" name="Google Shape;210;p27"/>
          <p:cNvCxnSpPr>
            <a:stCxn id="204" idx="0"/>
            <a:endCxn id="202" idx="2"/>
          </p:cNvCxnSpPr>
          <p:nvPr/>
        </p:nvCxnSpPr>
        <p:spPr>
          <a:xfrm flipH="1" rot="10800000">
            <a:off x="2697550" y="4090912"/>
            <a:ext cx="265200" cy="124800"/>
          </a:xfrm>
          <a:prstGeom prst="straightConnector1">
            <a:avLst/>
          </a:prstGeom>
          <a:noFill/>
          <a:ln cap="flat" cmpd="sng" w="19050">
            <a:solidFill>
              <a:srgbClr val="666666"/>
            </a:solidFill>
            <a:prstDash val="solid"/>
            <a:round/>
            <a:headEnd len="med" w="med" type="none"/>
            <a:tailEnd len="med" w="med" type="none"/>
          </a:ln>
        </p:spPr>
      </p:cxnSp>
      <p:cxnSp>
        <p:nvCxnSpPr>
          <p:cNvPr id="211" name="Google Shape;211;p27"/>
          <p:cNvCxnSpPr>
            <a:stCxn id="202" idx="2"/>
            <a:endCxn id="205" idx="0"/>
          </p:cNvCxnSpPr>
          <p:nvPr/>
        </p:nvCxnSpPr>
        <p:spPr>
          <a:xfrm>
            <a:off x="2962675" y="4091012"/>
            <a:ext cx="213300" cy="130500"/>
          </a:xfrm>
          <a:prstGeom prst="straightConnector1">
            <a:avLst/>
          </a:prstGeom>
          <a:noFill/>
          <a:ln cap="flat" cmpd="sng" w="19050">
            <a:solidFill>
              <a:srgbClr val="666666"/>
            </a:solidFill>
            <a:prstDash val="solid"/>
            <a:round/>
            <a:headEnd len="med" w="med" type="none"/>
            <a:tailEnd len="med" w="med" type="none"/>
          </a:ln>
        </p:spPr>
      </p:cxnSp>
      <p:cxnSp>
        <p:nvCxnSpPr>
          <p:cNvPr id="212" name="Google Shape;212;p27"/>
          <p:cNvCxnSpPr>
            <a:stCxn id="203" idx="2"/>
            <a:endCxn id="206" idx="0"/>
          </p:cNvCxnSpPr>
          <p:nvPr/>
        </p:nvCxnSpPr>
        <p:spPr>
          <a:xfrm flipH="1">
            <a:off x="3619375" y="4091012"/>
            <a:ext cx="257700" cy="130500"/>
          </a:xfrm>
          <a:prstGeom prst="straightConnector1">
            <a:avLst/>
          </a:prstGeom>
          <a:noFill/>
          <a:ln cap="flat" cmpd="sng" w="19050">
            <a:solidFill>
              <a:srgbClr val="666666"/>
            </a:solidFill>
            <a:prstDash val="solid"/>
            <a:round/>
            <a:headEnd len="med" w="med" type="none"/>
            <a:tailEnd len="med" w="med" type="none"/>
          </a:ln>
        </p:spPr>
      </p:cxnSp>
      <p:cxnSp>
        <p:nvCxnSpPr>
          <p:cNvPr id="213" name="Google Shape;213;p27"/>
          <p:cNvCxnSpPr>
            <a:stCxn id="203" idx="2"/>
            <a:endCxn id="207" idx="0"/>
          </p:cNvCxnSpPr>
          <p:nvPr/>
        </p:nvCxnSpPr>
        <p:spPr>
          <a:xfrm>
            <a:off x="3877075" y="4091012"/>
            <a:ext cx="249300" cy="130500"/>
          </a:xfrm>
          <a:prstGeom prst="straightConnector1">
            <a:avLst/>
          </a:prstGeom>
          <a:noFill/>
          <a:ln cap="flat" cmpd="sng" w="19050">
            <a:solidFill>
              <a:srgbClr val="666666"/>
            </a:solidFill>
            <a:prstDash val="solid"/>
            <a:round/>
            <a:headEnd len="med" w="med" type="none"/>
            <a:tailEnd len="med" w="med" type="none"/>
          </a:ln>
        </p:spPr>
      </p:cxnSp>
      <p:sp>
        <p:nvSpPr>
          <p:cNvPr id="214" name="Google Shape;214;p27"/>
          <p:cNvSpPr/>
          <p:nvPr/>
        </p:nvSpPr>
        <p:spPr>
          <a:xfrm>
            <a:off x="2276550" y="2960188"/>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k</a:t>
            </a:r>
            <a:endParaRPr/>
          </a:p>
        </p:txBody>
      </p:sp>
      <p:cxnSp>
        <p:nvCxnSpPr>
          <p:cNvPr id="215" name="Google Shape;215;p27"/>
          <p:cNvCxnSpPr>
            <a:stCxn id="214" idx="2"/>
            <a:endCxn id="188" idx="0"/>
          </p:cNvCxnSpPr>
          <p:nvPr/>
        </p:nvCxnSpPr>
        <p:spPr>
          <a:xfrm flipH="1">
            <a:off x="1483800" y="3224488"/>
            <a:ext cx="959700" cy="214500"/>
          </a:xfrm>
          <a:prstGeom prst="straightConnector1">
            <a:avLst/>
          </a:prstGeom>
          <a:noFill/>
          <a:ln cap="flat" cmpd="sng" w="19050">
            <a:solidFill>
              <a:srgbClr val="666666"/>
            </a:solidFill>
            <a:prstDash val="solid"/>
            <a:round/>
            <a:headEnd len="med" w="med" type="none"/>
            <a:tailEnd len="med" w="med" type="none"/>
          </a:ln>
        </p:spPr>
      </p:cxnSp>
      <p:cxnSp>
        <p:nvCxnSpPr>
          <p:cNvPr id="216" name="Google Shape;216;p27"/>
          <p:cNvCxnSpPr>
            <a:stCxn id="214" idx="2"/>
            <a:endCxn id="201" idx="0"/>
          </p:cNvCxnSpPr>
          <p:nvPr/>
        </p:nvCxnSpPr>
        <p:spPr>
          <a:xfrm>
            <a:off x="2443500" y="3224488"/>
            <a:ext cx="976500" cy="221100"/>
          </a:xfrm>
          <a:prstGeom prst="straightConnector1">
            <a:avLst/>
          </a:prstGeom>
          <a:noFill/>
          <a:ln cap="flat" cmpd="sng" w="19050">
            <a:solidFill>
              <a:srgbClr val="666666"/>
            </a:solidFill>
            <a:prstDash val="solid"/>
            <a:round/>
            <a:headEnd len="med" w="med" type="none"/>
            <a:tailEnd len="med" w="med" type="none"/>
          </a:ln>
        </p:spPr>
      </p:cxnSp>
      <p:sp>
        <p:nvSpPr>
          <p:cNvPr id="217" name="Google Shape;217;p27"/>
          <p:cNvSpPr/>
          <p:nvPr/>
        </p:nvSpPr>
        <p:spPr>
          <a:xfrm>
            <a:off x="7434225" y="3513599"/>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v</a:t>
            </a:r>
            <a:endParaRPr/>
          </a:p>
        </p:txBody>
      </p:sp>
      <p:sp>
        <p:nvSpPr>
          <p:cNvPr id="218" name="Google Shape;218;p27"/>
          <p:cNvSpPr/>
          <p:nvPr/>
        </p:nvSpPr>
        <p:spPr>
          <a:xfrm>
            <a:off x="7891425" y="3894599"/>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y</a:t>
            </a:r>
            <a:endParaRPr/>
          </a:p>
        </p:txBody>
      </p:sp>
      <p:sp>
        <p:nvSpPr>
          <p:cNvPr id="219" name="Google Shape;219;p27"/>
          <p:cNvSpPr/>
          <p:nvPr/>
        </p:nvSpPr>
        <p:spPr>
          <a:xfrm>
            <a:off x="8140689" y="4289517"/>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z</a:t>
            </a:r>
            <a:endParaRPr/>
          </a:p>
        </p:txBody>
      </p:sp>
      <p:cxnSp>
        <p:nvCxnSpPr>
          <p:cNvPr id="220" name="Google Shape;220;p27"/>
          <p:cNvCxnSpPr>
            <a:stCxn id="218" idx="0"/>
            <a:endCxn id="217" idx="2"/>
          </p:cNvCxnSpPr>
          <p:nvPr/>
        </p:nvCxnSpPr>
        <p:spPr>
          <a:xfrm rot="10800000">
            <a:off x="7601175" y="3777899"/>
            <a:ext cx="457200" cy="116700"/>
          </a:xfrm>
          <a:prstGeom prst="straightConnector1">
            <a:avLst/>
          </a:prstGeom>
          <a:noFill/>
          <a:ln cap="flat" cmpd="sng" w="19050">
            <a:solidFill>
              <a:srgbClr val="666666"/>
            </a:solidFill>
            <a:prstDash val="solid"/>
            <a:round/>
            <a:headEnd len="med" w="med" type="none"/>
            <a:tailEnd len="med" w="med" type="none"/>
          </a:ln>
        </p:spPr>
      </p:cxnSp>
      <p:cxnSp>
        <p:nvCxnSpPr>
          <p:cNvPr id="221" name="Google Shape;221;p27"/>
          <p:cNvCxnSpPr>
            <a:stCxn id="218" idx="2"/>
            <a:endCxn id="219" idx="0"/>
          </p:cNvCxnSpPr>
          <p:nvPr/>
        </p:nvCxnSpPr>
        <p:spPr>
          <a:xfrm>
            <a:off x="8058375" y="4158899"/>
            <a:ext cx="249300" cy="130500"/>
          </a:xfrm>
          <a:prstGeom prst="straightConnector1">
            <a:avLst/>
          </a:prstGeom>
          <a:noFill/>
          <a:ln cap="flat" cmpd="sng" w="19050">
            <a:solidFill>
              <a:srgbClr val="666666"/>
            </a:solidFill>
            <a:prstDash val="solid"/>
            <a:round/>
            <a:headEnd len="med" w="med" type="none"/>
            <a:tailEnd len="med" w="med" type="none"/>
          </a:ln>
        </p:spPr>
      </p:cxnSp>
      <p:cxnSp>
        <p:nvCxnSpPr>
          <p:cNvPr id="222" name="Google Shape;222;p27"/>
          <p:cNvCxnSpPr>
            <a:stCxn id="223" idx="2"/>
            <a:endCxn id="217" idx="0"/>
          </p:cNvCxnSpPr>
          <p:nvPr/>
        </p:nvCxnSpPr>
        <p:spPr>
          <a:xfrm>
            <a:off x="6624800" y="3292375"/>
            <a:ext cx="976500" cy="221100"/>
          </a:xfrm>
          <a:prstGeom prst="straightConnector1">
            <a:avLst/>
          </a:prstGeom>
          <a:noFill/>
          <a:ln cap="flat" cmpd="sng" w="19050">
            <a:solidFill>
              <a:srgbClr val="666666"/>
            </a:solidFill>
            <a:prstDash val="solid"/>
            <a:round/>
            <a:headEnd len="med" w="med" type="none"/>
            <a:tailEnd len="med" w="med" type="none"/>
          </a:ln>
        </p:spPr>
      </p:cxnSp>
      <p:sp>
        <p:nvSpPr>
          <p:cNvPr id="223" name="Google Shape;223;p27"/>
          <p:cNvSpPr/>
          <p:nvPr/>
        </p:nvSpPr>
        <p:spPr>
          <a:xfrm>
            <a:off x="6457850" y="3028075"/>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k</a:t>
            </a:r>
            <a:endParaRPr/>
          </a:p>
        </p:txBody>
      </p:sp>
      <p:cxnSp>
        <p:nvCxnSpPr>
          <p:cNvPr id="224" name="Google Shape;224;p27"/>
          <p:cNvCxnSpPr/>
          <p:nvPr/>
        </p:nvCxnSpPr>
        <p:spPr>
          <a:xfrm flipH="1">
            <a:off x="2830975" y="1826475"/>
            <a:ext cx="779400" cy="1173600"/>
          </a:xfrm>
          <a:prstGeom prst="straightConnector1">
            <a:avLst/>
          </a:prstGeom>
          <a:noFill/>
          <a:ln cap="flat" cmpd="sng" w="19050">
            <a:solidFill>
              <a:srgbClr val="666666"/>
            </a:solidFill>
            <a:prstDash val="solid"/>
            <a:round/>
            <a:headEnd len="med" w="med" type="none"/>
            <a:tailEnd len="med" w="med" type="triangle"/>
          </a:ln>
        </p:spPr>
      </p:cxnSp>
      <p:cxnSp>
        <p:nvCxnSpPr>
          <p:cNvPr id="225" name="Google Shape;225;p27"/>
          <p:cNvCxnSpPr/>
          <p:nvPr/>
        </p:nvCxnSpPr>
        <p:spPr>
          <a:xfrm>
            <a:off x="5701850" y="1902200"/>
            <a:ext cx="553500" cy="941700"/>
          </a:xfrm>
          <a:prstGeom prst="straightConnector1">
            <a:avLst/>
          </a:prstGeom>
          <a:noFill/>
          <a:ln cap="flat" cmpd="sng" w="19050">
            <a:solidFill>
              <a:srgbClr val="666666"/>
            </a:solidFill>
            <a:prstDash val="solid"/>
            <a:round/>
            <a:headEnd len="med" w="med" type="none"/>
            <a:tailEnd len="med" w="med" type="triangle"/>
          </a:ln>
        </p:spPr>
      </p:cxnSp>
      <p:sp>
        <p:nvSpPr>
          <p:cNvPr id="226" name="Google Shape;226;p27"/>
          <p:cNvSpPr txBox="1"/>
          <p:nvPr/>
        </p:nvSpPr>
        <p:spPr>
          <a:xfrm>
            <a:off x="40500" y="2893125"/>
            <a:ext cx="1007100" cy="3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H=3</a:t>
            </a:r>
            <a:endParaRPr/>
          </a:p>
        </p:txBody>
      </p:sp>
      <p:sp>
        <p:nvSpPr>
          <p:cNvPr id="227" name="Google Shape;227;p27"/>
          <p:cNvSpPr txBox="1"/>
          <p:nvPr/>
        </p:nvSpPr>
        <p:spPr>
          <a:xfrm>
            <a:off x="8474600" y="3184000"/>
            <a:ext cx="1007100" cy="3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H=3</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231" name="Shape 231"/>
        <p:cNvGrpSpPr/>
        <p:nvPr/>
      </p:nvGrpSpPr>
      <p:grpSpPr>
        <a:xfrm>
          <a:off x="0" y="0"/>
          <a:ext cx="0" cy="0"/>
          <a:chOff x="0" y="0"/>
          <a:chExt cx="0" cy="0"/>
        </a:xfrm>
      </p:grpSpPr>
      <p:sp>
        <p:nvSpPr>
          <p:cNvPr id="232" name="Google Shape;232;p2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Tree Height: http://yellkey.com</a:t>
            </a:r>
            <a:r>
              <a:rPr lang="en">
                <a:solidFill>
                  <a:srgbClr val="208920"/>
                </a:solidFill>
              </a:rPr>
              <a:t>/major</a:t>
            </a:r>
            <a:endParaRPr>
              <a:solidFill>
                <a:srgbClr val="208920"/>
              </a:solidFill>
            </a:endParaRPr>
          </a:p>
        </p:txBody>
      </p:sp>
      <p:sp>
        <p:nvSpPr>
          <p:cNvPr id="233" name="Google Shape;233;p28"/>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Height varies dramatically between “bushy” and “spindly” trees.</a:t>
            </a:r>
            <a:endParaRPr/>
          </a:p>
        </p:txBody>
      </p:sp>
      <p:grpSp>
        <p:nvGrpSpPr>
          <p:cNvPr id="234" name="Google Shape;234;p28"/>
          <p:cNvGrpSpPr/>
          <p:nvPr/>
        </p:nvGrpSpPr>
        <p:grpSpPr>
          <a:xfrm>
            <a:off x="594600" y="1838888"/>
            <a:ext cx="1762689" cy="1040218"/>
            <a:chOff x="5860100" y="3678825"/>
            <a:chExt cx="1762689" cy="1040218"/>
          </a:xfrm>
        </p:grpSpPr>
        <p:sp>
          <p:nvSpPr>
            <p:cNvPr id="235" name="Google Shape;235;p28"/>
            <p:cNvSpPr/>
            <p:nvPr/>
          </p:nvSpPr>
          <p:spPr>
            <a:xfrm>
              <a:off x="6582425" y="3678825"/>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e</a:t>
              </a:r>
              <a:endParaRPr/>
            </a:p>
          </p:txBody>
        </p:sp>
        <p:sp>
          <p:nvSpPr>
            <p:cNvPr id="236" name="Google Shape;236;p28"/>
            <p:cNvSpPr/>
            <p:nvPr/>
          </p:nvSpPr>
          <p:spPr>
            <a:xfrm>
              <a:off x="6125225" y="4059825"/>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a:t>
              </a:r>
              <a:endParaRPr/>
            </a:p>
          </p:txBody>
        </p:sp>
        <p:sp>
          <p:nvSpPr>
            <p:cNvPr id="237" name="Google Shape;237;p28"/>
            <p:cNvSpPr/>
            <p:nvPr/>
          </p:nvSpPr>
          <p:spPr>
            <a:xfrm>
              <a:off x="7039625" y="4059825"/>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g</a:t>
              </a:r>
              <a:endParaRPr/>
            </a:p>
          </p:txBody>
        </p:sp>
        <p:sp>
          <p:nvSpPr>
            <p:cNvPr id="238" name="Google Shape;238;p28"/>
            <p:cNvSpPr/>
            <p:nvPr/>
          </p:nvSpPr>
          <p:spPr>
            <a:xfrm>
              <a:off x="5860100" y="4448825"/>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a:t>
              </a:r>
              <a:endParaRPr/>
            </a:p>
          </p:txBody>
        </p:sp>
        <p:sp>
          <p:nvSpPr>
            <p:cNvPr id="239" name="Google Shape;239;p28"/>
            <p:cNvSpPr/>
            <p:nvPr/>
          </p:nvSpPr>
          <p:spPr>
            <a:xfrm>
              <a:off x="6338643" y="4454743"/>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t>
              </a:r>
              <a:endParaRPr/>
            </a:p>
          </p:txBody>
        </p:sp>
        <p:sp>
          <p:nvSpPr>
            <p:cNvPr id="240" name="Google Shape;240;p28"/>
            <p:cNvSpPr/>
            <p:nvPr/>
          </p:nvSpPr>
          <p:spPr>
            <a:xfrm>
              <a:off x="6781925" y="4454743"/>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f</a:t>
              </a:r>
              <a:endParaRPr/>
            </a:p>
          </p:txBody>
        </p:sp>
        <p:sp>
          <p:nvSpPr>
            <p:cNvPr id="241" name="Google Shape;241;p28"/>
            <p:cNvSpPr/>
            <p:nvPr/>
          </p:nvSpPr>
          <p:spPr>
            <a:xfrm>
              <a:off x="7288889" y="4454743"/>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j</a:t>
              </a:r>
              <a:endParaRPr/>
            </a:p>
          </p:txBody>
        </p:sp>
        <p:cxnSp>
          <p:nvCxnSpPr>
            <p:cNvPr id="242" name="Google Shape;242;p28"/>
            <p:cNvCxnSpPr>
              <a:stCxn id="236" idx="0"/>
              <a:endCxn id="235" idx="2"/>
            </p:cNvCxnSpPr>
            <p:nvPr/>
          </p:nvCxnSpPr>
          <p:spPr>
            <a:xfrm flipH="1" rot="10800000">
              <a:off x="6292175" y="3943125"/>
              <a:ext cx="457200" cy="116700"/>
            </a:xfrm>
            <a:prstGeom prst="straightConnector1">
              <a:avLst/>
            </a:prstGeom>
            <a:noFill/>
            <a:ln cap="flat" cmpd="sng" w="19050">
              <a:solidFill>
                <a:srgbClr val="666666"/>
              </a:solidFill>
              <a:prstDash val="solid"/>
              <a:round/>
              <a:headEnd len="med" w="med" type="none"/>
              <a:tailEnd len="med" w="med" type="none"/>
            </a:ln>
          </p:spPr>
        </p:cxnSp>
        <p:cxnSp>
          <p:nvCxnSpPr>
            <p:cNvPr id="243" name="Google Shape;243;p28"/>
            <p:cNvCxnSpPr>
              <a:stCxn id="237" idx="0"/>
              <a:endCxn id="235" idx="2"/>
            </p:cNvCxnSpPr>
            <p:nvPr/>
          </p:nvCxnSpPr>
          <p:spPr>
            <a:xfrm rot="10800000">
              <a:off x="6749375" y="3943125"/>
              <a:ext cx="457200" cy="116700"/>
            </a:xfrm>
            <a:prstGeom prst="straightConnector1">
              <a:avLst/>
            </a:prstGeom>
            <a:noFill/>
            <a:ln cap="flat" cmpd="sng" w="19050">
              <a:solidFill>
                <a:srgbClr val="666666"/>
              </a:solidFill>
              <a:prstDash val="solid"/>
              <a:round/>
              <a:headEnd len="med" w="med" type="none"/>
              <a:tailEnd len="med" w="med" type="none"/>
            </a:ln>
          </p:spPr>
        </p:cxnSp>
        <p:cxnSp>
          <p:nvCxnSpPr>
            <p:cNvPr id="244" name="Google Shape;244;p28"/>
            <p:cNvCxnSpPr>
              <a:stCxn id="238" idx="0"/>
              <a:endCxn id="236" idx="2"/>
            </p:cNvCxnSpPr>
            <p:nvPr/>
          </p:nvCxnSpPr>
          <p:spPr>
            <a:xfrm flipH="1" rot="10800000">
              <a:off x="6027050" y="4324025"/>
              <a:ext cx="265200" cy="124800"/>
            </a:xfrm>
            <a:prstGeom prst="straightConnector1">
              <a:avLst/>
            </a:prstGeom>
            <a:noFill/>
            <a:ln cap="flat" cmpd="sng" w="19050">
              <a:solidFill>
                <a:srgbClr val="666666"/>
              </a:solidFill>
              <a:prstDash val="solid"/>
              <a:round/>
              <a:headEnd len="med" w="med" type="none"/>
              <a:tailEnd len="med" w="med" type="none"/>
            </a:ln>
          </p:spPr>
        </p:cxnSp>
        <p:cxnSp>
          <p:nvCxnSpPr>
            <p:cNvPr id="245" name="Google Shape;245;p28"/>
            <p:cNvCxnSpPr>
              <a:stCxn id="236" idx="2"/>
              <a:endCxn id="239" idx="0"/>
            </p:cNvCxnSpPr>
            <p:nvPr/>
          </p:nvCxnSpPr>
          <p:spPr>
            <a:xfrm>
              <a:off x="6292175" y="4324125"/>
              <a:ext cx="213300" cy="130500"/>
            </a:xfrm>
            <a:prstGeom prst="straightConnector1">
              <a:avLst/>
            </a:prstGeom>
            <a:noFill/>
            <a:ln cap="flat" cmpd="sng" w="19050">
              <a:solidFill>
                <a:srgbClr val="666666"/>
              </a:solidFill>
              <a:prstDash val="solid"/>
              <a:round/>
              <a:headEnd len="med" w="med" type="none"/>
              <a:tailEnd len="med" w="med" type="none"/>
            </a:ln>
          </p:spPr>
        </p:cxnSp>
        <p:cxnSp>
          <p:nvCxnSpPr>
            <p:cNvPr id="246" name="Google Shape;246;p28"/>
            <p:cNvCxnSpPr>
              <a:stCxn id="237" idx="2"/>
              <a:endCxn id="240" idx="0"/>
            </p:cNvCxnSpPr>
            <p:nvPr/>
          </p:nvCxnSpPr>
          <p:spPr>
            <a:xfrm flipH="1">
              <a:off x="6948875" y="4324125"/>
              <a:ext cx="257700" cy="130500"/>
            </a:xfrm>
            <a:prstGeom prst="straightConnector1">
              <a:avLst/>
            </a:prstGeom>
            <a:noFill/>
            <a:ln cap="flat" cmpd="sng" w="19050">
              <a:solidFill>
                <a:srgbClr val="666666"/>
              </a:solidFill>
              <a:prstDash val="solid"/>
              <a:round/>
              <a:headEnd len="med" w="med" type="none"/>
              <a:tailEnd len="med" w="med" type="none"/>
            </a:ln>
          </p:spPr>
        </p:cxnSp>
        <p:cxnSp>
          <p:nvCxnSpPr>
            <p:cNvPr id="247" name="Google Shape;247;p28"/>
            <p:cNvCxnSpPr>
              <a:stCxn id="237" idx="2"/>
              <a:endCxn id="241" idx="0"/>
            </p:cNvCxnSpPr>
            <p:nvPr/>
          </p:nvCxnSpPr>
          <p:spPr>
            <a:xfrm>
              <a:off x="7206575" y="4324125"/>
              <a:ext cx="249300" cy="130500"/>
            </a:xfrm>
            <a:prstGeom prst="straightConnector1">
              <a:avLst/>
            </a:prstGeom>
            <a:noFill/>
            <a:ln cap="flat" cmpd="sng" w="19050">
              <a:solidFill>
                <a:srgbClr val="666666"/>
              </a:solidFill>
              <a:prstDash val="solid"/>
              <a:round/>
              <a:headEnd len="med" w="med" type="none"/>
              <a:tailEnd len="med" w="med" type="none"/>
            </a:ln>
          </p:spPr>
        </p:cxnSp>
      </p:grpSp>
      <p:sp>
        <p:nvSpPr>
          <p:cNvPr id="248" name="Google Shape;248;p28"/>
          <p:cNvSpPr/>
          <p:nvPr/>
        </p:nvSpPr>
        <p:spPr>
          <a:xfrm>
            <a:off x="3252925" y="1845512"/>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v</a:t>
            </a:r>
            <a:endParaRPr/>
          </a:p>
        </p:txBody>
      </p:sp>
      <p:sp>
        <p:nvSpPr>
          <p:cNvPr id="249" name="Google Shape;249;p28"/>
          <p:cNvSpPr/>
          <p:nvPr/>
        </p:nvSpPr>
        <p:spPr>
          <a:xfrm>
            <a:off x="2795725" y="2226512"/>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a:t>
            </a:r>
            <a:endParaRPr/>
          </a:p>
        </p:txBody>
      </p:sp>
      <p:sp>
        <p:nvSpPr>
          <p:cNvPr id="250" name="Google Shape;250;p28"/>
          <p:cNvSpPr/>
          <p:nvPr/>
        </p:nvSpPr>
        <p:spPr>
          <a:xfrm>
            <a:off x="3710125" y="2226512"/>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y</a:t>
            </a:r>
            <a:endParaRPr/>
          </a:p>
        </p:txBody>
      </p:sp>
      <p:sp>
        <p:nvSpPr>
          <p:cNvPr id="251" name="Google Shape;251;p28"/>
          <p:cNvSpPr/>
          <p:nvPr/>
        </p:nvSpPr>
        <p:spPr>
          <a:xfrm>
            <a:off x="2530600" y="2615512"/>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a:t>
            </a:r>
            <a:endParaRPr/>
          </a:p>
        </p:txBody>
      </p:sp>
      <p:sp>
        <p:nvSpPr>
          <p:cNvPr id="252" name="Google Shape;252;p28"/>
          <p:cNvSpPr/>
          <p:nvPr/>
        </p:nvSpPr>
        <p:spPr>
          <a:xfrm>
            <a:off x="3009143" y="2621430"/>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a:t>
            </a:r>
            <a:endParaRPr/>
          </a:p>
        </p:txBody>
      </p:sp>
      <p:sp>
        <p:nvSpPr>
          <p:cNvPr id="253" name="Google Shape;253;p28"/>
          <p:cNvSpPr/>
          <p:nvPr/>
        </p:nvSpPr>
        <p:spPr>
          <a:xfrm>
            <a:off x="3452425" y="2621430"/>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x</a:t>
            </a:r>
            <a:endParaRPr/>
          </a:p>
        </p:txBody>
      </p:sp>
      <p:sp>
        <p:nvSpPr>
          <p:cNvPr id="254" name="Google Shape;254;p28"/>
          <p:cNvSpPr/>
          <p:nvPr/>
        </p:nvSpPr>
        <p:spPr>
          <a:xfrm>
            <a:off x="3959389" y="2621430"/>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z</a:t>
            </a:r>
            <a:endParaRPr/>
          </a:p>
        </p:txBody>
      </p:sp>
      <p:cxnSp>
        <p:nvCxnSpPr>
          <p:cNvPr id="255" name="Google Shape;255;p28"/>
          <p:cNvCxnSpPr>
            <a:stCxn id="249" idx="0"/>
            <a:endCxn id="248" idx="2"/>
          </p:cNvCxnSpPr>
          <p:nvPr/>
        </p:nvCxnSpPr>
        <p:spPr>
          <a:xfrm flipH="1" rot="10800000">
            <a:off x="2962675" y="2109812"/>
            <a:ext cx="457200" cy="116700"/>
          </a:xfrm>
          <a:prstGeom prst="straightConnector1">
            <a:avLst/>
          </a:prstGeom>
          <a:noFill/>
          <a:ln cap="flat" cmpd="sng" w="19050">
            <a:solidFill>
              <a:srgbClr val="666666"/>
            </a:solidFill>
            <a:prstDash val="solid"/>
            <a:round/>
            <a:headEnd len="med" w="med" type="none"/>
            <a:tailEnd len="med" w="med" type="none"/>
          </a:ln>
        </p:spPr>
      </p:cxnSp>
      <p:cxnSp>
        <p:nvCxnSpPr>
          <p:cNvPr id="256" name="Google Shape;256;p28"/>
          <p:cNvCxnSpPr>
            <a:stCxn id="250" idx="0"/>
            <a:endCxn id="248" idx="2"/>
          </p:cNvCxnSpPr>
          <p:nvPr/>
        </p:nvCxnSpPr>
        <p:spPr>
          <a:xfrm rot="10800000">
            <a:off x="3419875" y="2109812"/>
            <a:ext cx="457200" cy="116700"/>
          </a:xfrm>
          <a:prstGeom prst="straightConnector1">
            <a:avLst/>
          </a:prstGeom>
          <a:noFill/>
          <a:ln cap="flat" cmpd="sng" w="19050">
            <a:solidFill>
              <a:srgbClr val="666666"/>
            </a:solidFill>
            <a:prstDash val="solid"/>
            <a:round/>
            <a:headEnd len="med" w="med" type="none"/>
            <a:tailEnd len="med" w="med" type="none"/>
          </a:ln>
        </p:spPr>
      </p:cxnSp>
      <p:cxnSp>
        <p:nvCxnSpPr>
          <p:cNvPr id="257" name="Google Shape;257;p28"/>
          <p:cNvCxnSpPr>
            <a:stCxn id="251" idx="0"/>
            <a:endCxn id="249" idx="2"/>
          </p:cNvCxnSpPr>
          <p:nvPr/>
        </p:nvCxnSpPr>
        <p:spPr>
          <a:xfrm flipH="1" rot="10800000">
            <a:off x="2697550" y="2490712"/>
            <a:ext cx="265200" cy="124800"/>
          </a:xfrm>
          <a:prstGeom prst="straightConnector1">
            <a:avLst/>
          </a:prstGeom>
          <a:noFill/>
          <a:ln cap="flat" cmpd="sng" w="19050">
            <a:solidFill>
              <a:srgbClr val="666666"/>
            </a:solidFill>
            <a:prstDash val="solid"/>
            <a:round/>
            <a:headEnd len="med" w="med" type="none"/>
            <a:tailEnd len="med" w="med" type="none"/>
          </a:ln>
        </p:spPr>
      </p:cxnSp>
      <p:cxnSp>
        <p:nvCxnSpPr>
          <p:cNvPr id="258" name="Google Shape;258;p28"/>
          <p:cNvCxnSpPr>
            <a:stCxn id="249" idx="2"/>
            <a:endCxn id="252" idx="0"/>
          </p:cNvCxnSpPr>
          <p:nvPr/>
        </p:nvCxnSpPr>
        <p:spPr>
          <a:xfrm>
            <a:off x="2962675" y="2490812"/>
            <a:ext cx="213300" cy="130500"/>
          </a:xfrm>
          <a:prstGeom prst="straightConnector1">
            <a:avLst/>
          </a:prstGeom>
          <a:noFill/>
          <a:ln cap="flat" cmpd="sng" w="19050">
            <a:solidFill>
              <a:srgbClr val="666666"/>
            </a:solidFill>
            <a:prstDash val="solid"/>
            <a:round/>
            <a:headEnd len="med" w="med" type="none"/>
            <a:tailEnd len="med" w="med" type="none"/>
          </a:ln>
        </p:spPr>
      </p:cxnSp>
      <p:cxnSp>
        <p:nvCxnSpPr>
          <p:cNvPr id="259" name="Google Shape;259;p28"/>
          <p:cNvCxnSpPr>
            <a:stCxn id="250" idx="2"/>
            <a:endCxn id="253" idx="0"/>
          </p:cNvCxnSpPr>
          <p:nvPr/>
        </p:nvCxnSpPr>
        <p:spPr>
          <a:xfrm flipH="1">
            <a:off x="3619375" y="2490812"/>
            <a:ext cx="257700" cy="130500"/>
          </a:xfrm>
          <a:prstGeom prst="straightConnector1">
            <a:avLst/>
          </a:prstGeom>
          <a:noFill/>
          <a:ln cap="flat" cmpd="sng" w="19050">
            <a:solidFill>
              <a:srgbClr val="666666"/>
            </a:solidFill>
            <a:prstDash val="solid"/>
            <a:round/>
            <a:headEnd len="med" w="med" type="none"/>
            <a:tailEnd len="med" w="med" type="none"/>
          </a:ln>
        </p:spPr>
      </p:cxnSp>
      <p:cxnSp>
        <p:nvCxnSpPr>
          <p:cNvPr id="260" name="Google Shape;260;p28"/>
          <p:cNvCxnSpPr>
            <a:stCxn id="250" idx="2"/>
            <a:endCxn id="254" idx="0"/>
          </p:cNvCxnSpPr>
          <p:nvPr/>
        </p:nvCxnSpPr>
        <p:spPr>
          <a:xfrm>
            <a:off x="3877075" y="2490812"/>
            <a:ext cx="249300" cy="130500"/>
          </a:xfrm>
          <a:prstGeom prst="straightConnector1">
            <a:avLst/>
          </a:prstGeom>
          <a:noFill/>
          <a:ln cap="flat" cmpd="sng" w="19050">
            <a:solidFill>
              <a:srgbClr val="666666"/>
            </a:solidFill>
            <a:prstDash val="solid"/>
            <a:round/>
            <a:headEnd len="med" w="med" type="none"/>
            <a:tailEnd len="med" w="med" type="none"/>
          </a:ln>
        </p:spPr>
      </p:cxnSp>
      <p:sp>
        <p:nvSpPr>
          <p:cNvPr id="261" name="Google Shape;261;p28"/>
          <p:cNvSpPr/>
          <p:nvPr/>
        </p:nvSpPr>
        <p:spPr>
          <a:xfrm>
            <a:off x="2276550" y="1359988"/>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k</a:t>
            </a:r>
            <a:endParaRPr/>
          </a:p>
        </p:txBody>
      </p:sp>
      <p:cxnSp>
        <p:nvCxnSpPr>
          <p:cNvPr id="262" name="Google Shape;262;p28"/>
          <p:cNvCxnSpPr>
            <a:stCxn id="261" idx="2"/>
            <a:endCxn id="235" idx="0"/>
          </p:cNvCxnSpPr>
          <p:nvPr/>
        </p:nvCxnSpPr>
        <p:spPr>
          <a:xfrm flipH="1">
            <a:off x="1483800" y="1624288"/>
            <a:ext cx="959700" cy="214500"/>
          </a:xfrm>
          <a:prstGeom prst="straightConnector1">
            <a:avLst/>
          </a:prstGeom>
          <a:noFill/>
          <a:ln cap="flat" cmpd="sng" w="19050">
            <a:solidFill>
              <a:srgbClr val="666666"/>
            </a:solidFill>
            <a:prstDash val="solid"/>
            <a:round/>
            <a:headEnd len="med" w="med" type="none"/>
            <a:tailEnd len="med" w="med" type="none"/>
          </a:ln>
        </p:spPr>
      </p:cxnSp>
      <p:cxnSp>
        <p:nvCxnSpPr>
          <p:cNvPr id="263" name="Google Shape;263;p28"/>
          <p:cNvCxnSpPr>
            <a:stCxn id="261" idx="2"/>
            <a:endCxn id="248" idx="0"/>
          </p:cNvCxnSpPr>
          <p:nvPr/>
        </p:nvCxnSpPr>
        <p:spPr>
          <a:xfrm>
            <a:off x="2443500" y="1624288"/>
            <a:ext cx="976500" cy="221100"/>
          </a:xfrm>
          <a:prstGeom prst="straightConnector1">
            <a:avLst/>
          </a:prstGeom>
          <a:noFill/>
          <a:ln cap="flat" cmpd="sng" w="19050">
            <a:solidFill>
              <a:srgbClr val="666666"/>
            </a:solidFill>
            <a:prstDash val="solid"/>
            <a:round/>
            <a:headEnd len="med" w="med" type="none"/>
            <a:tailEnd len="med" w="med" type="none"/>
          </a:ln>
        </p:spPr>
      </p:cxnSp>
      <p:sp>
        <p:nvSpPr>
          <p:cNvPr id="264" name="Google Shape;264;p28"/>
          <p:cNvSpPr/>
          <p:nvPr/>
        </p:nvSpPr>
        <p:spPr>
          <a:xfrm>
            <a:off x="7434225" y="1913399"/>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v</a:t>
            </a:r>
            <a:endParaRPr/>
          </a:p>
        </p:txBody>
      </p:sp>
      <p:sp>
        <p:nvSpPr>
          <p:cNvPr id="265" name="Google Shape;265;p28"/>
          <p:cNvSpPr/>
          <p:nvPr/>
        </p:nvSpPr>
        <p:spPr>
          <a:xfrm>
            <a:off x="7891425" y="2294399"/>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y</a:t>
            </a:r>
            <a:endParaRPr/>
          </a:p>
        </p:txBody>
      </p:sp>
      <p:sp>
        <p:nvSpPr>
          <p:cNvPr id="266" name="Google Shape;266;p28"/>
          <p:cNvSpPr/>
          <p:nvPr/>
        </p:nvSpPr>
        <p:spPr>
          <a:xfrm>
            <a:off x="8140689" y="2689317"/>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z</a:t>
            </a:r>
            <a:endParaRPr/>
          </a:p>
        </p:txBody>
      </p:sp>
      <p:cxnSp>
        <p:nvCxnSpPr>
          <p:cNvPr id="267" name="Google Shape;267;p28"/>
          <p:cNvCxnSpPr>
            <a:stCxn id="265" idx="0"/>
            <a:endCxn id="264" idx="2"/>
          </p:cNvCxnSpPr>
          <p:nvPr/>
        </p:nvCxnSpPr>
        <p:spPr>
          <a:xfrm rot="10800000">
            <a:off x="7601175" y="2177699"/>
            <a:ext cx="457200" cy="116700"/>
          </a:xfrm>
          <a:prstGeom prst="straightConnector1">
            <a:avLst/>
          </a:prstGeom>
          <a:noFill/>
          <a:ln cap="flat" cmpd="sng" w="19050">
            <a:solidFill>
              <a:srgbClr val="666666"/>
            </a:solidFill>
            <a:prstDash val="solid"/>
            <a:round/>
            <a:headEnd len="med" w="med" type="none"/>
            <a:tailEnd len="med" w="med" type="none"/>
          </a:ln>
        </p:spPr>
      </p:cxnSp>
      <p:cxnSp>
        <p:nvCxnSpPr>
          <p:cNvPr id="268" name="Google Shape;268;p28"/>
          <p:cNvCxnSpPr>
            <a:stCxn id="265" idx="2"/>
            <a:endCxn id="266" idx="0"/>
          </p:cNvCxnSpPr>
          <p:nvPr/>
        </p:nvCxnSpPr>
        <p:spPr>
          <a:xfrm>
            <a:off x="8058375" y="2558699"/>
            <a:ext cx="249300" cy="130500"/>
          </a:xfrm>
          <a:prstGeom prst="straightConnector1">
            <a:avLst/>
          </a:prstGeom>
          <a:noFill/>
          <a:ln cap="flat" cmpd="sng" w="19050">
            <a:solidFill>
              <a:srgbClr val="666666"/>
            </a:solidFill>
            <a:prstDash val="solid"/>
            <a:round/>
            <a:headEnd len="med" w="med" type="none"/>
            <a:tailEnd len="med" w="med" type="none"/>
          </a:ln>
        </p:spPr>
      </p:cxnSp>
      <p:cxnSp>
        <p:nvCxnSpPr>
          <p:cNvPr id="269" name="Google Shape;269;p28"/>
          <p:cNvCxnSpPr>
            <a:stCxn id="270" idx="2"/>
            <a:endCxn id="264" idx="0"/>
          </p:cNvCxnSpPr>
          <p:nvPr/>
        </p:nvCxnSpPr>
        <p:spPr>
          <a:xfrm>
            <a:off x="6624800" y="1692175"/>
            <a:ext cx="976500" cy="221100"/>
          </a:xfrm>
          <a:prstGeom prst="straightConnector1">
            <a:avLst/>
          </a:prstGeom>
          <a:noFill/>
          <a:ln cap="flat" cmpd="sng" w="19050">
            <a:solidFill>
              <a:srgbClr val="666666"/>
            </a:solidFill>
            <a:prstDash val="solid"/>
            <a:round/>
            <a:headEnd len="med" w="med" type="none"/>
            <a:tailEnd len="med" w="med" type="none"/>
          </a:ln>
        </p:spPr>
      </p:cxnSp>
      <p:sp>
        <p:nvSpPr>
          <p:cNvPr id="270" name="Google Shape;270;p28"/>
          <p:cNvSpPr/>
          <p:nvPr/>
        </p:nvSpPr>
        <p:spPr>
          <a:xfrm>
            <a:off x="6457850" y="1427875"/>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k</a:t>
            </a:r>
            <a:endParaRPr/>
          </a:p>
        </p:txBody>
      </p:sp>
      <p:cxnSp>
        <p:nvCxnSpPr>
          <p:cNvPr id="271" name="Google Shape;271;p28"/>
          <p:cNvCxnSpPr/>
          <p:nvPr/>
        </p:nvCxnSpPr>
        <p:spPr>
          <a:xfrm flipH="1">
            <a:off x="2831075" y="1119950"/>
            <a:ext cx="1358400" cy="279900"/>
          </a:xfrm>
          <a:prstGeom prst="straightConnector1">
            <a:avLst/>
          </a:prstGeom>
          <a:noFill/>
          <a:ln cap="flat" cmpd="sng" w="19050">
            <a:solidFill>
              <a:srgbClr val="666666"/>
            </a:solidFill>
            <a:prstDash val="solid"/>
            <a:round/>
            <a:headEnd len="med" w="med" type="none"/>
            <a:tailEnd len="med" w="med" type="triangle"/>
          </a:ln>
        </p:spPr>
      </p:cxnSp>
      <p:cxnSp>
        <p:nvCxnSpPr>
          <p:cNvPr id="272" name="Google Shape;272;p28"/>
          <p:cNvCxnSpPr/>
          <p:nvPr/>
        </p:nvCxnSpPr>
        <p:spPr>
          <a:xfrm>
            <a:off x="5865325" y="1154675"/>
            <a:ext cx="355800" cy="189600"/>
          </a:xfrm>
          <a:prstGeom prst="straightConnector1">
            <a:avLst/>
          </a:prstGeom>
          <a:noFill/>
          <a:ln cap="flat" cmpd="sng" w="19050">
            <a:solidFill>
              <a:srgbClr val="666666"/>
            </a:solidFill>
            <a:prstDash val="solid"/>
            <a:round/>
            <a:headEnd len="med" w="med" type="none"/>
            <a:tailEnd len="med" w="med" type="triangle"/>
          </a:ln>
        </p:spPr>
      </p:cxnSp>
      <p:sp>
        <p:nvSpPr>
          <p:cNvPr id="273" name="Google Shape;273;p28"/>
          <p:cNvSpPr txBox="1"/>
          <p:nvPr/>
        </p:nvSpPr>
        <p:spPr>
          <a:xfrm>
            <a:off x="40500" y="1292925"/>
            <a:ext cx="1007100" cy="3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H=3</a:t>
            </a:r>
            <a:endParaRPr/>
          </a:p>
        </p:txBody>
      </p:sp>
      <p:sp>
        <p:nvSpPr>
          <p:cNvPr id="274" name="Google Shape;274;p28"/>
          <p:cNvSpPr txBox="1"/>
          <p:nvPr/>
        </p:nvSpPr>
        <p:spPr>
          <a:xfrm>
            <a:off x="8474600" y="1583800"/>
            <a:ext cx="1007100" cy="3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H=3</a:t>
            </a:r>
            <a:endParaRPr/>
          </a:p>
        </p:txBody>
      </p:sp>
      <p:sp>
        <p:nvSpPr>
          <p:cNvPr id="275" name="Google Shape;275;p28"/>
          <p:cNvSpPr txBox="1"/>
          <p:nvPr>
            <p:ph idx="1" type="body"/>
          </p:nvPr>
        </p:nvSpPr>
        <p:spPr>
          <a:xfrm>
            <a:off x="243000" y="2885850"/>
            <a:ext cx="8443800" cy="67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Let H(N) be the height of a tree with N nodes. Give H(N) in Big-Theta notation for “bushy” and “spindly” trees, respectively:</a:t>
            </a:r>
            <a:endParaRPr/>
          </a:p>
          <a:p>
            <a:pPr indent="-342900" lvl="0" marL="457200" rtl="0" algn="l">
              <a:spcBef>
                <a:spcPts val="600"/>
              </a:spcBef>
              <a:spcAft>
                <a:spcPts val="0"/>
              </a:spcAft>
              <a:buSzPts val="1800"/>
              <a:buAutoNum type="alphaUcPeriod"/>
            </a:pPr>
            <a:r>
              <a:rPr lang="en"/>
              <a:t>Θ(log(N)), 	Θ(log(N))</a:t>
            </a:r>
            <a:endParaRPr/>
          </a:p>
          <a:p>
            <a:pPr indent="-342900" lvl="0" marL="457200" rtl="0" algn="l">
              <a:spcBef>
                <a:spcPts val="0"/>
              </a:spcBef>
              <a:spcAft>
                <a:spcPts val="0"/>
              </a:spcAft>
              <a:buSzPts val="1800"/>
              <a:buAutoNum type="alphaUcPeriod"/>
            </a:pPr>
            <a:r>
              <a:rPr lang="en"/>
              <a:t>Θ(log(N)), 	Θ(N)</a:t>
            </a:r>
            <a:endParaRPr/>
          </a:p>
          <a:p>
            <a:pPr indent="-342900" lvl="0" marL="457200" rtl="0" algn="l">
              <a:spcBef>
                <a:spcPts val="0"/>
              </a:spcBef>
              <a:spcAft>
                <a:spcPts val="0"/>
              </a:spcAft>
              <a:buSzPts val="1800"/>
              <a:buAutoNum type="alphaUcPeriod"/>
            </a:pPr>
            <a:r>
              <a:rPr lang="en"/>
              <a:t>Θ(N), 		Θ(log(N))</a:t>
            </a:r>
            <a:endParaRPr/>
          </a:p>
          <a:p>
            <a:pPr indent="-342900" lvl="0" marL="457200" rtl="0" algn="l">
              <a:spcBef>
                <a:spcPts val="0"/>
              </a:spcBef>
              <a:spcAft>
                <a:spcPts val="0"/>
              </a:spcAft>
              <a:buSzPts val="1800"/>
              <a:buAutoNum type="alphaUcPeriod"/>
            </a:pPr>
            <a:r>
              <a:rPr lang="en"/>
              <a:t>Θ(N), 		Θ(N)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Tree Height</a:t>
            </a:r>
            <a:endParaRPr/>
          </a:p>
        </p:txBody>
      </p:sp>
      <p:sp>
        <p:nvSpPr>
          <p:cNvPr id="281" name="Google Shape;281;p29"/>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Height varies dramatically between “bushy” and “spindly” trees.</a:t>
            </a:r>
            <a:endParaRPr/>
          </a:p>
        </p:txBody>
      </p:sp>
      <p:grpSp>
        <p:nvGrpSpPr>
          <p:cNvPr id="282" name="Google Shape;282;p29"/>
          <p:cNvGrpSpPr/>
          <p:nvPr/>
        </p:nvGrpSpPr>
        <p:grpSpPr>
          <a:xfrm>
            <a:off x="594600" y="1838888"/>
            <a:ext cx="1762689" cy="1040218"/>
            <a:chOff x="5860100" y="3678825"/>
            <a:chExt cx="1762689" cy="1040218"/>
          </a:xfrm>
        </p:grpSpPr>
        <p:sp>
          <p:nvSpPr>
            <p:cNvPr id="283" name="Google Shape;283;p29"/>
            <p:cNvSpPr/>
            <p:nvPr/>
          </p:nvSpPr>
          <p:spPr>
            <a:xfrm>
              <a:off x="6582425" y="3678825"/>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e</a:t>
              </a:r>
              <a:endParaRPr/>
            </a:p>
          </p:txBody>
        </p:sp>
        <p:sp>
          <p:nvSpPr>
            <p:cNvPr id="284" name="Google Shape;284;p29"/>
            <p:cNvSpPr/>
            <p:nvPr/>
          </p:nvSpPr>
          <p:spPr>
            <a:xfrm>
              <a:off x="6125225" y="4059825"/>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a:t>
              </a:r>
              <a:endParaRPr/>
            </a:p>
          </p:txBody>
        </p:sp>
        <p:sp>
          <p:nvSpPr>
            <p:cNvPr id="285" name="Google Shape;285;p29"/>
            <p:cNvSpPr/>
            <p:nvPr/>
          </p:nvSpPr>
          <p:spPr>
            <a:xfrm>
              <a:off x="7039625" y="4059825"/>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g</a:t>
              </a:r>
              <a:endParaRPr/>
            </a:p>
          </p:txBody>
        </p:sp>
        <p:sp>
          <p:nvSpPr>
            <p:cNvPr id="286" name="Google Shape;286;p29"/>
            <p:cNvSpPr/>
            <p:nvPr/>
          </p:nvSpPr>
          <p:spPr>
            <a:xfrm>
              <a:off x="5860100" y="4448825"/>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a:t>
              </a:r>
              <a:endParaRPr/>
            </a:p>
          </p:txBody>
        </p:sp>
        <p:sp>
          <p:nvSpPr>
            <p:cNvPr id="287" name="Google Shape;287;p29"/>
            <p:cNvSpPr/>
            <p:nvPr/>
          </p:nvSpPr>
          <p:spPr>
            <a:xfrm>
              <a:off x="6338643" y="4454743"/>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t>
              </a:r>
              <a:endParaRPr/>
            </a:p>
          </p:txBody>
        </p:sp>
        <p:sp>
          <p:nvSpPr>
            <p:cNvPr id="288" name="Google Shape;288;p29"/>
            <p:cNvSpPr/>
            <p:nvPr/>
          </p:nvSpPr>
          <p:spPr>
            <a:xfrm>
              <a:off x="6781925" y="4454743"/>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f</a:t>
              </a:r>
              <a:endParaRPr/>
            </a:p>
          </p:txBody>
        </p:sp>
        <p:sp>
          <p:nvSpPr>
            <p:cNvPr id="289" name="Google Shape;289;p29"/>
            <p:cNvSpPr/>
            <p:nvPr/>
          </p:nvSpPr>
          <p:spPr>
            <a:xfrm>
              <a:off x="7288889" y="4454743"/>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j</a:t>
              </a:r>
              <a:endParaRPr/>
            </a:p>
          </p:txBody>
        </p:sp>
        <p:cxnSp>
          <p:nvCxnSpPr>
            <p:cNvPr id="290" name="Google Shape;290;p29"/>
            <p:cNvCxnSpPr>
              <a:stCxn id="284" idx="0"/>
              <a:endCxn id="283" idx="2"/>
            </p:cNvCxnSpPr>
            <p:nvPr/>
          </p:nvCxnSpPr>
          <p:spPr>
            <a:xfrm flipH="1" rot="10800000">
              <a:off x="6292175" y="3943125"/>
              <a:ext cx="457200" cy="116700"/>
            </a:xfrm>
            <a:prstGeom prst="straightConnector1">
              <a:avLst/>
            </a:prstGeom>
            <a:noFill/>
            <a:ln cap="flat" cmpd="sng" w="19050">
              <a:solidFill>
                <a:srgbClr val="666666"/>
              </a:solidFill>
              <a:prstDash val="solid"/>
              <a:round/>
              <a:headEnd len="med" w="med" type="none"/>
              <a:tailEnd len="med" w="med" type="none"/>
            </a:ln>
          </p:spPr>
        </p:cxnSp>
        <p:cxnSp>
          <p:nvCxnSpPr>
            <p:cNvPr id="291" name="Google Shape;291;p29"/>
            <p:cNvCxnSpPr>
              <a:stCxn id="285" idx="0"/>
              <a:endCxn id="283" idx="2"/>
            </p:cNvCxnSpPr>
            <p:nvPr/>
          </p:nvCxnSpPr>
          <p:spPr>
            <a:xfrm rot="10800000">
              <a:off x="6749375" y="3943125"/>
              <a:ext cx="457200" cy="116700"/>
            </a:xfrm>
            <a:prstGeom prst="straightConnector1">
              <a:avLst/>
            </a:prstGeom>
            <a:noFill/>
            <a:ln cap="flat" cmpd="sng" w="19050">
              <a:solidFill>
                <a:srgbClr val="666666"/>
              </a:solidFill>
              <a:prstDash val="solid"/>
              <a:round/>
              <a:headEnd len="med" w="med" type="none"/>
              <a:tailEnd len="med" w="med" type="none"/>
            </a:ln>
          </p:spPr>
        </p:cxnSp>
        <p:cxnSp>
          <p:nvCxnSpPr>
            <p:cNvPr id="292" name="Google Shape;292;p29"/>
            <p:cNvCxnSpPr>
              <a:stCxn id="286" idx="0"/>
              <a:endCxn id="284" idx="2"/>
            </p:cNvCxnSpPr>
            <p:nvPr/>
          </p:nvCxnSpPr>
          <p:spPr>
            <a:xfrm flipH="1" rot="10800000">
              <a:off x="6027050" y="4324025"/>
              <a:ext cx="265200" cy="124800"/>
            </a:xfrm>
            <a:prstGeom prst="straightConnector1">
              <a:avLst/>
            </a:prstGeom>
            <a:noFill/>
            <a:ln cap="flat" cmpd="sng" w="19050">
              <a:solidFill>
                <a:srgbClr val="666666"/>
              </a:solidFill>
              <a:prstDash val="solid"/>
              <a:round/>
              <a:headEnd len="med" w="med" type="none"/>
              <a:tailEnd len="med" w="med" type="none"/>
            </a:ln>
          </p:spPr>
        </p:cxnSp>
        <p:cxnSp>
          <p:nvCxnSpPr>
            <p:cNvPr id="293" name="Google Shape;293;p29"/>
            <p:cNvCxnSpPr>
              <a:stCxn id="284" idx="2"/>
              <a:endCxn id="287" idx="0"/>
            </p:cNvCxnSpPr>
            <p:nvPr/>
          </p:nvCxnSpPr>
          <p:spPr>
            <a:xfrm>
              <a:off x="6292175" y="4324125"/>
              <a:ext cx="213300" cy="130500"/>
            </a:xfrm>
            <a:prstGeom prst="straightConnector1">
              <a:avLst/>
            </a:prstGeom>
            <a:noFill/>
            <a:ln cap="flat" cmpd="sng" w="19050">
              <a:solidFill>
                <a:srgbClr val="666666"/>
              </a:solidFill>
              <a:prstDash val="solid"/>
              <a:round/>
              <a:headEnd len="med" w="med" type="none"/>
              <a:tailEnd len="med" w="med" type="none"/>
            </a:ln>
          </p:spPr>
        </p:cxnSp>
        <p:cxnSp>
          <p:nvCxnSpPr>
            <p:cNvPr id="294" name="Google Shape;294;p29"/>
            <p:cNvCxnSpPr>
              <a:stCxn id="285" idx="2"/>
              <a:endCxn id="288" idx="0"/>
            </p:cNvCxnSpPr>
            <p:nvPr/>
          </p:nvCxnSpPr>
          <p:spPr>
            <a:xfrm flipH="1">
              <a:off x="6948875" y="4324125"/>
              <a:ext cx="257700" cy="130500"/>
            </a:xfrm>
            <a:prstGeom prst="straightConnector1">
              <a:avLst/>
            </a:prstGeom>
            <a:noFill/>
            <a:ln cap="flat" cmpd="sng" w="19050">
              <a:solidFill>
                <a:srgbClr val="666666"/>
              </a:solidFill>
              <a:prstDash val="solid"/>
              <a:round/>
              <a:headEnd len="med" w="med" type="none"/>
              <a:tailEnd len="med" w="med" type="none"/>
            </a:ln>
          </p:spPr>
        </p:cxnSp>
        <p:cxnSp>
          <p:nvCxnSpPr>
            <p:cNvPr id="295" name="Google Shape;295;p29"/>
            <p:cNvCxnSpPr>
              <a:stCxn id="285" idx="2"/>
              <a:endCxn id="289" idx="0"/>
            </p:cNvCxnSpPr>
            <p:nvPr/>
          </p:nvCxnSpPr>
          <p:spPr>
            <a:xfrm>
              <a:off x="7206575" y="4324125"/>
              <a:ext cx="249300" cy="130500"/>
            </a:xfrm>
            <a:prstGeom prst="straightConnector1">
              <a:avLst/>
            </a:prstGeom>
            <a:noFill/>
            <a:ln cap="flat" cmpd="sng" w="19050">
              <a:solidFill>
                <a:srgbClr val="666666"/>
              </a:solidFill>
              <a:prstDash val="solid"/>
              <a:round/>
              <a:headEnd len="med" w="med" type="none"/>
              <a:tailEnd len="med" w="med" type="none"/>
            </a:ln>
          </p:spPr>
        </p:cxnSp>
      </p:grpSp>
      <p:sp>
        <p:nvSpPr>
          <p:cNvPr id="296" name="Google Shape;296;p29"/>
          <p:cNvSpPr/>
          <p:nvPr/>
        </p:nvSpPr>
        <p:spPr>
          <a:xfrm>
            <a:off x="3252925" y="1845512"/>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v</a:t>
            </a:r>
            <a:endParaRPr/>
          </a:p>
        </p:txBody>
      </p:sp>
      <p:sp>
        <p:nvSpPr>
          <p:cNvPr id="297" name="Google Shape;297;p29"/>
          <p:cNvSpPr/>
          <p:nvPr/>
        </p:nvSpPr>
        <p:spPr>
          <a:xfrm>
            <a:off x="2795725" y="2226512"/>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a:t>
            </a:r>
            <a:endParaRPr/>
          </a:p>
        </p:txBody>
      </p:sp>
      <p:sp>
        <p:nvSpPr>
          <p:cNvPr id="298" name="Google Shape;298;p29"/>
          <p:cNvSpPr/>
          <p:nvPr/>
        </p:nvSpPr>
        <p:spPr>
          <a:xfrm>
            <a:off x="3710125" y="2226512"/>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y</a:t>
            </a:r>
            <a:endParaRPr/>
          </a:p>
        </p:txBody>
      </p:sp>
      <p:sp>
        <p:nvSpPr>
          <p:cNvPr id="299" name="Google Shape;299;p29"/>
          <p:cNvSpPr/>
          <p:nvPr/>
        </p:nvSpPr>
        <p:spPr>
          <a:xfrm>
            <a:off x="2530600" y="2615512"/>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a:t>
            </a:r>
            <a:endParaRPr/>
          </a:p>
        </p:txBody>
      </p:sp>
      <p:sp>
        <p:nvSpPr>
          <p:cNvPr id="300" name="Google Shape;300;p29"/>
          <p:cNvSpPr/>
          <p:nvPr/>
        </p:nvSpPr>
        <p:spPr>
          <a:xfrm>
            <a:off x="3009143" y="2621430"/>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a:t>
            </a:r>
            <a:endParaRPr/>
          </a:p>
        </p:txBody>
      </p:sp>
      <p:sp>
        <p:nvSpPr>
          <p:cNvPr id="301" name="Google Shape;301;p29"/>
          <p:cNvSpPr/>
          <p:nvPr/>
        </p:nvSpPr>
        <p:spPr>
          <a:xfrm>
            <a:off x="3452425" y="2621430"/>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x</a:t>
            </a:r>
            <a:endParaRPr/>
          </a:p>
        </p:txBody>
      </p:sp>
      <p:sp>
        <p:nvSpPr>
          <p:cNvPr id="302" name="Google Shape;302;p29"/>
          <p:cNvSpPr/>
          <p:nvPr/>
        </p:nvSpPr>
        <p:spPr>
          <a:xfrm>
            <a:off x="3959389" y="2621430"/>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z</a:t>
            </a:r>
            <a:endParaRPr/>
          </a:p>
        </p:txBody>
      </p:sp>
      <p:cxnSp>
        <p:nvCxnSpPr>
          <p:cNvPr id="303" name="Google Shape;303;p29"/>
          <p:cNvCxnSpPr>
            <a:stCxn id="297" idx="0"/>
            <a:endCxn id="296" idx="2"/>
          </p:cNvCxnSpPr>
          <p:nvPr/>
        </p:nvCxnSpPr>
        <p:spPr>
          <a:xfrm flipH="1" rot="10800000">
            <a:off x="2962675" y="2109812"/>
            <a:ext cx="457200" cy="116700"/>
          </a:xfrm>
          <a:prstGeom prst="straightConnector1">
            <a:avLst/>
          </a:prstGeom>
          <a:noFill/>
          <a:ln cap="flat" cmpd="sng" w="19050">
            <a:solidFill>
              <a:srgbClr val="666666"/>
            </a:solidFill>
            <a:prstDash val="solid"/>
            <a:round/>
            <a:headEnd len="med" w="med" type="none"/>
            <a:tailEnd len="med" w="med" type="none"/>
          </a:ln>
        </p:spPr>
      </p:cxnSp>
      <p:cxnSp>
        <p:nvCxnSpPr>
          <p:cNvPr id="304" name="Google Shape;304;p29"/>
          <p:cNvCxnSpPr>
            <a:stCxn id="298" idx="0"/>
            <a:endCxn id="296" idx="2"/>
          </p:cNvCxnSpPr>
          <p:nvPr/>
        </p:nvCxnSpPr>
        <p:spPr>
          <a:xfrm rot="10800000">
            <a:off x="3419875" y="2109812"/>
            <a:ext cx="457200" cy="116700"/>
          </a:xfrm>
          <a:prstGeom prst="straightConnector1">
            <a:avLst/>
          </a:prstGeom>
          <a:noFill/>
          <a:ln cap="flat" cmpd="sng" w="19050">
            <a:solidFill>
              <a:srgbClr val="666666"/>
            </a:solidFill>
            <a:prstDash val="solid"/>
            <a:round/>
            <a:headEnd len="med" w="med" type="none"/>
            <a:tailEnd len="med" w="med" type="none"/>
          </a:ln>
        </p:spPr>
      </p:cxnSp>
      <p:cxnSp>
        <p:nvCxnSpPr>
          <p:cNvPr id="305" name="Google Shape;305;p29"/>
          <p:cNvCxnSpPr>
            <a:stCxn id="299" idx="0"/>
            <a:endCxn id="297" idx="2"/>
          </p:cNvCxnSpPr>
          <p:nvPr/>
        </p:nvCxnSpPr>
        <p:spPr>
          <a:xfrm flipH="1" rot="10800000">
            <a:off x="2697550" y="2490712"/>
            <a:ext cx="265200" cy="124800"/>
          </a:xfrm>
          <a:prstGeom prst="straightConnector1">
            <a:avLst/>
          </a:prstGeom>
          <a:noFill/>
          <a:ln cap="flat" cmpd="sng" w="19050">
            <a:solidFill>
              <a:srgbClr val="666666"/>
            </a:solidFill>
            <a:prstDash val="solid"/>
            <a:round/>
            <a:headEnd len="med" w="med" type="none"/>
            <a:tailEnd len="med" w="med" type="none"/>
          </a:ln>
        </p:spPr>
      </p:cxnSp>
      <p:cxnSp>
        <p:nvCxnSpPr>
          <p:cNvPr id="306" name="Google Shape;306;p29"/>
          <p:cNvCxnSpPr>
            <a:stCxn id="297" idx="2"/>
            <a:endCxn id="300" idx="0"/>
          </p:cNvCxnSpPr>
          <p:nvPr/>
        </p:nvCxnSpPr>
        <p:spPr>
          <a:xfrm>
            <a:off x="2962675" y="2490812"/>
            <a:ext cx="213300" cy="130500"/>
          </a:xfrm>
          <a:prstGeom prst="straightConnector1">
            <a:avLst/>
          </a:prstGeom>
          <a:noFill/>
          <a:ln cap="flat" cmpd="sng" w="19050">
            <a:solidFill>
              <a:srgbClr val="666666"/>
            </a:solidFill>
            <a:prstDash val="solid"/>
            <a:round/>
            <a:headEnd len="med" w="med" type="none"/>
            <a:tailEnd len="med" w="med" type="none"/>
          </a:ln>
        </p:spPr>
      </p:cxnSp>
      <p:cxnSp>
        <p:nvCxnSpPr>
          <p:cNvPr id="307" name="Google Shape;307;p29"/>
          <p:cNvCxnSpPr>
            <a:stCxn id="298" idx="2"/>
            <a:endCxn id="301" idx="0"/>
          </p:cNvCxnSpPr>
          <p:nvPr/>
        </p:nvCxnSpPr>
        <p:spPr>
          <a:xfrm flipH="1">
            <a:off x="3619375" y="2490812"/>
            <a:ext cx="257700" cy="130500"/>
          </a:xfrm>
          <a:prstGeom prst="straightConnector1">
            <a:avLst/>
          </a:prstGeom>
          <a:noFill/>
          <a:ln cap="flat" cmpd="sng" w="19050">
            <a:solidFill>
              <a:srgbClr val="666666"/>
            </a:solidFill>
            <a:prstDash val="solid"/>
            <a:round/>
            <a:headEnd len="med" w="med" type="none"/>
            <a:tailEnd len="med" w="med" type="none"/>
          </a:ln>
        </p:spPr>
      </p:cxnSp>
      <p:cxnSp>
        <p:nvCxnSpPr>
          <p:cNvPr id="308" name="Google Shape;308;p29"/>
          <p:cNvCxnSpPr>
            <a:stCxn id="298" idx="2"/>
            <a:endCxn id="302" idx="0"/>
          </p:cNvCxnSpPr>
          <p:nvPr/>
        </p:nvCxnSpPr>
        <p:spPr>
          <a:xfrm>
            <a:off x="3877075" y="2490812"/>
            <a:ext cx="249300" cy="130500"/>
          </a:xfrm>
          <a:prstGeom prst="straightConnector1">
            <a:avLst/>
          </a:prstGeom>
          <a:noFill/>
          <a:ln cap="flat" cmpd="sng" w="19050">
            <a:solidFill>
              <a:srgbClr val="666666"/>
            </a:solidFill>
            <a:prstDash val="solid"/>
            <a:round/>
            <a:headEnd len="med" w="med" type="none"/>
            <a:tailEnd len="med" w="med" type="none"/>
          </a:ln>
        </p:spPr>
      </p:cxnSp>
      <p:sp>
        <p:nvSpPr>
          <p:cNvPr id="309" name="Google Shape;309;p29"/>
          <p:cNvSpPr/>
          <p:nvPr/>
        </p:nvSpPr>
        <p:spPr>
          <a:xfrm>
            <a:off x="2276550" y="1359988"/>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k</a:t>
            </a:r>
            <a:endParaRPr/>
          </a:p>
        </p:txBody>
      </p:sp>
      <p:cxnSp>
        <p:nvCxnSpPr>
          <p:cNvPr id="310" name="Google Shape;310;p29"/>
          <p:cNvCxnSpPr>
            <a:stCxn id="309" idx="2"/>
            <a:endCxn id="283" idx="0"/>
          </p:cNvCxnSpPr>
          <p:nvPr/>
        </p:nvCxnSpPr>
        <p:spPr>
          <a:xfrm flipH="1">
            <a:off x="1483800" y="1624288"/>
            <a:ext cx="959700" cy="214500"/>
          </a:xfrm>
          <a:prstGeom prst="straightConnector1">
            <a:avLst/>
          </a:prstGeom>
          <a:noFill/>
          <a:ln cap="flat" cmpd="sng" w="19050">
            <a:solidFill>
              <a:srgbClr val="666666"/>
            </a:solidFill>
            <a:prstDash val="solid"/>
            <a:round/>
            <a:headEnd len="med" w="med" type="none"/>
            <a:tailEnd len="med" w="med" type="none"/>
          </a:ln>
        </p:spPr>
      </p:cxnSp>
      <p:cxnSp>
        <p:nvCxnSpPr>
          <p:cNvPr id="311" name="Google Shape;311;p29"/>
          <p:cNvCxnSpPr>
            <a:stCxn id="309" idx="2"/>
            <a:endCxn id="296" idx="0"/>
          </p:cNvCxnSpPr>
          <p:nvPr/>
        </p:nvCxnSpPr>
        <p:spPr>
          <a:xfrm>
            <a:off x="2443500" y="1624288"/>
            <a:ext cx="976500" cy="221100"/>
          </a:xfrm>
          <a:prstGeom prst="straightConnector1">
            <a:avLst/>
          </a:prstGeom>
          <a:noFill/>
          <a:ln cap="flat" cmpd="sng" w="19050">
            <a:solidFill>
              <a:srgbClr val="666666"/>
            </a:solidFill>
            <a:prstDash val="solid"/>
            <a:round/>
            <a:headEnd len="med" w="med" type="none"/>
            <a:tailEnd len="med" w="med" type="none"/>
          </a:ln>
        </p:spPr>
      </p:cxnSp>
      <p:sp>
        <p:nvSpPr>
          <p:cNvPr id="312" name="Google Shape;312;p29"/>
          <p:cNvSpPr/>
          <p:nvPr/>
        </p:nvSpPr>
        <p:spPr>
          <a:xfrm>
            <a:off x="7434225" y="1913399"/>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v</a:t>
            </a:r>
            <a:endParaRPr/>
          </a:p>
        </p:txBody>
      </p:sp>
      <p:sp>
        <p:nvSpPr>
          <p:cNvPr id="313" name="Google Shape;313;p29"/>
          <p:cNvSpPr/>
          <p:nvPr/>
        </p:nvSpPr>
        <p:spPr>
          <a:xfrm>
            <a:off x="7891425" y="2294399"/>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y</a:t>
            </a:r>
            <a:endParaRPr/>
          </a:p>
        </p:txBody>
      </p:sp>
      <p:sp>
        <p:nvSpPr>
          <p:cNvPr id="314" name="Google Shape;314;p29"/>
          <p:cNvSpPr/>
          <p:nvPr/>
        </p:nvSpPr>
        <p:spPr>
          <a:xfrm>
            <a:off x="8140689" y="2689317"/>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z</a:t>
            </a:r>
            <a:endParaRPr/>
          </a:p>
        </p:txBody>
      </p:sp>
      <p:cxnSp>
        <p:nvCxnSpPr>
          <p:cNvPr id="315" name="Google Shape;315;p29"/>
          <p:cNvCxnSpPr>
            <a:stCxn id="313" idx="0"/>
            <a:endCxn id="312" idx="2"/>
          </p:cNvCxnSpPr>
          <p:nvPr/>
        </p:nvCxnSpPr>
        <p:spPr>
          <a:xfrm rot="10800000">
            <a:off x="7601175" y="2177699"/>
            <a:ext cx="457200" cy="116700"/>
          </a:xfrm>
          <a:prstGeom prst="straightConnector1">
            <a:avLst/>
          </a:prstGeom>
          <a:noFill/>
          <a:ln cap="flat" cmpd="sng" w="19050">
            <a:solidFill>
              <a:srgbClr val="666666"/>
            </a:solidFill>
            <a:prstDash val="solid"/>
            <a:round/>
            <a:headEnd len="med" w="med" type="none"/>
            <a:tailEnd len="med" w="med" type="none"/>
          </a:ln>
        </p:spPr>
      </p:cxnSp>
      <p:cxnSp>
        <p:nvCxnSpPr>
          <p:cNvPr id="316" name="Google Shape;316;p29"/>
          <p:cNvCxnSpPr>
            <a:stCxn id="313" idx="2"/>
            <a:endCxn id="314" idx="0"/>
          </p:cNvCxnSpPr>
          <p:nvPr/>
        </p:nvCxnSpPr>
        <p:spPr>
          <a:xfrm>
            <a:off x="8058375" y="2558699"/>
            <a:ext cx="249300" cy="130500"/>
          </a:xfrm>
          <a:prstGeom prst="straightConnector1">
            <a:avLst/>
          </a:prstGeom>
          <a:noFill/>
          <a:ln cap="flat" cmpd="sng" w="19050">
            <a:solidFill>
              <a:srgbClr val="666666"/>
            </a:solidFill>
            <a:prstDash val="solid"/>
            <a:round/>
            <a:headEnd len="med" w="med" type="none"/>
            <a:tailEnd len="med" w="med" type="none"/>
          </a:ln>
        </p:spPr>
      </p:cxnSp>
      <p:cxnSp>
        <p:nvCxnSpPr>
          <p:cNvPr id="317" name="Google Shape;317;p29"/>
          <p:cNvCxnSpPr>
            <a:stCxn id="318" idx="2"/>
            <a:endCxn id="312" idx="0"/>
          </p:cNvCxnSpPr>
          <p:nvPr/>
        </p:nvCxnSpPr>
        <p:spPr>
          <a:xfrm>
            <a:off x="6624800" y="1692175"/>
            <a:ext cx="976500" cy="221100"/>
          </a:xfrm>
          <a:prstGeom prst="straightConnector1">
            <a:avLst/>
          </a:prstGeom>
          <a:noFill/>
          <a:ln cap="flat" cmpd="sng" w="19050">
            <a:solidFill>
              <a:srgbClr val="666666"/>
            </a:solidFill>
            <a:prstDash val="solid"/>
            <a:round/>
            <a:headEnd len="med" w="med" type="none"/>
            <a:tailEnd len="med" w="med" type="none"/>
          </a:ln>
        </p:spPr>
      </p:cxnSp>
      <p:sp>
        <p:nvSpPr>
          <p:cNvPr id="318" name="Google Shape;318;p29"/>
          <p:cNvSpPr/>
          <p:nvPr/>
        </p:nvSpPr>
        <p:spPr>
          <a:xfrm>
            <a:off x="6457850" y="1427875"/>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k</a:t>
            </a:r>
            <a:endParaRPr/>
          </a:p>
        </p:txBody>
      </p:sp>
      <p:sp>
        <p:nvSpPr>
          <p:cNvPr id="319" name="Google Shape;319;p29"/>
          <p:cNvSpPr txBox="1"/>
          <p:nvPr>
            <p:ph idx="1" type="body"/>
          </p:nvPr>
        </p:nvSpPr>
        <p:spPr>
          <a:xfrm>
            <a:off x="6953775" y="3122300"/>
            <a:ext cx="1294800" cy="67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 = Θ(N) </a:t>
            </a:r>
            <a:endParaRPr/>
          </a:p>
        </p:txBody>
      </p:sp>
      <p:cxnSp>
        <p:nvCxnSpPr>
          <p:cNvPr id="320" name="Google Shape;320;p29"/>
          <p:cNvCxnSpPr/>
          <p:nvPr/>
        </p:nvCxnSpPr>
        <p:spPr>
          <a:xfrm flipH="1">
            <a:off x="2831075" y="1119950"/>
            <a:ext cx="1358400" cy="279900"/>
          </a:xfrm>
          <a:prstGeom prst="straightConnector1">
            <a:avLst/>
          </a:prstGeom>
          <a:noFill/>
          <a:ln cap="flat" cmpd="sng" w="19050">
            <a:solidFill>
              <a:srgbClr val="666666"/>
            </a:solidFill>
            <a:prstDash val="solid"/>
            <a:round/>
            <a:headEnd len="med" w="med" type="none"/>
            <a:tailEnd len="med" w="med" type="triangle"/>
          </a:ln>
        </p:spPr>
      </p:cxnSp>
      <p:cxnSp>
        <p:nvCxnSpPr>
          <p:cNvPr id="321" name="Google Shape;321;p29"/>
          <p:cNvCxnSpPr/>
          <p:nvPr/>
        </p:nvCxnSpPr>
        <p:spPr>
          <a:xfrm>
            <a:off x="5865325" y="1154675"/>
            <a:ext cx="355800" cy="189600"/>
          </a:xfrm>
          <a:prstGeom prst="straightConnector1">
            <a:avLst/>
          </a:prstGeom>
          <a:noFill/>
          <a:ln cap="flat" cmpd="sng" w="19050">
            <a:solidFill>
              <a:srgbClr val="666666"/>
            </a:solidFill>
            <a:prstDash val="solid"/>
            <a:round/>
            <a:headEnd len="med" w="med" type="none"/>
            <a:tailEnd len="med" w="med" type="triangle"/>
          </a:ln>
        </p:spPr>
      </p:cxnSp>
      <p:sp>
        <p:nvSpPr>
          <p:cNvPr id="322" name="Google Shape;322;p29"/>
          <p:cNvSpPr txBox="1"/>
          <p:nvPr/>
        </p:nvSpPr>
        <p:spPr>
          <a:xfrm>
            <a:off x="40500" y="1292925"/>
            <a:ext cx="1007100" cy="3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H=3</a:t>
            </a:r>
            <a:endParaRPr/>
          </a:p>
        </p:txBody>
      </p:sp>
      <p:sp>
        <p:nvSpPr>
          <p:cNvPr id="323" name="Google Shape;323;p29"/>
          <p:cNvSpPr txBox="1"/>
          <p:nvPr/>
        </p:nvSpPr>
        <p:spPr>
          <a:xfrm>
            <a:off x="8474600" y="1583800"/>
            <a:ext cx="1007100" cy="3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H=3</a:t>
            </a:r>
            <a:endParaRPr/>
          </a:p>
        </p:txBody>
      </p:sp>
      <p:sp>
        <p:nvSpPr>
          <p:cNvPr id="324" name="Google Shape;324;p29"/>
          <p:cNvSpPr txBox="1"/>
          <p:nvPr>
            <p:ph idx="1" type="body"/>
          </p:nvPr>
        </p:nvSpPr>
        <p:spPr>
          <a:xfrm>
            <a:off x="1563625" y="3092550"/>
            <a:ext cx="1841700" cy="67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 = Θ(log(N)) </a:t>
            </a:r>
            <a:endParaRPr/>
          </a:p>
        </p:txBody>
      </p:sp>
      <p:sp>
        <p:nvSpPr>
          <p:cNvPr id="325" name="Google Shape;325;p29"/>
          <p:cNvSpPr txBox="1"/>
          <p:nvPr/>
        </p:nvSpPr>
        <p:spPr>
          <a:xfrm>
            <a:off x="204550" y="3964775"/>
            <a:ext cx="86190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1"/>
                </a:solidFill>
                <a:latin typeface="Calibri"/>
                <a:ea typeface="Calibri"/>
                <a:cs typeface="Calibri"/>
                <a:sym typeface="Calibri"/>
              </a:rPr>
              <a:t>Performance of operations on spindly trees can be just as bad as a linked list!</a:t>
            </a:r>
            <a:endParaRPr sz="2000">
              <a:solidFill>
                <a:schemeClr val="dk1"/>
              </a:solidFill>
              <a:latin typeface="Calibri"/>
              <a:ea typeface="Calibri"/>
              <a:cs typeface="Calibri"/>
              <a:sym typeface="Calibri"/>
            </a:endParaRPr>
          </a:p>
          <a:p>
            <a:pPr indent="-355600" lvl="0" marL="457200" rtl="0" algn="l">
              <a:spcBef>
                <a:spcPts val="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Example: contains(“z”) would take linear time.</a:t>
            </a:r>
            <a:endParaRPr sz="20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329" name="Shape 329"/>
        <p:cNvGrpSpPr/>
        <p:nvPr/>
      </p:nvGrpSpPr>
      <p:grpSpPr>
        <a:xfrm>
          <a:off x="0" y="0"/>
          <a:ext cx="0" cy="0"/>
          <a:chOff x="0" y="0"/>
          <a:chExt cx="0" cy="0"/>
        </a:xfrm>
      </p:grpSpPr>
      <p:sp>
        <p:nvSpPr>
          <p:cNvPr id="330" name="Google Shape;330;p3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Statements about Tree Height: </a:t>
            </a:r>
            <a:r>
              <a:rPr lang="en"/>
              <a:t>http://yellkey.com</a:t>
            </a:r>
            <a:r>
              <a:rPr lang="en">
                <a:solidFill>
                  <a:srgbClr val="208920"/>
                </a:solidFill>
              </a:rPr>
              <a:t>/run</a:t>
            </a:r>
            <a:endParaRPr/>
          </a:p>
        </p:txBody>
      </p:sp>
      <p:sp>
        <p:nvSpPr>
          <p:cNvPr id="331" name="Google Shape;331;p30"/>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Which of these statements are true?</a:t>
            </a:r>
            <a:endParaRPr/>
          </a:p>
          <a:p>
            <a:pPr indent="-342900" lvl="0" marL="457200" rtl="0" algn="l">
              <a:spcBef>
                <a:spcPts val="600"/>
              </a:spcBef>
              <a:spcAft>
                <a:spcPts val="0"/>
              </a:spcAft>
              <a:buSzPts val="1800"/>
              <a:buAutoNum type="alphaUcPeriod"/>
            </a:pPr>
            <a:r>
              <a:rPr lang="en"/>
              <a:t>Worst case BST height is Θ(N).</a:t>
            </a:r>
            <a:endParaRPr/>
          </a:p>
          <a:p>
            <a:pPr indent="-342900" lvl="0" marL="457200" rtl="0" algn="l">
              <a:spcBef>
                <a:spcPts val="600"/>
              </a:spcBef>
              <a:spcAft>
                <a:spcPts val="0"/>
              </a:spcAft>
              <a:buSzPts val="1800"/>
              <a:buAutoNum type="alphaUcPeriod"/>
            </a:pPr>
            <a:r>
              <a:rPr lang="en"/>
              <a:t>BST height is O(N).</a:t>
            </a:r>
            <a:endParaRPr/>
          </a:p>
          <a:p>
            <a:pPr indent="-342900" lvl="0" marL="457200" rtl="0" algn="l">
              <a:spcBef>
                <a:spcPts val="600"/>
              </a:spcBef>
              <a:spcAft>
                <a:spcPts val="0"/>
              </a:spcAft>
              <a:buSzPts val="1800"/>
              <a:buAutoNum type="alphaUcPeriod"/>
            </a:pPr>
            <a:r>
              <a:rPr lang="en"/>
              <a:t>BST height is O(N</a:t>
            </a:r>
            <a:r>
              <a:rPr baseline="30000" lang="en"/>
              <a:t>2</a:t>
            </a:r>
            <a:r>
              <a:rPr lang="en"/>
              <a: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5" name="Shape 335"/>
        <p:cNvGrpSpPr/>
        <p:nvPr/>
      </p:nvGrpSpPr>
      <p:grpSpPr>
        <a:xfrm>
          <a:off x="0" y="0"/>
          <a:ext cx="0" cy="0"/>
          <a:chOff x="0" y="0"/>
          <a:chExt cx="0" cy="0"/>
        </a:xfrm>
      </p:grpSpPr>
      <p:sp>
        <p:nvSpPr>
          <p:cNvPr id="336" name="Google Shape;336;p3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Statements about Tree Height</a:t>
            </a:r>
            <a:endParaRPr/>
          </a:p>
        </p:txBody>
      </p:sp>
      <p:sp>
        <p:nvSpPr>
          <p:cNvPr id="337" name="Google Shape;337;p31"/>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Which of these statements are true?</a:t>
            </a:r>
            <a:endParaRPr/>
          </a:p>
          <a:p>
            <a:pPr indent="-342900" lvl="0" marL="457200" rtl="0" algn="l">
              <a:spcBef>
                <a:spcPts val="600"/>
              </a:spcBef>
              <a:spcAft>
                <a:spcPts val="0"/>
              </a:spcAft>
              <a:buSzPts val="1800"/>
              <a:buAutoNum type="alphaUcPeriod"/>
            </a:pPr>
            <a:r>
              <a:rPr b="1" lang="en"/>
              <a:t>Worst case BST height is Θ(N). "Is equal to linear."</a:t>
            </a:r>
            <a:endParaRPr b="1"/>
          </a:p>
          <a:p>
            <a:pPr indent="-342900" lvl="0" marL="457200" rtl="0" algn="l">
              <a:spcBef>
                <a:spcPts val="600"/>
              </a:spcBef>
              <a:spcAft>
                <a:spcPts val="0"/>
              </a:spcAft>
              <a:buSzPts val="1800"/>
              <a:buAutoNum type="alphaUcPeriod"/>
            </a:pPr>
            <a:r>
              <a:rPr b="1" lang="en"/>
              <a:t>BST height is O(N). "Is less than or equal to linear."</a:t>
            </a:r>
            <a:endParaRPr b="1"/>
          </a:p>
          <a:p>
            <a:pPr indent="-342900" lvl="0" marL="457200" rtl="0" algn="l">
              <a:spcBef>
                <a:spcPts val="600"/>
              </a:spcBef>
              <a:spcAft>
                <a:spcPts val="0"/>
              </a:spcAft>
              <a:buSzPts val="1800"/>
              <a:buAutoNum type="alphaUcPeriod"/>
            </a:pPr>
            <a:r>
              <a:rPr b="1" lang="en"/>
              <a:t>BST height is O(N</a:t>
            </a:r>
            <a:r>
              <a:rPr b="1" baseline="30000" lang="en"/>
              <a:t>2</a:t>
            </a:r>
            <a:r>
              <a:rPr b="1" lang="en"/>
              <a:t>). "Is less than or equal to quadratic."</a:t>
            </a:r>
            <a:endParaRPr b="1"/>
          </a:p>
          <a:p>
            <a:pPr indent="0" lvl="0" marL="0" rtl="0" algn="l">
              <a:spcBef>
                <a:spcPts val="600"/>
              </a:spcBef>
              <a:spcAft>
                <a:spcPts val="0"/>
              </a:spcAft>
              <a:buNone/>
            </a:pPr>
            <a:r>
              <a:t/>
            </a:r>
            <a:endParaRPr/>
          </a:p>
          <a:p>
            <a:pPr indent="0" lvl="0" marL="0" rtl="0" algn="l">
              <a:spcBef>
                <a:spcPts val="600"/>
              </a:spcBef>
              <a:spcAft>
                <a:spcPts val="0"/>
              </a:spcAft>
              <a:buNone/>
            </a:pPr>
            <a:r>
              <a:rPr lang="en"/>
              <a:t>All are </a:t>
            </a:r>
            <a:r>
              <a:rPr b="1" lang="en"/>
              <a:t>true</a:t>
            </a:r>
            <a:r>
              <a:rPr lang="en"/>
              <a:t>!</a:t>
            </a:r>
            <a:endParaRPr/>
          </a:p>
          <a:p>
            <a:pPr indent="-342900" lvl="0" marL="457200" rtl="0" algn="l">
              <a:spcBef>
                <a:spcPts val="600"/>
              </a:spcBef>
              <a:spcAft>
                <a:spcPts val="0"/>
              </a:spcAft>
              <a:buSzPts val="1800"/>
              <a:buChar char="●"/>
            </a:pPr>
            <a:r>
              <a:rPr lang="en"/>
              <a:t>A worst case (spindly tree) has a height that grows exactly linearly - Θ(N).</a:t>
            </a:r>
            <a:endParaRPr/>
          </a:p>
          <a:p>
            <a:pPr indent="-342900" lvl="0" marL="457200" rtl="0" algn="l">
              <a:spcBef>
                <a:spcPts val="600"/>
              </a:spcBef>
              <a:spcAft>
                <a:spcPts val="0"/>
              </a:spcAft>
              <a:buSzPts val="1800"/>
              <a:buChar char="●"/>
            </a:pPr>
            <a:r>
              <a:rPr lang="en"/>
              <a:t>All BSTs have a height that grows linearly or better - O(N).</a:t>
            </a:r>
            <a:endParaRPr/>
          </a:p>
          <a:p>
            <a:pPr indent="-342900" lvl="0" marL="457200" rtl="0" algn="l">
              <a:spcBef>
                <a:spcPts val="600"/>
              </a:spcBef>
              <a:spcAft>
                <a:spcPts val="0"/>
              </a:spcAft>
              <a:buSzPts val="1800"/>
              <a:buChar char="●"/>
            </a:pPr>
            <a:r>
              <a:rPr lang="en"/>
              <a:t>All BSTs have a height that grows quadratically or better - O(N</a:t>
            </a:r>
            <a:r>
              <a:rPr baseline="30000" lang="en"/>
              <a:t>2</a:t>
            </a:r>
            <a:r>
              <a:rPr lang="en"/>
              <a: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341" name="Shape 341"/>
        <p:cNvGrpSpPr/>
        <p:nvPr/>
      </p:nvGrpSpPr>
      <p:grpSpPr>
        <a:xfrm>
          <a:off x="0" y="0"/>
          <a:ext cx="0" cy="0"/>
          <a:chOff x="0" y="0"/>
          <a:chExt cx="0" cy="0"/>
        </a:xfrm>
      </p:grpSpPr>
      <p:sp>
        <p:nvSpPr>
          <p:cNvPr id="342" name="Google Shape;342;p3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Statements about Tree Height</a:t>
            </a:r>
            <a:r>
              <a:rPr lang="en"/>
              <a:t>: http://yellkey.com</a:t>
            </a:r>
            <a:r>
              <a:rPr lang="en">
                <a:solidFill>
                  <a:srgbClr val="208920"/>
                </a:solidFill>
              </a:rPr>
              <a:t>/economy</a:t>
            </a:r>
            <a:endParaRPr/>
          </a:p>
        </p:txBody>
      </p:sp>
      <p:sp>
        <p:nvSpPr>
          <p:cNvPr id="343" name="Google Shape;343;p32"/>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Which of these statements is more informative?</a:t>
            </a:r>
            <a:endParaRPr/>
          </a:p>
          <a:p>
            <a:pPr indent="-342900" lvl="0" marL="457200" rtl="0" algn="l">
              <a:spcBef>
                <a:spcPts val="600"/>
              </a:spcBef>
              <a:spcAft>
                <a:spcPts val="0"/>
              </a:spcAft>
              <a:buSzPts val="1800"/>
              <a:buAutoNum type="alphaUcPeriod"/>
            </a:pPr>
            <a:r>
              <a:rPr lang="en"/>
              <a:t>Worst case BST height is Θ(N).</a:t>
            </a:r>
            <a:endParaRPr/>
          </a:p>
          <a:p>
            <a:pPr indent="-342900" lvl="0" marL="457200" rtl="0" algn="l">
              <a:spcBef>
                <a:spcPts val="600"/>
              </a:spcBef>
              <a:spcAft>
                <a:spcPts val="0"/>
              </a:spcAft>
              <a:buSzPts val="1800"/>
              <a:buAutoNum type="alphaUcPeriod"/>
            </a:pPr>
            <a:r>
              <a:rPr lang="en"/>
              <a:t>BST height is O(N).</a:t>
            </a:r>
            <a:endParaRPr/>
          </a:p>
          <a:p>
            <a:pPr indent="-342900" lvl="0" marL="457200" rtl="0" algn="l">
              <a:spcBef>
                <a:spcPts val="600"/>
              </a:spcBef>
              <a:spcAft>
                <a:spcPts val="0"/>
              </a:spcAft>
              <a:buSzPts val="1800"/>
              <a:buAutoNum type="alphaUcPeriod"/>
            </a:pPr>
            <a:r>
              <a:rPr lang="en"/>
              <a:t>They are equally informative.</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7" name="Shape 347"/>
        <p:cNvGrpSpPr/>
        <p:nvPr/>
      </p:nvGrpSpPr>
      <p:grpSpPr>
        <a:xfrm>
          <a:off x="0" y="0"/>
          <a:ext cx="0" cy="0"/>
          <a:chOff x="0" y="0"/>
          <a:chExt cx="0" cy="0"/>
        </a:xfrm>
      </p:grpSpPr>
      <p:sp>
        <p:nvSpPr>
          <p:cNvPr id="348" name="Google Shape;348;p3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Statements about Tree Height</a:t>
            </a:r>
            <a:endParaRPr/>
          </a:p>
        </p:txBody>
      </p:sp>
      <p:sp>
        <p:nvSpPr>
          <p:cNvPr id="349" name="Google Shape;349;p33"/>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Which of these statements is more informative?</a:t>
            </a:r>
            <a:endParaRPr/>
          </a:p>
          <a:p>
            <a:pPr indent="-342900" lvl="0" marL="457200" rtl="0" algn="l">
              <a:spcBef>
                <a:spcPts val="600"/>
              </a:spcBef>
              <a:spcAft>
                <a:spcPts val="0"/>
              </a:spcAft>
              <a:buSzPts val="1800"/>
              <a:buAutoNum type="alphaUcPeriod"/>
            </a:pPr>
            <a:r>
              <a:rPr b="1" lang="en"/>
              <a:t>Worst case BST height is Θ(N).</a:t>
            </a:r>
            <a:endParaRPr b="1"/>
          </a:p>
          <a:p>
            <a:pPr indent="-342900" lvl="0" marL="457200" rtl="0" algn="l">
              <a:spcBef>
                <a:spcPts val="600"/>
              </a:spcBef>
              <a:spcAft>
                <a:spcPts val="0"/>
              </a:spcAft>
              <a:buSzPts val="1800"/>
              <a:buAutoNum type="alphaUcPeriod"/>
            </a:pPr>
            <a:r>
              <a:rPr lang="en"/>
              <a:t>BST height is O(N).</a:t>
            </a:r>
            <a:endParaRPr/>
          </a:p>
          <a:p>
            <a:pPr indent="-342900" lvl="0" marL="457200" rtl="0" algn="l">
              <a:spcBef>
                <a:spcPts val="600"/>
              </a:spcBef>
              <a:spcAft>
                <a:spcPts val="0"/>
              </a:spcAft>
              <a:buSzPts val="1800"/>
              <a:buAutoNum type="alphaUcPeriod"/>
            </a:pPr>
            <a:r>
              <a:rPr lang="en"/>
              <a:t>They are equally informative.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Saying that the worst case has order of growth N is more informative than saying the height is O(N).</a:t>
            </a:r>
            <a:endParaRPr/>
          </a:p>
          <a:p>
            <a:pPr indent="0" lvl="0" marL="0" rtl="0" algn="l">
              <a:spcBef>
                <a:spcPts val="600"/>
              </a:spcBef>
              <a:spcAft>
                <a:spcPts val="0"/>
              </a:spcAft>
              <a:buNone/>
            </a:pPr>
            <a:br>
              <a:rPr lang="en"/>
            </a:br>
            <a:r>
              <a:rPr lang="en"/>
              <a:t>Let’s see an analogy.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353" name="Shape 353"/>
        <p:cNvGrpSpPr/>
        <p:nvPr/>
      </p:nvGrpSpPr>
      <p:grpSpPr>
        <a:xfrm>
          <a:off x="0" y="0"/>
          <a:ext cx="0" cy="0"/>
          <a:chOff x="0" y="0"/>
          <a:chExt cx="0" cy="0"/>
        </a:xfrm>
      </p:grpSpPr>
      <p:sp>
        <p:nvSpPr>
          <p:cNvPr id="354" name="Google Shape;354;p3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 http://yellkey.com</a:t>
            </a:r>
            <a:r>
              <a:rPr lang="en">
                <a:solidFill>
                  <a:srgbClr val="208920"/>
                </a:solidFill>
              </a:rPr>
              <a:t>/keep</a:t>
            </a:r>
            <a:endParaRPr/>
          </a:p>
        </p:txBody>
      </p:sp>
      <p:sp>
        <p:nvSpPr>
          <p:cNvPr id="355" name="Google Shape;355;p3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Which statement gives you more information about a hotel?</a:t>
            </a:r>
            <a:endParaRPr/>
          </a:p>
          <a:p>
            <a:pPr indent="-342900" lvl="0" marL="457200" rtl="0" algn="l">
              <a:spcBef>
                <a:spcPts val="600"/>
              </a:spcBef>
              <a:spcAft>
                <a:spcPts val="0"/>
              </a:spcAft>
              <a:buSzPts val="1800"/>
              <a:buAutoNum type="alphaUcPeriod"/>
            </a:pPr>
            <a:r>
              <a:rPr lang="en"/>
              <a:t>The most expensive room in the hotel is $639 per night.</a:t>
            </a:r>
            <a:endParaRPr/>
          </a:p>
          <a:p>
            <a:pPr indent="-342900" lvl="0" marL="457200" rtl="0" algn="l">
              <a:spcBef>
                <a:spcPts val="600"/>
              </a:spcBef>
              <a:spcAft>
                <a:spcPts val="0"/>
              </a:spcAft>
              <a:buSzPts val="1800"/>
              <a:buAutoNum type="alphaUcPeriod"/>
            </a:pPr>
            <a:r>
              <a:rPr lang="en"/>
              <a:t>Every room in the hotel is less than or equal to $639 per night.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3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a:t>
            </a:r>
            <a:endParaRPr/>
          </a:p>
        </p:txBody>
      </p:sp>
      <p:sp>
        <p:nvSpPr>
          <p:cNvPr id="361" name="Google Shape;361;p35"/>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600"/>
              </a:spcBef>
              <a:spcAft>
                <a:spcPts val="0"/>
              </a:spcAft>
              <a:buClr>
                <a:srgbClr val="000000"/>
              </a:buClr>
              <a:buSzPts val="1100"/>
              <a:buFont typeface="Arial"/>
              <a:buNone/>
            </a:pPr>
            <a:r>
              <a:rPr lang="en"/>
              <a:t>Which statement gives you more information about a hotel?</a:t>
            </a:r>
            <a:endParaRPr/>
          </a:p>
          <a:p>
            <a:pPr indent="-342900" lvl="0" marL="457200" rtl="0" algn="l">
              <a:lnSpc>
                <a:spcPct val="100000"/>
              </a:lnSpc>
              <a:spcBef>
                <a:spcPts val="600"/>
              </a:spcBef>
              <a:spcAft>
                <a:spcPts val="0"/>
              </a:spcAft>
              <a:buSzPts val="1800"/>
              <a:buAutoNum type="alphaUcPeriod"/>
            </a:pPr>
            <a:r>
              <a:rPr b="1" lang="en"/>
              <a:t>The most expensive room in the hotel is $639 per night.</a:t>
            </a:r>
            <a:endParaRPr b="1"/>
          </a:p>
          <a:p>
            <a:pPr indent="-342900" lvl="0" marL="457200" rtl="0" algn="l">
              <a:lnSpc>
                <a:spcPct val="100000"/>
              </a:lnSpc>
              <a:spcBef>
                <a:spcPts val="600"/>
              </a:spcBef>
              <a:spcAft>
                <a:spcPts val="0"/>
              </a:spcAft>
              <a:buSzPts val="1800"/>
              <a:buAutoNum type="alphaUcPeriod"/>
            </a:pPr>
            <a:r>
              <a:rPr lang="en"/>
              <a:t>Every room in the hotel is less than or equal to $639 per night.</a:t>
            </a:r>
            <a:endParaRPr/>
          </a:p>
        </p:txBody>
      </p:sp>
      <p:pic>
        <p:nvPicPr>
          <p:cNvPr id="362" name="Google Shape;362;p35"/>
          <p:cNvPicPr preferRelativeResize="0"/>
          <p:nvPr/>
        </p:nvPicPr>
        <p:blipFill>
          <a:blip r:embed="rId3">
            <a:alphaModFix/>
          </a:blip>
          <a:stretch>
            <a:fillRect/>
          </a:stretch>
        </p:blipFill>
        <p:spPr>
          <a:xfrm>
            <a:off x="6948067" y="3219792"/>
            <a:ext cx="1746250" cy="1267050"/>
          </a:xfrm>
          <a:prstGeom prst="rect">
            <a:avLst/>
          </a:prstGeom>
          <a:noFill/>
          <a:ln>
            <a:noFill/>
          </a:ln>
        </p:spPr>
      </p:pic>
      <p:sp>
        <p:nvSpPr>
          <p:cNvPr id="363" name="Google Shape;363;p35"/>
          <p:cNvSpPr txBox="1"/>
          <p:nvPr/>
        </p:nvSpPr>
        <p:spPr>
          <a:xfrm>
            <a:off x="6915125" y="4446600"/>
            <a:ext cx="2397000" cy="26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a:t>
            </a:r>
            <a:r>
              <a:rPr lang="en" u="sng">
                <a:solidFill>
                  <a:schemeClr val="hlink"/>
                </a:solidFill>
                <a:hlinkClick r:id="rId4"/>
              </a:rPr>
              <a:t>A nice place to stay!</a:t>
            </a:r>
            <a:r>
              <a:rPr lang="en"/>
              <a:t>)</a:t>
            </a:r>
            <a:endParaRPr/>
          </a:p>
        </p:txBody>
      </p:sp>
      <p:pic>
        <p:nvPicPr>
          <p:cNvPr id="364" name="Google Shape;364;p35"/>
          <p:cNvPicPr preferRelativeResize="0"/>
          <p:nvPr/>
        </p:nvPicPr>
        <p:blipFill>
          <a:blip r:embed="rId5">
            <a:alphaModFix/>
          </a:blip>
          <a:stretch>
            <a:fillRect/>
          </a:stretch>
        </p:blipFill>
        <p:spPr>
          <a:xfrm>
            <a:off x="4498970" y="3270058"/>
            <a:ext cx="2397000" cy="1196268"/>
          </a:xfrm>
          <a:prstGeom prst="rect">
            <a:avLst/>
          </a:prstGeom>
          <a:noFill/>
          <a:ln>
            <a:noFill/>
          </a:ln>
        </p:spPr>
      </p:pic>
      <p:pic>
        <p:nvPicPr>
          <p:cNvPr id="365" name="Google Shape;365;p35"/>
          <p:cNvPicPr preferRelativeResize="0"/>
          <p:nvPr/>
        </p:nvPicPr>
        <p:blipFill>
          <a:blip r:embed="rId5">
            <a:alphaModFix/>
          </a:blip>
          <a:stretch>
            <a:fillRect/>
          </a:stretch>
        </p:blipFill>
        <p:spPr>
          <a:xfrm>
            <a:off x="831425" y="3095907"/>
            <a:ext cx="2397000" cy="1196268"/>
          </a:xfrm>
          <a:prstGeom prst="rect">
            <a:avLst/>
          </a:prstGeom>
          <a:noFill/>
          <a:ln>
            <a:noFill/>
          </a:ln>
        </p:spPr>
      </p:pic>
      <p:sp>
        <p:nvSpPr>
          <p:cNvPr id="366" name="Google Shape;366;p35"/>
          <p:cNvSpPr txBox="1"/>
          <p:nvPr/>
        </p:nvSpPr>
        <p:spPr>
          <a:xfrm>
            <a:off x="678587" y="2680450"/>
            <a:ext cx="2628600" cy="29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Most expensive room: $639/nt</a:t>
            </a:r>
            <a:endParaRPr/>
          </a:p>
        </p:txBody>
      </p:sp>
      <p:sp>
        <p:nvSpPr>
          <p:cNvPr id="367" name="Google Shape;367;p35"/>
          <p:cNvSpPr txBox="1"/>
          <p:nvPr/>
        </p:nvSpPr>
        <p:spPr>
          <a:xfrm>
            <a:off x="5834050" y="2604250"/>
            <a:ext cx="1892100" cy="29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All rooms &lt;= $639/nt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3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BST Height</a:t>
            </a:r>
            <a:endParaRPr/>
          </a:p>
        </p:txBody>
      </p:sp>
      <p:sp>
        <p:nvSpPr>
          <p:cNvPr id="373" name="Google Shape;373;p3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BST height is all four of these:</a:t>
            </a:r>
            <a:endParaRPr/>
          </a:p>
          <a:p>
            <a:pPr indent="-342900" lvl="0" marL="457200" rtl="0" algn="l">
              <a:spcBef>
                <a:spcPts val="600"/>
              </a:spcBef>
              <a:spcAft>
                <a:spcPts val="0"/>
              </a:spcAft>
              <a:buSzPts val="1800"/>
              <a:buChar char="●"/>
            </a:pPr>
            <a:r>
              <a:rPr lang="en"/>
              <a:t>O(N).</a:t>
            </a:r>
            <a:endParaRPr/>
          </a:p>
          <a:p>
            <a:pPr indent="-342900" lvl="0" marL="457200" rtl="0" algn="l">
              <a:spcBef>
                <a:spcPts val="600"/>
              </a:spcBef>
              <a:spcAft>
                <a:spcPts val="0"/>
              </a:spcAft>
              <a:buSzPts val="1800"/>
              <a:buChar char="●"/>
            </a:pPr>
            <a:r>
              <a:rPr lang="en"/>
              <a:t>Θ(log N) in the best case (“bushy”).</a:t>
            </a:r>
            <a:endParaRPr/>
          </a:p>
          <a:p>
            <a:pPr indent="-342900" lvl="0" marL="457200" rtl="0" algn="l">
              <a:spcBef>
                <a:spcPts val="600"/>
              </a:spcBef>
              <a:spcAft>
                <a:spcPts val="0"/>
              </a:spcAft>
              <a:buSzPts val="1800"/>
              <a:buChar char="●"/>
            </a:pPr>
            <a:r>
              <a:rPr lang="en"/>
              <a:t>Θ(N) in the worst case (“spindly”).</a:t>
            </a:r>
            <a:endParaRPr/>
          </a:p>
          <a:p>
            <a:pPr indent="-342900" lvl="0" marL="457200" rtl="0" algn="l">
              <a:spcBef>
                <a:spcPts val="600"/>
              </a:spcBef>
              <a:spcAft>
                <a:spcPts val="0"/>
              </a:spcAft>
              <a:buSzPts val="1800"/>
              <a:buChar char="●"/>
            </a:pPr>
            <a:r>
              <a:rPr lang="en"/>
              <a:t>O(N</a:t>
            </a:r>
            <a:r>
              <a:rPr baseline="30000" lang="en"/>
              <a:t>2</a:t>
            </a:r>
            <a:r>
              <a:rPr lang="en"/>
              <a:t>).</a:t>
            </a:r>
            <a:endParaRPr/>
          </a:p>
          <a:p>
            <a:pPr indent="0" lvl="0" marL="457200" rtl="0" algn="l">
              <a:spcBef>
                <a:spcPts val="600"/>
              </a:spcBef>
              <a:spcAft>
                <a:spcPts val="0"/>
              </a:spcAft>
              <a:buNone/>
            </a:pPr>
            <a:r>
              <a:t/>
            </a:r>
            <a:endParaRPr/>
          </a:p>
          <a:p>
            <a:pPr indent="0" lvl="0" marL="0" rtl="0" algn="l">
              <a:spcBef>
                <a:spcPts val="600"/>
              </a:spcBef>
              <a:spcAft>
                <a:spcPts val="0"/>
              </a:spcAft>
              <a:buNone/>
            </a:pPr>
            <a:r>
              <a:rPr lang="en"/>
              <a:t>The middle two statements are more informative.</a:t>
            </a:r>
            <a:endParaRPr/>
          </a:p>
          <a:p>
            <a:pPr indent="-342900" lvl="0" marL="457200" rtl="0" algn="l">
              <a:spcBef>
                <a:spcPts val="600"/>
              </a:spcBef>
              <a:spcAft>
                <a:spcPts val="0"/>
              </a:spcAft>
              <a:buSzPts val="1800"/>
              <a:buChar char="●"/>
            </a:pPr>
            <a:r>
              <a:rPr lang="en"/>
              <a:t>Big O is NOT mathematically the same thing as “worst case”.</a:t>
            </a:r>
            <a:endParaRPr/>
          </a:p>
          <a:p>
            <a:pPr indent="-342900" lvl="1" marL="914400" rtl="0" algn="l">
              <a:spcBef>
                <a:spcPts val="600"/>
              </a:spcBef>
              <a:spcAft>
                <a:spcPts val="0"/>
              </a:spcAft>
              <a:buSzPts val="1800"/>
              <a:buChar char="○"/>
            </a:pPr>
            <a:r>
              <a:rPr lang="en"/>
              <a:t>e.g. BST heights are O(N</a:t>
            </a:r>
            <a:r>
              <a:rPr baseline="30000" lang="en"/>
              <a:t>2</a:t>
            </a:r>
            <a:r>
              <a:rPr lang="en"/>
              <a:t>), but are not quadratic in the worst case.</a:t>
            </a:r>
            <a:endParaRPr/>
          </a:p>
          <a:p>
            <a:pPr indent="-342900" lvl="1" marL="914400" rtl="0" algn="l">
              <a:spcBef>
                <a:spcPts val="600"/>
              </a:spcBef>
              <a:spcAft>
                <a:spcPts val="0"/>
              </a:spcAft>
              <a:buSzPts val="1800"/>
              <a:buChar char="○"/>
            </a:pPr>
            <a:r>
              <a:rPr lang="en"/>
              <a:t>… but Big O often used as shorthand for “worst case”.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3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Usefulness of Big O</a:t>
            </a:r>
            <a:endParaRPr/>
          </a:p>
        </p:txBody>
      </p:sp>
      <p:sp>
        <p:nvSpPr>
          <p:cNvPr id="379" name="Google Shape;379;p37"/>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Big O is still a useful idea:</a:t>
            </a:r>
            <a:endParaRPr/>
          </a:p>
          <a:p>
            <a:pPr indent="-342900" lvl="0" marL="457200" rtl="0" algn="l">
              <a:spcBef>
                <a:spcPts val="600"/>
              </a:spcBef>
              <a:spcAft>
                <a:spcPts val="0"/>
              </a:spcAft>
              <a:buSzPts val="1800"/>
              <a:buChar char="●"/>
            </a:pPr>
            <a:r>
              <a:rPr lang="en"/>
              <a:t>Allows us to make simple blanket statements, e.g. can just say “binary search is O(log N)” instead of “binary search is Θ(log N) in the worst case”.</a:t>
            </a:r>
            <a:endParaRPr/>
          </a:p>
          <a:p>
            <a:pPr indent="-342900" lvl="0" marL="457200" rtl="0" algn="l">
              <a:spcBef>
                <a:spcPts val="0"/>
              </a:spcBef>
              <a:spcAft>
                <a:spcPts val="0"/>
              </a:spcAft>
              <a:buSzPts val="1800"/>
              <a:buChar char="●"/>
            </a:pPr>
            <a:r>
              <a:rPr lang="en"/>
              <a:t>Sometimes don’t know the exact runtime, so use O to give an upper bound.</a:t>
            </a:r>
            <a:endParaRPr/>
          </a:p>
          <a:p>
            <a:pPr indent="-342900" lvl="1" marL="914400" rtl="0" algn="l">
              <a:spcBef>
                <a:spcPts val="0"/>
              </a:spcBef>
              <a:spcAft>
                <a:spcPts val="0"/>
              </a:spcAft>
              <a:buSzPts val="1800"/>
              <a:buChar char="○"/>
            </a:pPr>
            <a:r>
              <a:rPr lang="en"/>
              <a:t>Example: Runtime for finding shortest route that goes to all world cities is O(2</a:t>
            </a:r>
            <a:r>
              <a:rPr baseline="30000" lang="en"/>
              <a:t>N</a:t>
            </a:r>
            <a:r>
              <a:rPr lang="en"/>
              <a:t>)</a:t>
            </a:r>
            <a:r>
              <a:rPr baseline="30000" lang="en"/>
              <a:t>*</a:t>
            </a:r>
            <a:r>
              <a:rPr lang="en"/>
              <a:t>. There might be a faster way, but nobody knows one yet.</a:t>
            </a:r>
            <a:endParaRPr/>
          </a:p>
          <a:p>
            <a:pPr indent="-342900" lvl="0" marL="457200" rtl="0" algn="l">
              <a:spcBef>
                <a:spcPts val="0"/>
              </a:spcBef>
              <a:spcAft>
                <a:spcPts val="0"/>
              </a:spcAft>
              <a:buSzPts val="1800"/>
              <a:buChar char="●"/>
            </a:pPr>
            <a:r>
              <a:rPr lang="en"/>
              <a:t>Easier to write proofs for Big O than Big Theta, e.g. finding runtime of mergesort, you can round up the number of items to the next power of 2 (see A level study guide problems for Asymptotics2 lecture). A little beyond the scope of our course.</a:t>
            </a:r>
            <a:endParaRPr/>
          </a:p>
        </p:txBody>
      </p:sp>
      <p:sp>
        <p:nvSpPr>
          <p:cNvPr id="380" name="Google Shape;380;p37"/>
          <p:cNvSpPr txBox="1"/>
          <p:nvPr/>
        </p:nvSpPr>
        <p:spPr>
          <a:xfrm>
            <a:off x="4167325" y="4710300"/>
            <a:ext cx="4936200" cy="43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 Under certain assumptions and constraints not listed.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
                                            <p:txEl>
                                              <p:pRg end="0" st="0"/>
                                            </p:txEl>
                                          </p:spTgt>
                                        </p:tgtEl>
                                        <p:attrNameLst>
                                          <p:attrName>style.visibility</p:attrName>
                                        </p:attrNameLst>
                                      </p:cBhvr>
                                      <p:to>
                                        <p:strVal val="visible"/>
                                      </p:to>
                                    </p:set>
                                    <p:animEffect filter="fade" transition="in">
                                      <p:cBhvr>
                                        <p:cTn dur="1"/>
                                        <p:tgtEl>
                                          <p:spTgt spid="37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
                                            <p:txEl>
                                              <p:pRg end="1" st="1"/>
                                            </p:txEl>
                                          </p:spTgt>
                                        </p:tgtEl>
                                        <p:attrNameLst>
                                          <p:attrName>style.visibility</p:attrName>
                                        </p:attrNameLst>
                                      </p:cBhvr>
                                      <p:to>
                                        <p:strVal val="visible"/>
                                      </p:to>
                                    </p:set>
                                    <p:animEffect filter="fade" transition="in">
                                      <p:cBhvr>
                                        <p:cTn dur="1"/>
                                        <p:tgtEl>
                                          <p:spTgt spid="37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
                                            <p:txEl>
                                              <p:pRg end="2" st="2"/>
                                            </p:txEl>
                                          </p:spTgt>
                                        </p:tgtEl>
                                        <p:attrNameLst>
                                          <p:attrName>style.visibility</p:attrName>
                                        </p:attrNameLst>
                                      </p:cBhvr>
                                      <p:to>
                                        <p:strVal val="visible"/>
                                      </p:to>
                                    </p:set>
                                    <p:animEffect filter="fade" transition="in">
                                      <p:cBhvr>
                                        <p:cTn dur="1"/>
                                        <p:tgtEl>
                                          <p:spTgt spid="37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
                                            <p:txEl>
                                              <p:pRg end="3" st="3"/>
                                            </p:txEl>
                                          </p:spTgt>
                                        </p:tgtEl>
                                        <p:attrNameLst>
                                          <p:attrName>style.visibility</p:attrName>
                                        </p:attrNameLst>
                                      </p:cBhvr>
                                      <p:to>
                                        <p:strVal val="visible"/>
                                      </p:to>
                                    </p:set>
                                    <p:animEffect filter="fade" transition="in">
                                      <p:cBhvr>
                                        <p:cTn dur="1"/>
                                        <p:tgtEl>
                                          <p:spTgt spid="37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
                                            <p:txEl>
                                              <p:pRg end="4" st="4"/>
                                            </p:txEl>
                                          </p:spTgt>
                                        </p:tgtEl>
                                        <p:attrNameLst>
                                          <p:attrName>style.visibility</p:attrName>
                                        </p:attrNameLst>
                                      </p:cBhvr>
                                      <p:to>
                                        <p:strVal val="visible"/>
                                      </p:to>
                                    </p:set>
                                    <p:animEffect filter="fade" transition="in">
                                      <p:cBhvr>
                                        <p:cTn dur="1"/>
                                        <p:tgtEl>
                                          <p:spTgt spid="37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0">
                                            <p:txEl>
                                              <p:pRg end="0" st="0"/>
                                            </p:txEl>
                                          </p:spTgt>
                                        </p:tgtEl>
                                        <p:attrNameLst>
                                          <p:attrName>style.visibility</p:attrName>
                                        </p:attrNameLst>
                                      </p:cBhvr>
                                      <p:to>
                                        <p:strVal val="visible"/>
                                      </p:to>
                                    </p:set>
                                    <p:animEffect filter="fade" transition="in">
                                      <p:cBhvr>
                                        <p:cTn dur="1"/>
                                        <p:tgtEl>
                                          <p:spTgt spid="380">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3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BST Height</a:t>
            </a:r>
            <a:endParaRPr/>
          </a:p>
        </p:txBody>
      </p:sp>
      <p:sp>
        <p:nvSpPr>
          <p:cNvPr id="386" name="Google Shape;386;p38"/>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BST height is both of these:</a:t>
            </a:r>
            <a:endParaRPr/>
          </a:p>
          <a:p>
            <a:pPr indent="-342900" lvl="0" marL="457200" rtl="0" algn="l">
              <a:spcBef>
                <a:spcPts val="600"/>
              </a:spcBef>
              <a:spcAft>
                <a:spcPts val="0"/>
              </a:spcAft>
              <a:buSzPts val="1800"/>
              <a:buChar char="●"/>
            </a:pPr>
            <a:r>
              <a:rPr lang="en"/>
              <a:t>Θ(log N) in the best case (“bushy”).</a:t>
            </a:r>
            <a:endParaRPr/>
          </a:p>
          <a:p>
            <a:pPr indent="-342900" lvl="0" marL="457200" rtl="0" algn="l">
              <a:spcBef>
                <a:spcPts val="600"/>
              </a:spcBef>
              <a:spcAft>
                <a:spcPts val="0"/>
              </a:spcAft>
              <a:buSzPts val="1800"/>
              <a:buChar char="●"/>
            </a:pPr>
            <a:r>
              <a:rPr lang="en"/>
              <a:t>Θ(N) in the worst case (“spindly”).</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Let’s now turn to understanding the performance of BST operations.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39"/>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b="1" lang="en">
                <a:solidFill>
                  <a:schemeClr val="accent3"/>
                </a:solidFill>
                <a:latin typeface="Roboto"/>
                <a:ea typeface="Roboto"/>
                <a:cs typeface="Roboto"/>
                <a:sym typeface="Roboto"/>
              </a:rPr>
              <a:t>Binary Search Trees</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BST Height, Big O vs. Worst Case Big Theta</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Worst Case Performance</a:t>
            </a:r>
            <a:endParaRPr b="1">
              <a:solidFill>
                <a:schemeClr val="accent3"/>
              </a:solidFill>
              <a:latin typeface="Roboto"/>
              <a:ea typeface="Roboto"/>
              <a:cs typeface="Roboto"/>
              <a:sym typeface="Roboto"/>
            </a:endParaRPr>
          </a:p>
          <a:p>
            <a:pPr indent="0" lvl="0" marL="0" rtl="0" algn="l">
              <a:spcBef>
                <a:spcPts val="600"/>
              </a:spcBef>
              <a:spcAft>
                <a:spcPts val="0"/>
              </a:spcAft>
              <a:buNone/>
            </a:pPr>
            <a:r>
              <a:rPr lang="en">
                <a:solidFill>
                  <a:srgbClr val="B7B7B7"/>
                </a:solidFill>
              </a:rPr>
              <a:t>B-Trees</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Splitting Juicy Nodes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Chain Reaction Splitting</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B-Tree Terminology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Invariants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Worst Case Performance</a:t>
            </a:r>
            <a:endParaRPr>
              <a:solidFill>
                <a:srgbClr val="B7B7B7"/>
              </a:solidFill>
            </a:endParaRPr>
          </a:p>
        </p:txBody>
      </p:sp>
      <p:sp>
        <p:nvSpPr>
          <p:cNvPr id="392" name="Google Shape;392;p39"/>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Worst Case Performance</a:t>
            </a:r>
            <a:endParaRPr/>
          </a:p>
        </p:txBody>
      </p:sp>
      <p:sp>
        <p:nvSpPr>
          <p:cNvPr id="393" name="Google Shape;393;p39"/>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17, CS61B, Fall 2023</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4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Height and Depth</a:t>
            </a:r>
            <a:endParaRPr/>
          </a:p>
        </p:txBody>
      </p:sp>
      <p:sp>
        <p:nvSpPr>
          <p:cNvPr id="399" name="Google Shape;399;p40"/>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Height and average depth are important properties of BSTs.</a:t>
            </a:r>
            <a:endParaRPr/>
          </a:p>
          <a:p>
            <a:pPr indent="-342900" lvl="0" marL="457200" rtl="0" algn="l">
              <a:spcBef>
                <a:spcPts val="600"/>
              </a:spcBef>
              <a:spcAft>
                <a:spcPts val="0"/>
              </a:spcAft>
              <a:buSzPts val="1800"/>
              <a:buChar char="●"/>
            </a:pPr>
            <a:r>
              <a:rPr lang="en"/>
              <a:t>The </a:t>
            </a:r>
            <a:r>
              <a:rPr b="1" lang="en"/>
              <a:t>“depth” of a node</a:t>
            </a:r>
            <a:r>
              <a:rPr lang="en"/>
              <a:t> is how far it is from the root, e.g. depth(g) = 2.</a:t>
            </a:r>
            <a:endParaRPr/>
          </a:p>
        </p:txBody>
      </p:sp>
      <p:sp>
        <p:nvSpPr>
          <p:cNvPr id="400" name="Google Shape;400;p40"/>
          <p:cNvSpPr/>
          <p:nvPr/>
        </p:nvSpPr>
        <p:spPr>
          <a:xfrm>
            <a:off x="5742975" y="3465300"/>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v</a:t>
            </a:r>
            <a:endParaRPr/>
          </a:p>
        </p:txBody>
      </p:sp>
      <p:sp>
        <p:nvSpPr>
          <p:cNvPr id="401" name="Google Shape;401;p40"/>
          <p:cNvSpPr/>
          <p:nvPr/>
        </p:nvSpPr>
        <p:spPr>
          <a:xfrm>
            <a:off x="5285775" y="3882698"/>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a:t>
            </a:r>
            <a:endParaRPr/>
          </a:p>
        </p:txBody>
      </p:sp>
      <p:sp>
        <p:nvSpPr>
          <p:cNvPr id="402" name="Google Shape;402;p40"/>
          <p:cNvSpPr/>
          <p:nvPr/>
        </p:nvSpPr>
        <p:spPr>
          <a:xfrm>
            <a:off x="6200175" y="3882698"/>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y</a:t>
            </a:r>
            <a:endParaRPr/>
          </a:p>
        </p:txBody>
      </p:sp>
      <p:sp>
        <p:nvSpPr>
          <p:cNvPr id="403" name="Google Shape;403;p40"/>
          <p:cNvSpPr/>
          <p:nvPr/>
        </p:nvSpPr>
        <p:spPr>
          <a:xfrm>
            <a:off x="5507118" y="4314742"/>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a:t>
            </a:r>
            <a:endParaRPr/>
          </a:p>
        </p:txBody>
      </p:sp>
      <p:sp>
        <p:nvSpPr>
          <p:cNvPr id="404" name="Google Shape;404;p40"/>
          <p:cNvSpPr/>
          <p:nvPr/>
        </p:nvSpPr>
        <p:spPr>
          <a:xfrm>
            <a:off x="6457364" y="4314742"/>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z</a:t>
            </a:r>
            <a:endParaRPr/>
          </a:p>
        </p:txBody>
      </p:sp>
      <p:cxnSp>
        <p:nvCxnSpPr>
          <p:cNvPr id="405" name="Google Shape;405;p40"/>
          <p:cNvCxnSpPr>
            <a:stCxn id="401" idx="0"/>
            <a:endCxn id="400" idx="2"/>
          </p:cNvCxnSpPr>
          <p:nvPr/>
        </p:nvCxnSpPr>
        <p:spPr>
          <a:xfrm flipH="1" rot="10800000">
            <a:off x="5452725" y="3729698"/>
            <a:ext cx="457200" cy="153000"/>
          </a:xfrm>
          <a:prstGeom prst="straightConnector1">
            <a:avLst/>
          </a:prstGeom>
          <a:noFill/>
          <a:ln cap="flat" cmpd="sng" w="19050">
            <a:solidFill>
              <a:srgbClr val="666666"/>
            </a:solidFill>
            <a:prstDash val="solid"/>
            <a:round/>
            <a:headEnd len="med" w="med" type="none"/>
            <a:tailEnd len="med" w="med" type="none"/>
          </a:ln>
        </p:spPr>
      </p:cxnSp>
      <p:cxnSp>
        <p:nvCxnSpPr>
          <p:cNvPr id="406" name="Google Shape;406;p40"/>
          <p:cNvCxnSpPr>
            <a:stCxn id="402" idx="0"/>
            <a:endCxn id="400" idx="2"/>
          </p:cNvCxnSpPr>
          <p:nvPr/>
        </p:nvCxnSpPr>
        <p:spPr>
          <a:xfrm rot="10800000">
            <a:off x="5909925" y="3729698"/>
            <a:ext cx="457200" cy="153000"/>
          </a:xfrm>
          <a:prstGeom prst="straightConnector1">
            <a:avLst/>
          </a:prstGeom>
          <a:noFill/>
          <a:ln cap="flat" cmpd="sng" w="19050">
            <a:solidFill>
              <a:srgbClr val="666666"/>
            </a:solidFill>
            <a:prstDash val="solid"/>
            <a:round/>
            <a:headEnd len="med" w="med" type="none"/>
            <a:tailEnd len="med" w="med" type="none"/>
          </a:ln>
        </p:spPr>
      </p:cxnSp>
      <p:cxnSp>
        <p:nvCxnSpPr>
          <p:cNvPr id="407" name="Google Shape;407;p40"/>
          <p:cNvCxnSpPr>
            <a:stCxn id="401" idx="2"/>
            <a:endCxn id="403" idx="0"/>
          </p:cNvCxnSpPr>
          <p:nvPr/>
        </p:nvCxnSpPr>
        <p:spPr>
          <a:xfrm>
            <a:off x="5452725" y="4146998"/>
            <a:ext cx="221400" cy="167700"/>
          </a:xfrm>
          <a:prstGeom prst="straightConnector1">
            <a:avLst/>
          </a:prstGeom>
          <a:noFill/>
          <a:ln cap="flat" cmpd="sng" w="19050">
            <a:solidFill>
              <a:srgbClr val="666666"/>
            </a:solidFill>
            <a:prstDash val="solid"/>
            <a:round/>
            <a:headEnd len="med" w="med" type="none"/>
            <a:tailEnd len="med" w="med" type="none"/>
          </a:ln>
        </p:spPr>
      </p:cxnSp>
      <p:cxnSp>
        <p:nvCxnSpPr>
          <p:cNvPr id="408" name="Google Shape;408;p40"/>
          <p:cNvCxnSpPr>
            <a:stCxn id="402" idx="2"/>
            <a:endCxn id="404" idx="0"/>
          </p:cNvCxnSpPr>
          <p:nvPr/>
        </p:nvCxnSpPr>
        <p:spPr>
          <a:xfrm>
            <a:off x="6367125" y="4146998"/>
            <a:ext cx="257100" cy="167700"/>
          </a:xfrm>
          <a:prstGeom prst="straightConnector1">
            <a:avLst/>
          </a:prstGeom>
          <a:noFill/>
          <a:ln cap="flat" cmpd="sng" w="19050">
            <a:solidFill>
              <a:srgbClr val="666666"/>
            </a:solidFill>
            <a:prstDash val="solid"/>
            <a:round/>
            <a:headEnd len="med" w="med" type="none"/>
            <a:tailEnd len="med" w="med" type="none"/>
          </a:ln>
        </p:spPr>
      </p:cxnSp>
      <p:sp>
        <p:nvSpPr>
          <p:cNvPr id="409" name="Google Shape;409;p40"/>
          <p:cNvSpPr/>
          <p:nvPr/>
        </p:nvSpPr>
        <p:spPr>
          <a:xfrm>
            <a:off x="4774975" y="3037013"/>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k</a:t>
            </a:r>
            <a:endParaRPr/>
          </a:p>
        </p:txBody>
      </p:sp>
      <p:cxnSp>
        <p:nvCxnSpPr>
          <p:cNvPr id="410" name="Google Shape;410;p40"/>
          <p:cNvCxnSpPr>
            <a:stCxn id="409" idx="2"/>
            <a:endCxn id="411" idx="0"/>
          </p:cNvCxnSpPr>
          <p:nvPr/>
        </p:nvCxnSpPr>
        <p:spPr>
          <a:xfrm flipH="1">
            <a:off x="3973825" y="3301313"/>
            <a:ext cx="968100" cy="157500"/>
          </a:xfrm>
          <a:prstGeom prst="straightConnector1">
            <a:avLst/>
          </a:prstGeom>
          <a:noFill/>
          <a:ln cap="flat" cmpd="sng" w="19050">
            <a:solidFill>
              <a:srgbClr val="666666"/>
            </a:solidFill>
            <a:prstDash val="solid"/>
            <a:round/>
            <a:headEnd len="med" w="med" type="none"/>
            <a:tailEnd len="med" w="med" type="none"/>
          </a:ln>
        </p:spPr>
      </p:cxnSp>
      <p:cxnSp>
        <p:nvCxnSpPr>
          <p:cNvPr id="412" name="Google Shape;412;p40"/>
          <p:cNvCxnSpPr>
            <a:stCxn id="409" idx="2"/>
            <a:endCxn id="400" idx="0"/>
          </p:cNvCxnSpPr>
          <p:nvPr/>
        </p:nvCxnSpPr>
        <p:spPr>
          <a:xfrm>
            <a:off x="4941925" y="3301313"/>
            <a:ext cx="968100" cy="164100"/>
          </a:xfrm>
          <a:prstGeom prst="straightConnector1">
            <a:avLst/>
          </a:prstGeom>
          <a:noFill/>
          <a:ln cap="flat" cmpd="sng" w="19050">
            <a:solidFill>
              <a:srgbClr val="666666"/>
            </a:solidFill>
            <a:prstDash val="solid"/>
            <a:round/>
            <a:headEnd len="med" w="med" type="none"/>
            <a:tailEnd len="med" w="med" type="none"/>
          </a:ln>
        </p:spPr>
      </p:cxnSp>
      <p:sp>
        <p:nvSpPr>
          <p:cNvPr id="411" name="Google Shape;411;p40"/>
          <p:cNvSpPr/>
          <p:nvPr/>
        </p:nvSpPr>
        <p:spPr>
          <a:xfrm>
            <a:off x="3806975" y="3458676"/>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e</a:t>
            </a:r>
            <a:endParaRPr/>
          </a:p>
        </p:txBody>
      </p:sp>
      <p:sp>
        <p:nvSpPr>
          <p:cNvPr id="413" name="Google Shape;413;p40"/>
          <p:cNvSpPr/>
          <p:nvPr/>
        </p:nvSpPr>
        <p:spPr>
          <a:xfrm>
            <a:off x="3349775" y="3876074"/>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a:t>
            </a:r>
            <a:endParaRPr/>
          </a:p>
        </p:txBody>
      </p:sp>
      <p:sp>
        <p:nvSpPr>
          <p:cNvPr id="414" name="Google Shape;414;p40"/>
          <p:cNvSpPr/>
          <p:nvPr/>
        </p:nvSpPr>
        <p:spPr>
          <a:xfrm>
            <a:off x="4264175" y="3876074"/>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g</a:t>
            </a:r>
            <a:endParaRPr/>
          </a:p>
        </p:txBody>
      </p:sp>
      <p:sp>
        <p:nvSpPr>
          <p:cNvPr id="415" name="Google Shape;415;p40"/>
          <p:cNvSpPr/>
          <p:nvPr/>
        </p:nvSpPr>
        <p:spPr>
          <a:xfrm>
            <a:off x="3092575" y="4302200"/>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a:t>
            </a:r>
            <a:endParaRPr/>
          </a:p>
        </p:txBody>
      </p:sp>
      <p:sp>
        <p:nvSpPr>
          <p:cNvPr id="416" name="Google Shape;416;p40"/>
          <p:cNvSpPr/>
          <p:nvPr/>
        </p:nvSpPr>
        <p:spPr>
          <a:xfrm>
            <a:off x="3571118" y="4308118"/>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t>
            </a:r>
            <a:endParaRPr/>
          </a:p>
        </p:txBody>
      </p:sp>
      <p:sp>
        <p:nvSpPr>
          <p:cNvPr id="417" name="Google Shape;417;p40"/>
          <p:cNvSpPr/>
          <p:nvPr/>
        </p:nvSpPr>
        <p:spPr>
          <a:xfrm>
            <a:off x="4014400" y="4308118"/>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f</a:t>
            </a:r>
            <a:endParaRPr/>
          </a:p>
        </p:txBody>
      </p:sp>
      <p:sp>
        <p:nvSpPr>
          <p:cNvPr id="418" name="Google Shape;418;p40"/>
          <p:cNvSpPr/>
          <p:nvPr/>
        </p:nvSpPr>
        <p:spPr>
          <a:xfrm>
            <a:off x="4521364" y="4308118"/>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j</a:t>
            </a:r>
            <a:endParaRPr/>
          </a:p>
        </p:txBody>
      </p:sp>
      <p:cxnSp>
        <p:nvCxnSpPr>
          <p:cNvPr id="419" name="Google Shape;419;p40"/>
          <p:cNvCxnSpPr>
            <a:stCxn id="413" idx="0"/>
            <a:endCxn id="411" idx="2"/>
          </p:cNvCxnSpPr>
          <p:nvPr/>
        </p:nvCxnSpPr>
        <p:spPr>
          <a:xfrm flipH="1" rot="10800000">
            <a:off x="3516725" y="3723074"/>
            <a:ext cx="457200" cy="153000"/>
          </a:xfrm>
          <a:prstGeom prst="straightConnector1">
            <a:avLst/>
          </a:prstGeom>
          <a:noFill/>
          <a:ln cap="flat" cmpd="sng" w="19050">
            <a:solidFill>
              <a:srgbClr val="666666"/>
            </a:solidFill>
            <a:prstDash val="solid"/>
            <a:round/>
            <a:headEnd len="med" w="med" type="none"/>
            <a:tailEnd len="med" w="med" type="none"/>
          </a:ln>
        </p:spPr>
      </p:cxnSp>
      <p:cxnSp>
        <p:nvCxnSpPr>
          <p:cNvPr id="420" name="Google Shape;420;p40"/>
          <p:cNvCxnSpPr>
            <a:stCxn id="414" idx="0"/>
            <a:endCxn id="411" idx="2"/>
          </p:cNvCxnSpPr>
          <p:nvPr/>
        </p:nvCxnSpPr>
        <p:spPr>
          <a:xfrm rot="10800000">
            <a:off x="3973925" y="3723074"/>
            <a:ext cx="457200" cy="153000"/>
          </a:xfrm>
          <a:prstGeom prst="straightConnector1">
            <a:avLst/>
          </a:prstGeom>
          <a:noFill/>
          <a:ln cap="flat" cmpd="sng" w="19050">
            <a:solidFill>
              <a:srgbClr val="666666"/>
            </a:solidFill>
            <a:prstDash val="solid"/>
            <a:round/>
            <a:headEnd len="med" w="med" type="none"/>
            <a:tailEnd len="med" w="med" type="none"/>
          </a:ln>
        </p:spPr>
      </p:cxnSp>
      <p:cxnSp>
        <p:nvCxnSpPr>
          <p:cNvPr id="421" name="Google Shape;421;p40"/>
          <p:cNvCxnSpPr>
            <a:stCxn id="415" idx="0"/>
            <a:endCxn id="413" idx="2"/>
          </p:cNvCxnSpPr>
          <p:nvPr/>
        </p:nvCxnSpPr>
        <p:spPr>
          <a:xfrm flipH="1" rot="10800000">
            <a:off x="3259525" y="4140500"/>
            <a:ext cx="257100" cy="161700"/>
          </a:xfrm>
          <a:prstGeom prst="straightConnector1">
            <a:avLst/>
          </a:prstGeom>
          <a:noFill/>
          <a:ln cap="flat" cmpd="sng" w="19050">
            <a:solidFill>
              <a:srgbClr val="666666"/>
            </a:solidFill>
            <a:prstDash val="solid"/>
            <a:round/>
            <a:headEnd len="med" w="med" type="none"/>
            <a:tailEnd len="med" w="med" type="none"/>
          </a:ln>
        </p:spPr>
      </p:cxnSp>
      <p:cxnSp>
        <p:nvCxnSpPr>
          <p:cNvPr id="422" name="Google Shape;422;p40"/>
          <p:cNvCxnSpPr>
            <a:stCxn id="413" idx="2"/>
            <a:endCxn id="416" idx="0"/>
          </p:cNvCxnSpPr>
          <p:nvPr/>
        </p:nvCxnSpPr>
        <p:spPr>
          <a:xfrm>
            <a:off x="3516725" y="4140374"/>
            <a:ext cx="221400" cy="167700"/>
          </a:xfrm>
          <a:prstGeom prst="straightConnector1">
            <a:avLst/>
          </a:prstGeom>
          <a:noFill/>
          <a:ln cap="flat" cmpd="sng" w="19050">
            <a:solidFill>
              <a:srgbClr val="666666"/>
            </a:solidFill>
            <a:prstDash val="solid"/>
            <a:round/>
            <a:headEnd len="med" w="med" type="none"/>
            <a:tailEnd len="med" w="med" type="none"/>
          </a:ln>
        </p:spPr>
      </p:cxnSp>
      <p:cxnSp>
        <p:nvCxnSpPr>
          <p:cNvPr id="423" name="Google Shape;423;p40"/>
          <p:cNvCxnSpPr>
            <a:stCxn id="414" idx="2"/>
            <a:endCxn id="417" idx="0"/>
          </p:cNvCxnSpPr>
          <p:nvPr/>
        </p:nvCxnSpPr>
        <p:spPr>
          <a:xfrm flipH="1">
            <a:off x="4181225" y="4140374"/>
            <a:ext cx="249900" cy="167700"/>
          </a:xfrm>
          <a:prstGeom prst="straightConnector1">
            <a:avLst/>
          </a:prstGeom>
          <a:noFill/>
          <a:ln cap="flat" cmpd="sng" w="19050">
            <a:solidFill>
              <a:srgbClr val="666666"/>
            </a:solidFill>
            <a:prstDash val="solid"/>
            <a:round/>
            <a:headEnd len="med" w="med" type="none"/>
            <a:tailEnd len="med" w="med" type="none"/>
          </a:ln>
        </p:spPr>
      </p:cxnSp>
      <p:cxnSp>
        <p:nvCxnSpPr>
          <p:cNvPr id="424" name="Google Shape;424;p40"/>
          <p:cNvCxnSpPr>
            <a:stCxn id="414" idx="2"/>
            <a:endCxn id="418" idx="0"/>
          </p:cNvCxnSpPr>
          <p:nvPr/>
        </p:nvCxnSpPr>
        <p:spPr>
          <a:xfrm>
            <a:off x="4431125" y="4140374"/>
            <a:ext cx="257100" cy="167700"/>
          </a:xfrm>
          <a:prstGeom prst="straightConnector1">
            <a:avLst/>
          </a:prstGeom>
          <a:noFill/>
          <a:ln cap="flat" cmpd="sng" w="19050">
            <a:solidFill>
              <a:srgbClr val="666666"/>
            </a:solidFill>
            <a:prstDash val="solid"/>
            <a:round/>
            <a:headEnd len="med" w="med" type="none"/>
            <a:tailEnd len="med" w="med" type="none"/>
          </a:ln>
        </p:spPr>
      </p:cxnSp>
      <p:sp>
        <p:nvSpPr>
          <p:cNvPr id="425" name="Google Shape;425;p40"/>
          <p:cNvSpPr/>
          <p:nvPr/>
        </p:nvSpPr>
        <p:spPr>
          <a:xfrm>
            <a:off x="5697268" y="4724807"/>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a:t>
            </a:r>
            <a:endParaRPr/>
          </a:p>
        </p:txBody>
      </p:sp>
      <p:cxnSp>
        <p:nvCxnSpPr>
          <p:cNvPr id="426" name="Google Shape;426;p40"/>
          <p:cNvCxnSpPr>
            <a:stCxn id="403" idx="2"/>
            <a:endCxn id="425" idx="0"/>
          </p:cNvCxnSpPr>
          <p:nvPr/>
        </p:nvCxnSpPr>
        <p:spPr>
          <a:xfrm>
            <a:off x="5674068" y="4579042"/>
            <a:ext cx="190200" cy="145800"/>
          </a:xfrm>
          <a:prstGeom prst="straightConnector1">
            <a:avLst/>
          </a:prstGeom>
          <a:noFill/>
          <a:ln cap="flat" cmpd="sng" w="19050">
            <a:solidFill>
              <a:srgbClr val="666666"/>
            </a:solidFill>
            <a:prstDash val="solid"/>
            <a:round/>
            <a:headEnd len="med" w="med" type="none"/>
            <a:tailEnd len="med" w="med" type="none"/>
          </a:ln>
        </p:spPr>
      </p:cxnSp>
      <p:grpSp>
        <p:nvGrpSpPr>
          <p:cNvPr id="427" name="Google Shape;427;p40"/>
          <p:cNvGrpSpPr/>
          <p:nvPr/>
        </p:nvGrpSpPr>
        <p:grpSpPr>
          <a:xfrm>
            <a:off x="1397366" y="2992170"/>
            <a:ext cx="3377700" cy="354000"/>
            <a:chOff x="1397366" y="2992170"/>
            <a:chExt cx="3377700" cy="354000"/>
          </a:xfrm>
        </p:grpSpPr>
        <p:cxnSp>
          <p:nvCxnSpPr>
            <p:cNvPr id="428" name="Google Shape;428;p40"/>
            <p:cNvCxnSpPr>
              <a:stCxn id="429" idx="3"/>
              <a:endCxn id="409" idx="1"/>
            </p:cNvCxnSpPr>
            <p:nvPr/>
          </p:nvCxnSpPr>
          <p:spPr>
            <a:xfrm>
              <a:off x="2267966" y="3169170"/>
              <a:ext cx="2507100" cy="0"/>
            </a:xfrm>
            <a:prstGeom prst="straightConnector1">
              <a:avLst/>
            </a:prstGeom>
            <a:noFill/>
            <a:ln cap="flat" cmpd="sng" w="9525">
              <a:solidFill>
                <a:srgbClr val="666666"/>
              </a:solidFill>
              <a:prstDash val="solid"/>
              <a:round/>
              <a:headEnd len="med" w="med" type="none"/>
              <a:tailEnd len="med" w="med" type="triangle"/>
            </a:ln>
          </p:spPr>
        </p:cxnSp>
        <p:sp>
          <p:nvSpPr>
            <p:cNvPr id="429" name="Google Shape;429;p40"/>
            <p:cNvSpPr txBox="1"/>
            <p:nvPr/>
          </p:nvSpPr>
          <p:spPr>
            <a:xfrm>
              <a:off x="1397366" y="2992170"/>
              <a:ext cx="870600" cy="35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depth 0</a:t>
              </a:r>
              <a:endParaRPr/>
            </a:p>
          </p:txBody>
        </p:sp>
      </p:grpSp>
      <p:grpSp>
        <p:nvGrpSpPr>
          <p:cNvPr id="430" name="Google Shape;430;p40"/>
          <p:cNvGrpSpPr/>
          <p:nvPr/>
        </p:nvGrpSpPr>
        <p:grpSpPr>
          <a:xfrm>
            <a:off x="1397366" y="3414114"/>
            <a:ext cx="2409600" cy="354000"/>
            <a:chOff x="1397366" y="3414114"/>
            <a:chExt cx="2409600" cy="354000"/>
          </a:xfrm>
        </p:grpSpPr>
        <p:cxnSp>
          <p:nvCxnSpPr>
            <p:cNvPr id="431" name="Google Shape;431;p40"/>
            <p:cNvCxnSpPr>
              <a:stCxn id="432" idx="3"/>
              <a:endCxn id="411" idx="1"/>
            </p:cNvCxnSpPr>
            <p:nvPr/>
          </p:nvCxnSpPr>
          <p:spPr>
            <a:xfrm flipH="1" rot="10800000">
              <a:off x="2267966" y="3590814"/>
              <a:ext cx="1539000" cy="300"/>
            </a:xfrm>
            <a:prstGeom prst="straightConnector1">
              <a:avLst/>
            </a:prstGeom>
            <a:noFill/>
            <a:ln cap="flat" cmpd="sng" w="9525">
              <a:solidFill>
                <a:srgbClr val="666666"/>
              </a:solidFill>
              <a:prstDash val="solid"/>
              <a:round/>
              <a:headEnd len="med" w="med" type="none"/>
              <a:tailEnd len="med" w="med" type="triangle"/>
            </a:ln>
          </p:spPr>
        </p:cxnSp>
        <p:sp>
          <p:nvSpPr>
            <p:cNvPr id="432" name="Google Shape;432;p40"/>
            <p:cNvSpPr txBox="1"/>
            <p:nvPr/>
          </p:nvSpPr>
          <p:spPr>
            <a:xfrm>
              <a:off x="1397366" y="3414114"/>
              <a:ext cx="870600" cy="35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depth 1</a:t>
              </a:r>
              <a:endParaRPr/>
            </a:p>
          </p:txBody>
        </p:sp>
      </p:grpSp>
      <p:grpSp>
        <p:nvGrpSpPr>
          <p:cNvPr id="433" name="Google Shape;433;p40"/>
          <p:cNvGrpSpPr/>
          <p:nvPr/>
        </p:nvGrpSpPr>
        <p:grpSpPr>
          <a:xfrm>
            <a:off x="1397366" y="3836058"/>
            <a:ext cx="1952400" cy="354000"/>
            <a:chOff x="1397366" y="3836058"/>
            <a:chExt cx="1952400" cy="354000"/>
          </a:xfrm>
        </p:grpSpPr>
        <p:cxnSp>
          <p:nvCxnSpPr>
            <p:cNvPr id="434" name="Google Shape;434;p40"/>
            <p:cNvCxnSpPr>
              <a:stCxn id="435" idx="3"/>
              <a:endCxn id="413" idx="1"/>
            </p:cNvCxnSpPr>
            <p:nvPr/>
          </p:nvCxnSpPr>
          <p:spPr>
            <a:xfrm flipH="1" rot="10800000">
              <a:off x="2267966" y="4008258"/>
              <a:ext cx="1081800" cy="4800"/>
            </a:xfrm>
            <a:prstGeom prst="straightConnector1">
              <a:avLst/>
            </a:prstGeom>
            <a:noFill/>
            <a:ln cap="flat" cmpd="sng" w="9525">
              <a:solidFill>
                <a:schemeClr val="dk2"/>
              </a:solidFill>
              <a:prstDash val="solid"/>
              <a:round/>
              <a:headEnd len="med" w="med" type="none"/>
              <a:tailEnd len="med" w="med" type="triangle"/>
            </a:ln>
          </p:spPr>
        </p:cxnSp>
        <p:sp>
          <p:nvSpPr>
            <p:cNvPr id="435" name="Google Shape;435;p40"/>
            <p:cNvSpPr txBox="1"/>
            <p:nvPr/>
          </p:nvSpPr>
          <p:spPr>
            <a:xfrm>
              <a:off x="1397366" y="3836058"/>
              <a:ext cx="870600" cy="35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depth 2</a:t>
              </a:r>
              <a:endParaRPr/>
            </a:p>
          </p:txBody>
        </p:sp>
      </p:grpSp>
      <p:grpSp>
        <p:nvGrpSpPr>
          <p:cNvPr id="436" name="Google Shape;436;p40"/>
          <p:cNvGrpSpPr/>
          <p:nvPr/>
        </p:nvGrpSpPr>
        <p:grpSpPr>
          <a:xfrm>
            <a:off x="1397366" y="4258002"/>
            <a:ext cx="1695300" cy="354000"/>
            <a:chOff x="1397366" y="4258002"/>
            <a:chExt cx="1695300" cy="354000"/>
          </a:xfrm>
        </p:grpSpPr>
        <p:cxnSp>
          <p:nvCxnSpPr>
            <p:cNvPr id="437" name="Google Shape;437;p40"/>
            <p:cNvCxnSpPr>
              <a:stCxn id="438" idx="3"/>
              <a:endCxn id="415" idx="1"/>
            </p:cNvCxnSpPr>
            <p:nvPr/>
          </p:nvCxnSpPr>
          <p:spPr>
            <a:xfrm flipH="1" rot="10800000">
              <a:off x="2267966" y="4434402"/>
              <a:ext cx="824700" cy="600"/>
            </a:xfrm>
            <a:prstGeom prst="straightConnector1">
              <a:avLst/>
            </a:prstGeom>
            <a:noFill/>
            <a:ln cap="flat" cmpd="sng" w="9525">
              <a:solidFill>
                <a:schemeClr val="dk2"/>
              </a:solidFill>
              <a:prstDash val="solid"/>
              <a:round/>
              <a:headEnd len="med" w="med" type="none"/>
              <a:tailEnd len="med" w="med" type="triangle"/>
            </a:ln>
          </p:spPr>
        </p:cxnSp>
        <p:sp>
          <p:nvSpPr>
            <p:cNvPr id="438" name="Google Shape;438;p40"/>
            <p:cNvSpPr txBox="1"/>
            <p:nvPr/>
          </p:nvSpPr>
          <p:spPr>
            <a:xfrm>
              <a:off x="1397366" y="4258002"/>
              <a:ext cx="870600" cy="35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depth 3</a:t>
              </a:r>
              <a:endParaRPr/>
            </a:p>
          </p:txBody>
        </p:sp>
      </p:grpSp>
      <p:grpSp>
        <p:nvGrpSpPr>
          <p:cNvPr id="439" name="Google Shape;439;p40"/>
          <p:cNvGrpSpPr/>
          <p:nvPr/>
        </p:nvGrpSpPr>
        <p:grpSpPr>
          <a:xfrm>
            <a:off x="1397366" y="4679945"/>
            <a:ext cx="4299900" cy="354000"/>
            <a:chOff x="1397366" y="4679945"/>
            <a:chExt cx="4299900" cy="354000"/>
          </a:xfrm>
        </p:grpSpPr>
        <p:cxnSp>
          <p:nvCxnSpPr>
            <p:cNvPr id="440" name="Google Shape;440;p40"/>
            <p:cNvCxnSpPr>
              <a:stCxn id="441" idx="3"/>
              <a:endCxn id="425" idx="1"/>
            </p:cNvCxnSpPr>
            <p:nvPr/>
          </p:nvCxnSpPr>
          <p:spPr>
            <a:xfrm>
              <a:off x="2267966" y="4856945"/>
              <a:ext cx="3429300" cy="0"/>
            </a:xfrm>
            <a:prstGeom prst="straightConnector1">
              <a:avLst/>
            </a:prstGeom>
            <a:noFill/>
            <a:ln cap="flat" cmpd="sng" w="9525">
              <a:solidFill>
                <a:schemeClr val="dk2"/>
              </a:solidFill>
              <a:prstDash val="solid"/>
              <a:round/>
              <a:headEnd len="med" w="med" type="none"/>
              <a:tailEnd len="med" w="med" type="triangle"/>
            </a:ln>
          </p:spPr>
        </p:cxnSp>
        <p:sp>
          <p:nvSpPr>
            <p:cNvPr id="441" name="Google Shape;441;p40"/>
            <p:cNvSpPr txBox="1"/>
            <p:nvPr/>
          </p:nvSpPr>
          <p:spPr>
            <a:xfrm>
              <a:off x="1397366" y="4679945"/>
              <a:ext cx="870600" cy="35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depth 4</a:t>
              </a:r>
              <a:endParaRPr/>
            </a:p>
          </p:txBody>
        </p:sp>
      </p:grpSp>
      <p:grpSp>
        <p:nvGrpSpPr>
          <p:cNvPr id="442" name="Google Shape;442;p40"/>
          <p:cNvGrpSpPr/>
          <p:nvPr/>
        </p:nvGrpSpPr>
        <p:grpSpPr>
          <a:xfrm>
            <a:off x="274925" y="3089891"/>
            <a:ext cx="1153189" cy="1902300"/>
            <a:chOff x="274925" y="3089891"/>
            <a:chExt cx="1153189" cy="1902300"/>
          </a:xfrm>
        </p:grpSpPr>
        <p:sp>
          <p:nvSpPr>
            <p:cNvPr id="443" name="Google Shape;443;p40"/>
            <p:cNvSpPr/>
            <p:nvPr/>
          </p:nvSpPr>
          <p:spPr>
            <a:xfrm>
              <a:off x="1178214" y="3089891"/>
              <a:ext cx="249900" cy="1902300"/>
            </a:xfrm>
            <a:prstGeom prst="leftBrace">
              <a:avLst>
                <a:gd fmla="val 8333" name="adj1"/>
                <a:gd fmla="val 50000" name="adj2"/>
              </a:avLst>
            </a:prstGeom>
            <a:no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40"/>
            <p:cNvSpPr txBox="1"/>
            <p:nvPr/>
          </p:nvSpPr>
          <p:spPr>
            <a:xfrm>
              <a:off x="274925" y="3823439"/>
              <a:ext cx="903900" cy="32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height 4</a:t>
              </a:r>
              <a:endParaRPr/>
            </a:p>
          </p:txBody>
        </p:sp>
      </p:grpSp>
      <p:sp>
        <p:nvSpPr>
          <p:cNvPr id="445" name="Google Shape;445;p40"/>
          <p:cNvSpPr txBox="1"/>
          <p:nvPr/>
        </p:nvSpPr>
        <p:spPr>
          <a:xfrm>
            <a:off x="248425" y="1248927"/>
            <a:ext cx="8939100" cy="1841100"/>
          </a:xfrm>
          <a:prstGeom prst="rect">
            <a:avLst/>
          </a:prstGeom>
          <a:noFill/>
          <a:ln>
            <a:noFill/>
          </a:ln>
        </p:spPr>
        <p:txBody>
          <a:bodyPr anchorCtr="0" anchor="t" bIns="91425" lIns="91425" spcFirstLastPara="1" rIns="91425" wrap="square" tIns="91425">
            <a:noAutofit/>
          </a:bodyPr>
          <a:lstStyle/>
          <a:p>
            <a:pPr indent="-355600" lvl="0" marL="457200" rtl="0" algn="l">
              <a:spcBef>
                <a:spcPts val="60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The </a:t>
            </a:r>
            <a:r>
              <a:rPr b="1" lang="en" sz="2000">
                <a:solidFill>
                  <a:schemeClr val="dk1"/>
                </a:solidFill>
                <a:latin typeface="Calibri"/>
                <a:ea typeface="Calibri"/>
                <a:cs typeface="Calibri"/>
                <a:sym typeface="Calibri"/>
              </a:rPr>
              <a:t>“height” of a tree</a:t>
            </a:r>
            <a:r>
              <a:rPr lang="en" sz="2000">
                <a:solidFill>
                  <a:schemeClr val="dk1"/>
                </a:solidFill>
                <a:latin typeface="Calibri"/>
                <a:ea typeface="Calibri"/>
                <a:cs typeface="Calibri"/>
                <a:sym typeface="Calibri"/>
              </a:rPr>
              <a:t> is the depth of its deepest leaf, e.g. height(T) = 4.</a:t>
            </a:r>
            <a:endParaRPr sz="2000">
              <a:solidFill>
                <a:schemeClr val="dk1"/>
              </a:solidFill>
              <a:latin typeface="Calibri"/>
              <a:ea typeface="Calibri"/>
              <a:cs typeface="Calibri"/>
              <a:sym typeface="Calibri"/>
            </a:endParaRPr>
          </a:p>
          <a:p>
            <a:pPr indent="-355600" lvl="0" marL="457200" rtl="0" algn="l">
              <a:spcBef>
                <a:spcPts val="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The </a:t>
            </a:r>
            <a:r>
              <a:rPr b="1" lang="en" sz="2000">
                <a:solidFill>
                  <a:schemeClr val="dk1"/>
                </a:solidFill>
                <a:latin typeface="Calibri"/>
                <a:ea typeface="Calibri"/>
                <a:cs typeface="Calibri"/>
                <a:sym typeface="Calibri"/>
              </a:rPr>
              <a:t>“average depth”</a:t>
            </a:r>
            <a:r>
              <a:rPr lang="en" sz="2000">
                <a:solidFill>
                  <a:schemeClr val="dk1"/>
                </a:solidFill>
                <a:latin typeface="Calibri"/>
                <a:ea typeface="Calibri"/>
                <a:cs typeface="Calibri"/>
                <a:sym typeface="Calibri"/>
              </a:rPr>
              <a:t> of a tree is the average depth of a tree’s nodes.</a:t>
            </a:r>
            <a:endParaRPr sz="2000">
              <a:solidFill>
                <a:schemeClr val="dk1"/>
              </a:solidFill>
              <a:latin typeface="Calibri"/>
              <a:ea typeface="Calibri"/>
              <a:cs typeface="Calibri"/>
              <a:sym typeface="Calibri"/>
            </a:endParaRPr>
          </a:p>
          <a:p>
            <a:pPr indent="-355600" lvl="1" marL="914400" rtl="0" algn="l">
              <a:spcBef>
                <a:spcPts val="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a:t>
            </a:r>
            <a:r>
              <a:rPr b="1" lang="en" sz="2000">
                <a:solidFill>
                  <a:schemeClr val="dk1"/>
                </a:solidFill>
                <a:latin typeface="Calibri"/>
                <a:ea typeface="Calibri"/>
                <a:cs typeface="Calibri"/>
                <a:sym typeface="Calibri"/>
              </a:rPr>
              <a:t>0</a:t>
            </a:r>
            <a:r>
              <a:rPr lang="en" sz="2000">
                <a:solidFill>
                  <a:schemeClr val="dk1"/>
                </a:solidFill>
                <a:latin typeface="Calibri"/>
                <a:ea typeface="Calibri"/>
                <a:cs typeface="Calibri"/>
                <a:sym typeface="Calibri"/>
              </a:rPr>
              <a:t>x1 + </a:t>
            </a:r>
            <a:r>
              <a:rPr b="1" lang="en" sz="2000">
                <a:solidFill>
                  <a:schemeClr val="dk1"/>
                </a:solidFill>
                <a:latin typeface="Calibri"/>
                <a:ea typeface="Calibri"/>
                <a:cs typeface="Calibri"/>
                <a:sym typeface="Calibri"/>
              </a:rPr>
              <a:t>1</a:t>
            </a:r>
            <a:r>
              <a:rPr lang="en" sz="2000">
                <a:solidFill>
                  <a:schemeClr val="dk1"/>
                </a:solidFill>
                <a:latin typeface="Calibri"/>
                <a:ea typeface="Calibri"/>
                <a:cs typeface="Calibri"/>
                <a:sym typeface="Calibri"/>
              </a:rPr>
              <a:t>x2 + </a:t>
            </a:r>
            <a:r>
              <a:rPr b="1" lang="en" sz="2000">
                <a:solidFill>
                  <a:schemeClr val="dk1"/>
                </a:solidFill>
                <a:latin typeface="Calibri"/>
                <a:ea typeface="Calibri"/>
                <a:cs typeface="Calibri"/>
                <a:sym typeface="Calibri"/>
              </a:rPr>
              <a:t>2</a:t>
            </a:r>
            <a:r>
              <a:rPr lang="en" sz="2000">
                <a:solidFill>
                  <a:schemeClr val="dk1"/>
                </a:solidFill>
                <a:latin typeface="Calibri"/>
                <a:ea typeface="Calibri"/>
                <a:cs typeface="Calibri"/>
                <a:sym typeface="Calibri"/>
              </a:rPr>
              <a:t>x4 + </a:t>
            </a:r>
            <a:r>
              <a:rPr b="1" lang="en" sz="2000">
                <a:solidFill>
                  <a:schemeClr val="dk1"/>
                </a:solidFill>
                <a:latin typeface="Calibri"/>
                <a:ea typeface="Calibri"/>
                <a:cs typeface="Calibri"/>
                <a:sym typeface="Calibri"/>
              </a:rPr>
              <a:t>3</a:t>
            </a:r>
            <a:r>
              <a:rPr lang="en" sz="2000">
                <a:solidFill>
                  <a:schemeClr val="dk1"/>
                </a:solidFill>
                <a:latin typeface="Calibri"/>
                <a:ea typeface="Calibri"/>
                <a:cs typeface="Calibri"/>
                <a:sym typeface="Calibri"/>
              </a:rPr>
              <a:t>x6 + </a:t>
            </a:r>
            <a:r>
              <a:rPr b="1" lang="en" sz="2000">
                <a:solidFill>
                  <a:schemeClr val="dk1"/>
                </a:solidFill>
                <a:latin typeface="Calibri"/>
                <a:ea typeface="Calibri"/>
                <a:cs typeface="Calibri"/>
                <a:sym typeface="Calibri"/>
              </a:rPr>
              <a:t>4</a:t>
            </a:r>
            <a:r>
              <a:rPr lang="en" sz="2000">
                <a:solidFill>
                  <a:schemeClr val="dk1"/>
                </a:solidFill>
                <a:latin typeface="Calibri"/>
                <a:ea typeface="Calibri"/>
                <a:cs typeface="Calibri"/>
                <a:sym typeface="Calibri"/>
              </a:rPr>
              <a:t>x1)/(1+2+4+6+1) = 2.35</a:t>
            </a:r>
            <a:endParaRPr sz="20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7"/>
                                        </p:tgtEl>
                                        <p:attrNameLst>
                                          <p:attrName>style.visibility</p:attrName>
                                        </p:attrNameLst>
                                      </p:cBhvr>
                                      <p:to>
                                        <p:strVal val="visible"/>
                                      </p:to>
                                    </p:set>
                                    <p:animEffect filter="fade" transition="in">
                                      <p:cBhvr>
                                        <p:cTn dur="1"/>
                                        <p:tgtEl>
                                          <p:spTgt spid="4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0"/>
                                        </p:tgtEl>
                                        <p:attrNameLst>
                                          <p:attrName>style.visibility</p:attrName>
                                        </p:attrNameLst>
                                      </p:cBhvr>
                                      <p:to>
                                        <p:strVal val="visible"/>
                                      </p:to>
                                    </p:set>
                                    <p:animEffect filter="fade" transition="in">
                                      <p:cBhvr>
                                        <p:cTn dur="1"/>
                                        <p:tgtEl>
                                          <p:spTgt spid="4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3"/>
                                        </p:tgtEl>
                                        <p:attrNameLst>
                                          <p:attrName>style.visibility</p:attrName>
                                        </p:attrNameLst>
                                      </p:cBhvr>
                                      <p:to>
                                        <p:strVal val="visible"/>
                                      </p:to>
                                    </p:set>
                                    <p:animEffect filter="fade" transition="in">
                                      <p:cBhvr>
                                        <p:cTn dur="1"/>
                                        <p:tgtEl>
                                          <p:spTgt spid="4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6"/>
                                        </p:tgtEl>
                                        <p:attrNameLst>
                                          <p:attrName>style.visibility</p:attrName>
                                        </p:attrNameLst>
                                      </p:cBhvr>
                                      <p:to>
                                        <p:strVal val="visible"/>
                                      </p:to>
                                    </p:set>
                                    <p:animEffect filter="fade" transition="in">
                                      <p:cBhvr>
                                        <p:cTn dur="1"/>
                                        <p:tgtEl>
                                          <p:spTgt spid="4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9"/>
                                        </p:tgtEl>
                                        <p:attrNameLst>
                                          <p:attrName>style.visibility</p:attrName>
                                        </p:attrNameLst>
                                      </p:cBhvr>
                                      <p:to>
                                        <p:strVal val="visible"/>
                                      </p:to>
                                    </p:set>
                                    <p:animEffect filter="fade" transition="in">
                                      <p:cBhvr>
                                        <p:cTn dur="1"/>
                                        <p:tgtEl>
                                          <p:spTgt spid="4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2"/>
                                        </p:tgtEl>
                                        <p:attrNameLst>
                                          <p:attrName>style.visibility</p:attrName>
                                        </p:attrNameLst>
                                      </p:cBhvr>
                                      <p:to>
                                        <p:strVal val="visible"/>
                                      </p:to>
                                    </p:set>
                                    <p:animEffect filter="fade" transition="in">
                                      <p:cBhvr>
                                        <p:cTn dur="1"/>
                                        <p:tgtEl>
                                          <p:spTgt spid="4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0" st="0"/>
                                            </p:txEl>
                                          </p:spTgt>
                                        </p:tgtEl>
                                        <p:attrNameLst>
                                          <p:attrName>style.visibility</p:attrName>
                                        </p:attrNameLst>
                                      </p:cBhvr>
                                      <p:to>
                                        <p:strVal val="visible"/>
                                      </p:to>
                                    </p:set>
                                    <p:animEffect filter="fade" transition="in">
                                      <p:cBhvr>
                                        <p:cTn dur="1"/>
                                        <p:tgtEl>
                                          <p:spTgt spid="44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1" st="1"/>
                                            </p:txEl>
                                          </p:spTgt>
                                        </p:tgtEl>
                                        <p:attrNameLst>
                                          <p:attrName>style.visibility</p:attrName>
                                        </p:attrNameLst>
                                      </p:cBhvr>
                                      <p:to>
                                        <p:strVal val="visible"/>
                                      </p:to>
                                    </p:set>
                                    <p:animEffect filter="fade" transition="in">
                                      <p:cBhvr>
                                        <p:cTn dur="1"/>
                                        <p:tgtEl>
                                          <p:spTgt spid="44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2" st="2"/>
                                            </p:txEl>
                                          </p:spTgt>
                                        </p:tgtEl>
                                        <p:attrNameLst>
                                          <p:attrName>style.visibility</p:attrName>
                                        </p:attrNameLst>
                                      </p:cBhvr>
                                      <p:to>
                                        <p:strVal val="visible"/>
                                      </p:to>
                                    </p:set>
                                    <p:animEffect filter="fade" transition="in">
                                      <p:cBhvr>
                                        <p:cTn dur="1"/>
                                        <p:tgtEl>
                                          <p:spTgt spid="445">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4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Height, Depth and Runtime</a:t>
            </a:r>
            <a:endParaRPr/>
          </a:p>
        </p:txBody>
      </p:sp>
      <p:sp>
        <p:nvSpPr>
          <p:cNvPr id="451" name="Google Shape;451;p41"/>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Height and average depth determine runtimes for BST operations.</a:t>
            </a:r>
            <a:endParaRPr/>
          </a:p>
          <a:p>
            <a:pPr indent="-342900" lvl="0" marL="457200" rtl="0" algn="l">
              <a:spcBef>
                <a:spcPts val="600"/>
              </a:spcBef>
              <a:spcAft>
                <a:spcPts val="0"/>
              </a:spcAft>
              <a:buSzPts val="1800"/>
              <a:buChar char="●"/>
            </a:pPr>
            <a:r>
              <a:rPr lang="en"/>
              <a:t>The </a:t>
            </a:r>
            <a:r>
              <a:rPr b="1" lang="en"/>
              <a:t>“height” of a tree</a:t>
            </a:r>
            <a:r>
              <a:rPr lang="en"/>
              <a:t> determines the worst case runtime to find a node.</a:t>
            </a:r>
            <a:endParaRPr/>
          </a:p>
          <a:p>
            <a:pPr indent="-342900" lvl="1" marL="914400" rtl="0" algn="l">
              <a:spcBef>
                <a:spcPts val="600"/>
              </a:spcBef>
              <a:spcAft>
                <a:spcPts val="0"/>
              </a:spcAft>
              <a:buSzPts val="1800"/>
              <a:buChar char="○"/>
            </a:pPr>
            <a:r>
              <a:rPr lang="en"/>
              <a:t>Example: Worst case is contains(s), requires 5 comparisons (height + 1).</a:t>
            </a:r>
            <a:endParaRPr/>
          </a:p>
          <a:p>
            <a:pPr indent="-342900" lvl="0" marL="457200" rtl="0" algn="l">
              <a:spcBef>
                <a:spcPts val="600"/>
              </a:spcBef>
              <a:spcAft>
                <a:spcPts val="0"/>
              </a:spcAft>
              <a:buSzPts val="1800"/>
              <a:buChar char="●"/>
            </a:pPr>
            <a:r>
              <a:rPr lang="en"/>
              <a:t>The </a:t>
            </a:r>
            <a:r>
              <a:rPr b="1" lang="en"/>
              <a:t>“average depth”</a:t>
            </a:r>
            <a:r>
              <a:rPr lang="en"/>
              <a:t> determines the average case runtime to find a node.</a:t>
            </a:r>
            <a:endParaRPr/>
          </a:p>
          <a:p>
            <a:pPr indent="-342900" lvl="1" marL="914400" rtl="0" algn="l">
              <a:spcBef>
                <a:spcPts val="600"/>
              </a:spcBef>
              <a:spcAft>
                <a:spcPts val="0"/>
              </a:spcAft>
              <a:buSzPts val="1800"/>
              <a:buChar char="○"/>
            </a:pPr>
            <a:r>
              <a:rPr lang="en"/>
              <a:t>Example: Average case is 3.35 comparisons (average depth + 1).</a:t>
            </a:r>
            <a:endParaRPr/>
          </a:p>
        </p:txBody>
      </p:sp>
      <p:sp>
        <p:nvSpPr>
          <p:cNvPr id="452" name="Google Shape;452;p41"/>
          <p:cNvSpPr/>
          <p:nvPr/>
        </p:nvSpPr>
        <p:spPr>
          <a:xfrm>
            <a:off x="5742975" y="3465300"/>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v</a:t>
            </a:r>
            <a:endParaRPr/>
          </a:p>
        </p:txBody>
      </p:sp>
      <p:sp>
        <p:nvSpPr>
          <p:cNvPr id="453" name="Google Shape;453;p41"/>
          <p:cNvSpPr/>
          <p:nvPr/>
        </p:nvSpPr>
        <p:spPr>
          <a:xfrm>
            <a:off x="5285775" y="3882698"/>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a:t>
            </a:r>
            <a:endParaRPr/>
          </a:p>
        </p:txBody>
      </p:sp>
      <p:sp>
        <p:nvSpPr>
          <p:cNvPr id="454" name="Google Shape;454;p41"/>
          <p:cNvSpPr/>
          <p:nvPr/>
        </p:nvSpPr>
        <p:spPr>
          <a:xfrm>
            <a:off x="6200175" y="3882698"/>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y</a:t>
            </a:r>
            <a:endParaRPr/>
          </a:p>
        </p:txBody>
      </p:sp>
      <p:sp>
        <p:nvSpPr>
          <p:cNvPr id="455" name="Google Shape;455;p41"/>
          <p:cNvSpPr/>
          <p:nvPr/>
        </p:nvSpPr>
        <p:spPr>
          <a:xfrm>
            <a:off x="5507118" y="4314742"/>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a:t>
            </a:r>
            <a:endParaRPr/>
          </a:p>
        </p:txBody>
      </p:sp>
      <p:sp>
        <p:nvSpPr>
          <p:cNvPr id="456" name="Google Shape;456;p41"/>
          <p:cNvSpPr/>
          <p:nvPr/>
        </p:nvSpPr>
        <p:spPr>
          <a:xfrm>
            <a:off x="6457364" y="4314742"/>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z</a:t>
            </a:r>
            <a:endParaRPr/>
          </a:p>
        </p:txBody>
      </p:sp>
      <p:cxnSp>
        <p:nvCxnSpPr>
          <p:cNvPr id="457" name="Google Shape;457;p41"/>
          <p:cNvCxnSpPr>
            <a:stCxn id="453" idx="0"/>
            <a:endCxn id="452" idx="2"/>
          </p:cNvCxnSpPr>
          <p:nvPr/>
        </p:nvCxnSpPr>
        <p:spPr>
          <a:xfrm flipH="1" rot="10800000">
            <a:off x="5452725" y="3729698"/>
            <a:ext cx="457200" cy="153000"/>
          </a:xfrm>
          <a:prstGeom prst="straightConnector1">
            <a:avLst/>
          </a:prstGeom>
          <a:noFill/>
          <a:ln cap="flat" cmpd="sng" w="19050">
            <a:solidFill>
              <a:srgbClr val="666666"/>
            </a:solidFill>
            <a:prstDash val="solid"/>
            <a:round/>
            <a:headEnd len="med" w="med" type="none"/>
            <a:tailEnd len="med" w="med" type="none"/>
          </a:ln>
        </p:spPr>
      </p:cxnSp>
      <p:cxnSp>
        <p:nvCxnSpPr>
          <p:cNvPr id="458" name="Google Shape;458;p41"/>
          <p:cNvCxnSpPr>
            <a:stCxn id="454" idx="0"/>
            <a:endCxn id="452" idx="2"/>
          </p:cNvCxnSpPr>
          <p:nvPr/>
        </p:nvCxnSpPr>
        <p:spPr>
          <a:xfrm rot="10800000">
            <a:off x="5909925" y="3729698"/>
            <a:ext cx="457200" cy="153000"/>
          </a:xfrm>
          <a:prstGeom prst="straightConnector1">
            <a:avLst/>
          </a:prstGeom>
          <a:noFill/>
          <a:ln cap="flat" cmpd="sng" w="19050">
            <a:solidFill>
              <a:srgbClr val="666666"/>
            </a:solidFill>
            <a:prstDash val="solid"/>
            <a:round/>
            <a:headEnd len="med" w="med" type="none"/>
            <a:tailEnd len="med" w="med" type="none"/>
          </a:ln>
        </p:spPr>
      </p:cxnSp>
      <p:cxnSp>
        <p:nvCxnSpPr>
          <p:cNvPr id="459" name="Google Shape;459;p41"/>
          <p:cNvCxnSpPr>
            <a:stCxn id="453" idx="2"/>
            <a:endCxn id="455" idx="0"/>
          </p:cNvCxnSpPr>
          <p:nvPr/>
        </p:nvCxnSpPr>
        <p:spPr>
          <a:xfrm>
            <a:off x="5452725" y="4146998"/>
            <a:ext cx="221400" cy="167700"/>
          </a:xfrm>
          <a:prstGeom prst="straightConnector1">
            <a:avLst/>
          </a:prstGeom>
          <a:noFill/>
          <a:ln cap="flat" cmpd="sng" w="19050">
            <a:solidFill>
              <a:srgbClr val="666666"/>
            </a:solidFill>
            <a:prstDash val="solid"/>
            <a:round/>
            <a:headEnd len="med" w="med" type="none"/>
            <a:tailEnd len="med" w="med" type="none"/>
          </a:ln>
        </p:spPr>
      </p:cxnSp>
      <p:cxnSp>
        <p:nvCxnSpPr>
          <p:cNvPr id="460" name="Google Shape;460;p41"/>
          <p:cNvCxnSpPr>
            <a:stCxn id="454" idx="2"/>
            <a:endCxn id="456" idx="0"/>
          </p:cNvCxnSpPr>
          <p:nvPr/>
        </p:nvCxnSpPr>
        <p:spPr>
          <a:xfrm>
            <a:off x="6367125" y="4146998"/>
            <a:ext cx="257100" cy="167700"/>
          </a:xfrm>
          <a:prstGeom prst="straightConnector1">
            <a:avLst/>
          </a:prstGeom>
          <a:noFill/>
          <a:ln cap="flat" cmpd="sng" w="19050">
            <a:solidFill>
              <a:srgbClr val="666666"/>
            </a:solidFill>
            <a:prstDash val="solid"/>
            <a:round/>
            <a:headEnd len="med" w="med" type="none"/>
            <a:tailEnd len="med" w="med" type="none"/>
          </a:ln>
        </p:spPr>
      </p:cxnSp>
      <p:sp>
        <p:nvSpPr>
          <p:cNvPr id="461" name="Google Shape;461;p41"/>
          <p:cNvSpPr/>
          <p:nvPr/>
        </p:nvSpPr>
        <p:spPr>
          <a:xfrm>
            <a:off x="4774975" y="3037013"/>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k</a:t>
            </a:r>
            <a:endParaRPr/>
          </a:p>
        </p:txBody>
      </p:sp>
      <p:cxnSp>
        <p:nvCxnSpPr>
          <p:cNvPr id="462" name="Google Shape;462;p41"/>
          <p:cNvCxnSpPr>
            <a:stCxn id="461" idx="2"/>
            <a:endCxn id="463" idx="0"/>
          </p:cNvCxnSpPr>
          <p:nvPr/>
        </p:nvCxnSpPr>
        <p:spPr>
          <a:xfrm flipH="1">
            <a:off x="3973825" y="3301313"/>
            <a:ext cx="968100" cy="157500"/>
          </a:xfrm>
          <a:prstGeom prst="straightConnector1">
            <a:avLst/>
          </a:prstGeom>
          <a:noFill/>
          <a:ln cap="flat" cmpd="sng" w="19050">
            <a:solidFill>
              <a:srgbClr val="666666"/>
            </a:solidFill>
            <a:prstDash val="solid"/>
            <a:round/>
            <a:headEnd len="med" w="med" type="none"/>
            <a:tailEnd len="med" w="med" type="none"/>
          </a:ln>
        </p:spPr>
      </p:cxnSp>
      <p:cxnSp>
        <p:nvCxnSpPr>
          <p:cNvPr id="464" name="Google Shape;464;p41"/>
          <p:cNvCxnSpPr>
            <a:stCxn id="461" idx="2"/>
            <a:endCxn id="452" idx="0"/>
          </p:cNvCxnSpPr>
          <p:nvPr/>
        </p:nvCxnSpPr>
        <p:spPr>
          <a:xfrm>
            <a:off x="4941925" y="3301313"/>
            <a:ext cx="968100" cy="164100"/>
          </a:xfrm>
          <a:prstGeom prst="straightConnector1">
            <a:avLst/>
          </a:prstGeom>
          <a:noFill/>
          <a:ln cap="flat" cmpd="sng" w="19050">
            <a:solidFill>
              <a:srgbClr val="666666"/>
            </a:solidFill>
            <a:prstDash val="solid"/>
            <a:round/>
            <a:headEnd len="med" w="med" type="none"/>
            <a:tailEnd len="med" w="med" type="none"/>
          </a:ln>
        </p:spPr>
      </p:cxnSp>
      <p:sp>
        <p:nvSpPr>
          <p:cNvPr id="463" name="Google Shape;463;p41"/>
          <p:cNvSpPr/>
          <p:nvPr/>
        </p:nvSpPr>
        <p:spPr>
          <a:xfrm>
            <a:off x="3806975" y="3458676"/>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e</a:t>
            </a:r>
            <a:endParaRPr/>
          </a:p>
        </p:txBody>
      </p:sp>
      <p:sp>
        <p:nvSpPr>
          <p:cNvPr id="465" name="Google Shape;465;p41"/>
          <p:cNvSpPr/>
          <p:nvPr/>
        </p:nvSpPr>
        <p:spPr>
          <a:xfrm>
            <a:off x="3349775" y="3876074"/>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a:t>
            </a:r>
            <a:endParaRPr/>
          </a:p>
        </p:txBody>
      </p:sp>
      <p:sp>
        <p:nvSpPr>
          <p:cNvPr id="466" name="Google Shape;466;p41"/>
          <p:cNvSpPr/>
          <p:nvPr/>
        </p:nvSpPr>
        <p:spPr>
          <a:xfrm>
            <a:off x="4264175" y="3876074"/>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g</a:t>
            </a:r>
            <a:endParaRPr/>
          </a:p>
        </p:txBody>
      </p:sp>
      <p:sp>
        <p:nvSpPr>
          <p:cNvPr id="467" name="Google Shape;467;p41"/>
          <p:cNvSpPr/>
          <p:nvPr/>
        </p:nvSpPr>
        <p:spPr>
          <a:xfrm>
            <a:off x="3092575" y="4302200"/>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a:t>
            </a:r>
            <a:endParaRPr/>
          </a:p>
        </p:txBody>
      </p:sp>
      <p:sp>
        <p:nvSpPr>
          <p:cNvPr id="468" name="Google Shape;468;p41"/>
          <p:cNvSpPr/>
          <p:nvPr/>
        </p:nvSpPr>
        <p:spPr>
          <a:xfrm>
            <a:off x="3571118" y="4308118"/>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a:t>
            </a:r>
            <a:endParaRPr/>
          </a:p>
        </p:txBody>
      </p:sp>
      <p:sp>
        <p:nvSpPr>
          <p:cNvPr id="469" name="Google Shape;469;p41"/>
          <p:cNvSpPr/>
          <p:nvPr/>
        </p:nvSpPr>
        <p:spPr>
          <a:xfrm>
            <a:off x="4014400" y="4308118"/>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f</a:t>
            </a:r>
            <a:endParaRPr/>
          </a:p>
        </p:txBody>
      </p:sp>
      <p:sp>
        <p:nvSpPr>
          <p:cNvPr id="470" name="Google Shape;470;p41"/>
          <p:cNvSpPr/>
          <p:nvPr/>
        </p:nvSpPr>
        <p:spPr>
          <a:xfrm>
            <a:off x="4521364" y="4308118"/>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j</a:t>
            </a:r>
            <a:endParaRPr/>
          </a:p>
        </p:txBody>
      </p:sp>
      <p:cxnSp>
        <p:nvCxnSpPr>
          <p:cNvPr id="471" name="Google Shape;471;p41"/>
          <p:cNvCxnSpPr>
            <a:stCxn id="465" idx="0"/>
            <a:endCxn id="463" idx="2"/>
          </p:cNvCxnSpPr>
          <p:nvPr/>
        </p:nvCxnSpPr>
        <p:spPr>
          <a:xfrm flipH="1" rot="10800000">
            <a:off x="3516725" y="3723074"/>
            <a:ext cx="457200" cy="153000"/>
          </a:xfrm>
          <a:prstGeom prst="straightConnector1">
            <a:avLst/>
          </a:prstGeom>
          <a:noFill/>
          <a:ln cap="flat" cmpd="sng" w="19050">
            <a:solidFill>
              <a:srgbClr val="666666"/>
            </a:solidFill>
            <a:prstDash val="solid"/>
            <a:round/>
            <a:headEnd len="med" w="med" type="none"/>
            <a:tailEnd len="med" w="med" type="none"/>
          </a:ln>
        </p:spPr>
      </p:cxnSp>
      <p:cxnSp>
        <p:nvCxnSpPr>
          <p:cNvPr id="472" name="Google Shape;472;p41"/>
          <p:cNvCxnSpPr>
            <a:stCxn id="466" idx="0"/>
            <a:endCxn id="463" idx="2"/>
          </p:cNvCxnSpPr>
          <p:nvPr/>
        </p:nvCxnSpPr>
        <p:spPr>
          <a:xfrm rot="10800000">
            <a:off x="3973925" y="3723074"/>
            <a:ext cx="457200" cy="153000"/>
          </a:xfrm>
          <a:prstGeom prst="straightConnector1">
            <a:avLst/>
          </a:prstGeom>
          <a:noFill/>
          <a:ln cap="flat" cmpd="sng" w="19050">
            <a:solidFill>
              <a:srgbClr val="666666"/>
            </a:solidFill>
            <a:prstDash val="solid"/>
            <a:round/>
            <a:headEnd len="med" w="med" type="none"/>
            <a:tailEnd len="med" w="med" type="none"/>
          </a:ln>
        </p:spPr>
      </p:cxnSp>
      <p:cxnSp>
        <p:nvCxnSpPr>
          <p:cNvPr id="473" name="Google Shape;473;p41"/>
          <p:cNvCxnSpPr>
            <a:stCxn id="467" idx="0"/>
            <a:endCxn id="465" idx="2"/>
          </p:cNvCxnSpPr>
          <p:nvPr/>
        </p:nvCxnSpPr>
        <p:spPr>
          <a:xfrm flipH="1" rot="10800000">
            <a:off x="3259525" y="4140500"/>
            <a:ext cx="257100" cy="161700"/>
          </a:xfrm>
          <a:prstGeom prst="straightConnector1">
            <a:avLst/>
          </a:prstGeom>
          <a:noFill/>
          <a:ln cap="flat" cmpd="sng" w="19050">
            <a:solidFill>
              <a:srgbClr val="666666"/>
            </a:solidFill>
            <a:prstDash val="solid"/>
            <a:round/>
            <a:headEnd len="med" w="med" type="none"/>
            <a:tailEnd len="med" w="med" type="none"/>
          </a:ln>
        </p:spPr>
      </p:cxnSp>
      <p:cxnSp>
        <p:nvCxnSpPr>
          <p:cNvPr id="474" name="Google Shape;474;p41"/>
          <p:cNvCxnSpPr>
            <a:stCxn id="465" idx="2"/>
            <a:endCxn id="468" idx="0"/>
          </p:cNvCxnSpPr>
          <p:nvPr/>
        </p:nvCxnSpPr>
        <p:spPr>
          <a:xfrm>
            <a:off x="3516725" y="4140374"/>
            <a:ext cx="221400" cy="167700"/>
          </a:xfrm>
          <a:prstGeom prst="straightConnector1">
            <a:avLst/>
          </a:prstGeom>
          <a:noFill/>
          <a:ln cap="flat" cmpd="sng" w="19050">
            <a:solidFill>
              <a:srgbClr val="666666"/>
            </a:solidFill>
            <a:prstDash val="solid"/>
            <a:round/>
            <a:headEnd len="med" w="med" type="none"/>
            <a:tailEnd len="med" w="med" type="none"/>
          </a:ln>
        </p:spPr>
      </p:cxnSp>
      <p:cxnSp>
        <p:nvCxnSpPr>
          <p:cNvPr id="475" name="Google Shape;475;p41"/>
          <p:cNvCxnSpPr>
            <a:stCxn id="466" idx="2"/>
            <a:endCxn id="469" idx="0"/>
          </p:cNvCxnSpPr>
          <p:nvPr/>
        </p:nvCxnSpPr>
        <p:spPr>
          <a:xfrm flipH="1">
            <a:off x="4181225" y="4140374"/>
            <a:ext cx="249900" cy="167700"/>
          </a:xfrm>
          <a:prstGeom prst="straightConnector1">
            <a:avLst/>
          </a:prstGeom>
          <a:noFill/>
          <a:ln cap="flat" cmpd="sng" w="19050">
            <a:solidFill>
              <a:srgbClr val="666666"/>
            </a:solidFill>
            <a:prstDash val="solid"/>
            <a:round/>
            <a:headEnd len="med" w="med" type="none"/>
            <a:tailEnd len="med" w="med" type="none"/>
          </a:ln>
        </p:spPr>
      </p:cxnSp>
      <p:cxnSp>
        <p:nvCxnSpPr>
          <p:cNvPr id="476" name="Google Shape;476;p41"/>
          <p:cNvCxnSpPr>
            <a:stCxn id="466" idx="2"/>
            <a:endCxn id="470" idx="0"/>
          </p:cNvCxnSpPr>
          <p:nvPr/>
        </p:nvCxnSpPr>
        <p:spPr>
          <a:xfrm>
            <a:off x="4431125" y="4140374"/>
            <a:ext cx="257100" cy="167700"/>
          </a:xfrm>
          <a:prstGeom prst="straightConnector1">
            <a:avLst/>
          </a:prstGeom>
          <a:noFill/>
          <a:ln cap="flat" cmpd="sng" w="19050">
            <a:solidFill>
              <a:srgbClr val="666666"/>
            </a:solidFill>
            <a:prstDash val="solid"/>
            <a:round/>
            <a:headEnd len="med" w="med" type="none"/>
            <a:tailEnd len="med" w="med" type="none"/>
          </a:ln>
        </p:spPr>
      </p:cxnSp>
      <p:sp>
        <p:nvSpPr>
          <p:cNvPr id="477" name="Google Shape;477;p41"/>
          <p:cNvSpPr/>
          <p:nvPr/>
        </p:nvSpPr>
        <p:spPr>
          <a:xfrm>
            <a:off x="5697268" y="4724807"/>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a:t>
            </a:r>
            <a:endParaRPr/>
          </a:p>
        </p:txBody>
      </p:sp>
      <p:cxnSp>
        <p:nvCxnSpPr>
          <p:cNvPr id="478" name="Google Shape;478;p41"/>
          <p:cNvCxnSpPr>
            <a:stCxn id="455" idx="2"/>
            <a:endCxn id="477" idx="0"/>
          </p:cNvCxnSpPr>
          <p:nvPr/>
        </p:nvCxnSpPr>
        <p:spPr>
          <a:xfrm>
            <a:off x="5674068" y="4579042"/>
            <a:ext cx="190200" cy="145800"/>
          </a:xfrm>
          <a:prstGeom prst="straightConnector1">
            <a:avLst/>
          </a:prstGeom>
          <a:noFill/>
          <a:ln cap="flat" cmpd="sng" w="19050">
            <a:solidFill>
              <a:srgbClr val="666666"/>
            </a:solidFill>
            <a:prstDash val="solid"/>
            <a:round/>
            <a:headEnd len="med" w="med" type="none"/>
            <a:tailEnd len="med" w="med" type="none"/>
          </a:ln>
        </p:spPr>
      </p:cxnSp>
      <p:cxnSp>
        <p:nvCxnSpPr>
          <p:cNvPr id="479" name="Google Shape;479;p41"/>
          <p:cNvCxnSpPr>
            <a:stCxn id="480" idx="3"/>
            <a:endCxn id="461" idx="1"/>
          </p:cNvCxnSpPr>
          <p:nvPr/>
        </p:nvCxnSpPr>
        <p:spPr>
          <a:xfrm>
            <a:off x="2267966" y="3169170"/>
            <a:ext cx="2507100" cy="0"/>
          </a:xfrm>
          <a:prstGeom prst="straightConnector1">
            <a:avLst/>
          </a:prstGeom>
          <a:noFill/>
          <a:ln cap="flat" cmpd="sng" w="9525">
            <a:solidFill>
              <a:schemeClr val="dk2"/>
            </a:solidFill>
            <a:prstDash val="solid"/>
            <a:round/>
            <a:headEnd len="med" w="med" type="none"/>
            <a:tailEnd len="med" w="med" type="triangle"/>
          </a:ln>
        </p:spPr>
      </p:cxnSp>
      <p:sp>
        <p:nvSpPr>
          <p:cNvPr id="480" name="Google Shape;480;p41"/>
          <p:cNvSpPr txBox="1"/>
          <p:nvPr/>
        </p:nvSpPr>
        <p:spPr>
          <a:xfrm>
            <a:off x="1397366" y="2992170"/>
            <a:ext cx="870600" cy="35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depth 0</a:t>
            </a:r>
            <a:endParaRPr/>
          </a:p>
        </p:txBody>
      </p:sp>
      <p:cxnSp>
        <p:nvCxnSpPr>
          <p:cNvPr id="481" name="Google Shape;481;p41"/>
          <p:cNvCxnSpPr>
            <a:stCxn id="482" idx="3"/>
            <a:endCxn id="463" idx="1"/>
          </p:cNvCxnSpPr>
          <p:nvPr/>
        </p:nvCxnSpPr>
        <p:spPr>
          <a:xfrm flipH="1" rot="10800000">
            <a:off x="2267966" y="3590814"/>
            <a:ext cx="1539000" cy="300"/>
          </a:xfrm>
          <a:prstGeom prst="straightConnector1">
            <a:avLst/>
          </a:prstGeom>
          <a:noFill/>
          <a:ln cap="flat" cmpd="sng" w="9525">
            <a:solidFill>
              <a:schemeClr val="dk2"/>
            </a:solidFill>
            <a:prstDash val="solid"/>
            <a:round/>
            <a:headEnd len="med" w="med" type="none"/>
            <a:tailEnd len="med" w="med" type="triangle"/>
          </a:ln>
        </p:spPr>
      </p:cxnSp>
      <p:sp>
        <p:nvSpPr>
          <p:cNvPr id="482" name="Google Shape;482;p41"/>
          <p:cNvSpPr txBox="1"/>
          <p:nvPr/>
        </p:nvSpPr>
        <p:spPr>
          <a:xfrm>
            <a:off x="1397366" y="3414114"/>
            <a:ext cx="870600" cy="35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depth 1</a:t>
            </a:r>
            <a:endParaRPr/>
          </a:p>
        </p:txBody>
      </p:sp>
      <p:cxnSp>
        <p:nvCxnSpPr>
          <p:cNvPr id="483" name="Google Shape;483;p41"/>
          <p:cNvCxnSpPr>
            <a:stCxn id="484" idx="3"/>
            <a:endCxn id="465" idx="1"/>
          </p:cNvCxnSpPr>
          <p:nvPr/>
        </p:nvCxnSpPr>
        <p:spPr>
          <a:xfrm flipH="1" rot="10800000">
            <a:off x="2267966" y="4008258"/>
            <a:ext cx="1081800" cy="4800"/>
          </a:xfrm>
          <a:prstGeom prst="straightConnector1">
            <a:avLst/>
          </a:prstGeom>
          <a:noFill/>
          <a:ln cap="flat" cmpd="sng" w="9525">
            <a:solidFill>
              <a:schemeClr val="dk2"/>
            </a:solidFill>
            <a:prstDash val="solid"/>
            <a:round/>
            <a:headEnd len="med" w="med" type="none"/>
            <a:tailEnd len="med" w="med" type="triangle"/>
          </a:ln>
        </p:spPr>
      </p:cxnSp>
      <p:sp>
        <p:nvSpPr>
          <p:cNvPr id="484" name="Google Shape;484;p41"/>
          <p:cNvSpPr txBox="1"/>
          <p:nvPr/>
        </p:nvSpPr>
        <p:spPr>
          <a:xfrm>
            <a:off x="1397366" y="3836058"/>
            <a:ext cx="870600" cy="35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depth 2</a:t>
            </a:r>
            <a:endParaRPr/>
          </a:p>
        </p:txBody>
      </p:sp>
      <p:cxnSp>
        <p:nvCxnSpPr>
          <p:cNvPr id="485" name="Google Shape;485;p41"/>
          <p:cNvCxnSpPr>
            <a:stCxn id="486" idx="3"/>
            <a:endCxn id="467" idx="1"/>
          </p:cNvCxnSpPr>
          <p:nvPr/>
        </p:nvCxnSpPr>
        <p:spPr>
          <a:xfrm flipH="1" rot="10800000">
            <a:off x="2267966" y="4434402"/>
            <a:ext cx="824700" cy="600"/>
          </a:xfrm>
          <a:prstGeom prst="straightConnector1">
            <a:avLst/>
          </a:prstGeom>
          <a:noFill/>
          <a:ln cap="flat" cmpd="sng" w="9525">
            <a:solidFill>
              <a:schemeClr val="dk2"/>
            </a:solidFill>
            <a:prstDash val="solid"/>
            <a:round/>
            <a:headEnd len="med" w="med" type="none"/>
            <a:tailEnd len="med" w="med" type="triangle"/>
          </a:ln>
        </p:spPr>
      </p:cxnSp>
      <p:sp>
        <p:nvSpPr>
          <p:cNvPr id="486" name="Google Shape;486;p41"/>
          <p:cNvSpPr txBox="1"/>
          <p:nvPr/>
        </p:nvSpPr>
        <p:spPr>
          <a:xfrm>
            <a:off x="1397366" y="4258002"/>
            <a:ext cx="870600" cy="35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depth 3</a:t>
            </a:r>
            <a:endParaRPr/>
          </a:p>
        </p:txBody>
      </p:sp>
      <p:cxnSp>
        <p:nvCxnSpPr>
          <p:cNvPr id="487" name="Google Shape;487;p41"/>
          <p:cNvCxnSpPr>
            <a:stCxn id="488" idx="3"/>
            <a:endCxn id="477" idx="1"/>
          </p:cNvCxnSpPr>
          <p:nvPr/>
        </p:nvCxnSpPr>
        <p:spPr>
          <a:xfrm>
            <a:off x="2267966" y="4856945"/>
            <a:ext cx="3429300" cy="0"/>
          </a:xfrm>
          <a:prstGeom prst="straightConnector1">
            <a:avLst/>
          </a:prstGeom>
          <a:noFill/>
          <a:ln cap="flat" cmpd="sng" w="9525">
            <a:solidFill>
              <a:schemeClr val="dk2"/>
            </a:solidFill>
            <a:prstDash val="solid"/>
            <a:round/>
            <a:headEnd len="med" w="med" type="none"/>
            <a:tailEnd len="med" w="med" type="triangle"/>
          </a:ln>
        </p:spPr>
      </p:cxnSp>
      <p:sp>
        <p:nvSpPr>
          <p:cNvPr id="488" name="Google Shape;488;p41"/>
          <p:cNvSpPr txBox="1"/>
          <p:nvPr/>
        </p:nvSpPr>
        <p:spPr>
          <a:xfrm>
            <a:off x="1397366" y="4679945"/>
            <a:ext cx="870600" cy="35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depth 4</a:t>
            </a:r>
            <a:endParaRPr/>
          </a:p>
        </p:txBody>
      </p:sp>
      <p:sp>
        <p:nvSpPr>
          <p:cNvPr id="489" name="Google Shape;489;p41"/>
          <p:cNvSpPr/>
          <p:nvPr/>
        </p:nvSpPr>
        <p:spPr>
          <a:xfrm>
            <a:off x="1178214" y="3089891"/>
            <a:ext cx="249900" cy="1902300"/>
          </a:xfrm>
          <a:prstGeom prst="leftBrace">
            <a:avLst>
              <a:gd fmla="val 8333"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41"/>
          <p:cNvSpPr txBox="1"/>
          <p:nvPr/>
        </p:nvSpPr>
        <p:spPr>
          <a:xfrm>
            <a:off x="274925" y="3823439"/>
            <a:ext cx="903900" cy="32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height 4</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494" name="Shape 494"/>
        <p:cNvGrpSpPr/>
        <p:nvPr/>
      </p:nvGrpSpPr>
      <p:grpSpPr>
        <a:xfrm>
          <a:off x="0" y="0"/>
          <a:ext cx="0" cy="0"/>
          <a:chOff x="0" y="0"/>
          <a:chExt cx="0" cy="0"/>
        </a:xfrm>
      </p:grpSpPr>
      <p:sp>
        <p:nvSpPr>
          <p:cNvPr id="495" name="Google Shape;495;p4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BSTs in Practice</a:t>
            </a:r>
            <a:endParaRPr/>
          </a:p>
        </p:txBody>
      </p:sp>
      <p:sp>
        <p:nvSpPr>
          <p:cNvPr id="496" name="Google Shape;496;p42"/>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Suppose we want to build a BST out of the numbers 1, 2, 3, 4, 5, 6, 7.</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Give an example of a sequence of add operations that results in:</a:t>
            </a:r>
            <a:endParaRPr/>
          </a:p>
          <a:p>
            <a:pPr indent="-342900" lvl="0" marL="457200" rtl="0" algn="l">
              <a:spcBef>
                <a:spcPts val="600"/>
              </a:spcBef>
              <a:spcAft>
                <a:spcPts val="0"/>
              </a:spcAft>
              <a:buSzPts val="1800"/>
              <a:buChar char="●"/>
            </a:pPr>
            <a:r>
              <a:rPr lang="en"/>
              <a:t>A spindly tree.</a:t>
            </a:r>
            <a:endParaRPr/>
          </a:p>
          <a:p>
            <a:pPr indent="-342900" lvl="0" marL="457200" rtl="0" algn="l">
              <a:spcBef>
                <a:spcPts val="600"/>
              </a:spcBef>
              <a:spcAft>
                <a:spcPts val="0"/>
              </a:spcAft>
              <a:buSzPts val="1800"/>
              <a:buChar char="●"/>
            </a:pPr>
            <a:r>
              <a:rPr lang="en"/>
              <a:t>A bushy tree.</a:t>
            </a:r>
            <a:endParaRPr/>
          </a:p>
        </p:txBody>
      </p:sp>
      <p:sp>
        <p:nvSpPr>
          <p:cNvPr id="497" name="Google Shape;497;p42"/>
          <p:cNvSpPr/>
          <p:nvPr/>
        </p:nvSpPr>
        <p:spPr>
          <a:xfrm>
            <a:off x="1496470" y="3624209"/>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498" name="Google Shape;498;p42"/>
          <p:cNvSpPr/>
          <p:nvPr/>
        </p:nvSpPr>
        <p:spPr>
          <a:xfrm>
            <a:off x="1147640" y="2866820"/>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499" name="Google Shape;499;p42"/>
          <p:cNvSpPr/>
          <p:nvPr/>
        </p:nvSpPr>
        <p:spPr>
          <a:xfrm>
            <a:off x="1845299" y="4381599"/>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6</a:t>
            </a:r>
            <a:endParaRPr/>
          </a:p>
        </p:txBody>
      </p:sp>
      <p:sp>
        <p:nvSpPr>
          <p:cNvPr id="500" name="Google Shape;500;p42"/>
          <p:cNvSpPr/>
          <p:nvPr/>
        </p:nvSpPr>
        <p:spPr>
          <a:xfrm>
            <a:off x="973225" y="2488125"/>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501" name="Google Shape;501;p42"/>
          <p:cNvSpPr/>
          <p:nvPr/>
        </p:nvSpPr>
        <p:spPr>
          <a:xfrm>
            <a:off x="1322055" y="3245515"/>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502" name="Google Shape;502;p42"/>
          <p:cNvSpPr/>
          <p:nvPr/>
        </p:nvSpPr>
        <p:spPr>
          <a:xfrm>
            <a:off x="1670884" y="4002904"/>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503" name="Google Shape;503;p42"/>
          <p:cNvSpPr/>
          <p:nvPr/>
        </p:nvSpPr>
        <p:spPr>
          <a:xfrm>
            <a:off x="2019714" y="4760293"/>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cxnSp>
        <p:nvCxnSpPr>
          <p:cNvPr id="504" name="Google Shape;504;p42"/>
          <p:cNvCxnSpPr>
            <a:stCxn id="500" idx="2"/>
            <a:endCxn id="498" idx="0"/>
          </p:cNvCxnSpPr>
          <p:nvPr/>
        </p:nvCxnSpPr>
        <p:spPr>
          <a:xfrm>
            <a:off x="1140175" y="2752425"/>
            <a:ext cx="174300" cy="114300"/>
          </a:xfrm>
          <a:prstGeom prst="straightConnector1">
            <a:avLst/>
          </a:prstGeom>
          <a:noFill/>
          <a:ln cap="flat" cmpd="sng" w="9525">
            <a:solidFill>
              <a:schemeClr val="dk2"/>
            </a:solidFill>
            <a:prstDash val="solid"/>
            <a:round/>
            <a:headEnd len="med" w="med" type="none"/>
            <a:tailEnd len="med" w="med" type="none"/>
          </a:ln>
        </p:spPr>
      </p:cxnSp>
      <p:cxnSp>
        <p:nvCxnSpPr>
          <p:cNvPr id="505" name="Google Shape;505;p42"/>
          <p:cNvCxnSpPr>
            <a:stCxn id="501" idx="2"/>
            <a:endCxn id="497" idx="0"/>
          </p:cNvCxnSpPr>
          <p:nvPr/>
        </p:nvCxnSpPr>
        <p:spPr>
          <a:xfrm>
            <a:off x="1489005" y="3509815"/>
            <a:ext cx="174300" cy="114300"/>
          </a:xfrm>
          <a:prstGeom prst="straightConnector1">
            <a:avLst/>
          </a:prstGeom>
          <a:noFill/>
          <a:ln cap="flat" cmpd="sng" w="9525">
            <a:solidFill>
              <a:schemeClr val="dk2"/>
            </a:solidFill>
            <a:prstDash val="solid"/>
            <a:round/>
            <a:headEnd len="med" w="med" type="none"/>
            <a:tailEnd len="med" w="med" type="none"/>
          </a:ln>
        </p:spPr>
      </p:cxnSp>
      <p:cxnSp>
        <p:nvCxnSpPr>
          <p:cNvPr id="506" name="Google Shape;506;p42"/>
          <p:cNvCxnSpPr>
            <a:stCxn id="497" idx="2"/>
            <a:endCxn id="502" idx="0"/>
          </p:cNvCxnSpPr>
          <p:nvPr/>
        </p:nvCxnSpPr>
        <p:spPr>
          <a:xfrm>
            <a:off x="1663420" y="3888509"/>
            <a:ext cx="174300" cy="114300"/>
          </a:xfrm>
          <a:prstGeom prst="straightConnector1">
            <a:avLst/>
          </a:prstGeom>
          <a:noFill/>
          <a:ln cap="flat" cmpd="sng" w="9525">
            <a:solidFill>
              <a:schemeClr val="dk2"/>
            </a:solidFill>
            <a:prstDash val="solid"/>
            <a:round/>
            <a:headEnd len="med" w="med" type="none"/>
            <a:tailEnd len="med" w="med" type="none"/>
          </a:ln>
        </p:spPr>
      </p:cxnSp>
      <p:cxnSp>
        <p:nvCxnSpPr>
          <p:cNvPr id="507" name="Google Shape;507;p42"/>
          <p:cNvCxnSpPr>
            <a:stCxn id="502" idx="2"/>
            <a:endCxn id="499" idx="0"/>
          </p:cNvCxnSpPr>
          <p:nvPr/>
        </p:nvCxnSpPr>
        <p:spPr>
          <a:xfrm>
            <a:off x="1837834" y="4267204"/>
            <a:ext cx="174300" cy="114300"/>
          </a:xfrm>
          <a:prstGeom prst="straightConnector1">
            <a:avLst/>
          </a:prstGeom>
          <a:noFill/>
          <a:ln cap="flat" cmpd="sng" w="9525">
            <a:solidFill>
              <a:schemeClr val="dk2"/>
            </a:solidFill>
            <a:prstDash val="solid"/>
            <a:round/>
            <a:headEnd len="med" w="med" type="none"/>
            <a:tailEnd len="med" w="med" type="none"/>
          </a:ln>
        </p:spPr>
      </p:cxnSp>
      <p:cxnSp>
        <p:nvCxnSpPr>
          <p:cNvPr id="508" name="Google Shape;508;p42"/>
          <p:cNvCxnSpPr>
            <a:stCxn id="499" idx="2"/>
            <a:endCxn id="503" idx="0"/>
          </p:cNvCxnSpPr>
          <p:nvPr/>
        </p:nvCxnSpPr>
        <p:spPr>
          <a:xfrm>
            <a:off x="2012249" y="4645899"/>
            <a:ext cx="174300" cy="114300"/>
          </a:xfrm>
          <a:prstGeom prst="straightConnector1">
            <a:avLst/>
          </a:prstGeom>
          <a:noFill/>
          <a:ln cap="flat" cmpd="sng" w="9525">
            <a:solidFill>
              <a:schemeClr val="dk2"/>
            </a:solidFill>
            <a:prstDash val="solid"/>
            <a:round/>
            <a:headEnd len="med" w="med" type="none"/>
            <a:tailEnd len="med" w="med" type="none"/>
          </a:ln>
        </p:spPr>
      </p:cxnSp>
      <p:sp>
        <p:nvSpPr>
          <p:cNvPr id="509" name="Google Shape;509;p42"/>
          <p:cNvSpPr/>
          <p:nvPr/>
        </p:nvSpPr>
        <p:spPr>
          <a:xfrm>
            <a:off x="5974475" y="3265176"/>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510" name="Google Shape;510;p42"/>
          <p:cNvSpPr/>
          <p:nvPr/>
        </p:nvSpPr>
        <p:spPr>
          <a:xfrm>
            <a:off x="5517275" y="3682574"/>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511" name="Google Shape;511;p42"/>
          <p:cNvSpPr/>
          <p:nvPr/>
        </p:nvSpPr>
        <p:spPr>
          <a:xfrm>
            <a:off x="6431675" y="3682574"/>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6</a:t>
            </a:r>
            <a:endParaRPr/>
          </a:p>
        </p:txBody>
      </p:sp>
      <p:sp>
        <p:nvSpPr>
          <p:cNvPr id="512" name="Google Shape;512;p42"/>
          <p:cNvSpPr/>
          <p:nvPr/>
        </p:nvSpPr>
        <p:spPr>
          <a:xfrm>
            <a:off x="5260075" y="4108700"/>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513" name="Google Shape;513;p42"/>
          <p:cNvSpPr/>
          <p:nvPr/>
        </p:nvSpPr>
        <p:spPr>
          <a:xfrm>
            <a:off x="5738618" y="4114618"/>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514" name="Google Shape;514;p42"/>
          <p:cNvSpPr/>
          <p:nvPr/>
        </p:nvSpPr>
        <p:spPr>
          <a:xfrm>
            <a:off x="6181900" y="4114618"/>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515" name="Google Shape;515;p42"/>
          <p:cNvSpPr/>
          <p:nvPr/>
        </p:nvSpPr>
        <p:spPr>
          <a:xfrm>
            <a:off x="6688864" y="4114618"/>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cxnSp>
        <p:nvCxnSpPr>
          <p:cNvPr id="516" name="Google Shape;516;p42"/>
          <p:cNvCxnSpPr>
            <a:stCxn id="510" idx="0"/>
            <a:endCxn id="509" idx="2"/>
          </p:cNvCxnSpPr>
          <p:nvPr/>
        </p:nvCxnSpPr>
        <p:spPr>
          <a:xfrm flipH="1" rot="10800000">
            <a:off x="5684225" y="3529574"/>
            <a:ext cx="457200" cy="153000"/>
          </a:xfrm>
          <a:prstGeom prst="straightConnector1">
            <a:avLst/>
          </a:prstGeom>
          <a:noFill/>
          <a:ln cap="flat" cmpd="sng" w="19050">
            <a:solidFill>
              <a:srgbClr val="666666"/>
            </a:solidFill>
            <a:prstDash val="solid"/>
            <a:round/>
            <a:headEnd len="med" w="med" type="none"/>
            <a:tailEnd len="med" w="med" type="none"/>
          </a:ln>
        </p:spPr>
      </p:cxnSp>
      <p:cxnSp>
        <p:nvCxnSpPr>
          <p:cNvPr id="517" name="Google Shape;517;p42"/>
          <p:cNvCxnSpPr>
            <a:stCxn id="511" idx="0"/>
            <a:endCxn id="509" idx="2"/>
          </p:cNvCxnSpPr>
          <p:nvPr/>
        </p:nvCxnSpPr>
        <p:spPr>
          <a:xfrm rot="10800000">
            <a:off x="6141425" y="3529574"/>
            <a:ext cx="457200" cy="153000"/>
          </a:xfrm>
          <a:prstGeom prst="straightConnector1">
            <a:avLst/>
          </a:prstGeom>
          <a:noFill/>
          <a:ln cap="flat" cmpd="sng" w="19050">
            <a:solidFill>
              <a:srgbClr val="666666"/>
            </a:solidFill>
            <a:prstDash val="solid"/>
            <a:round/>
            <a:headEnd len="med" w="med" type="none"/>
            <a:tailEnd len="med" w="med" type="none"/>
          </a:ln>
        </p:spPr>
      </p:cxnSp>
      <p:cxnSp>
        <p:nvCxnSpPr>
          <p:cNvPr id="518" name="Google Shape;518;p42"/>
          <p:cNvCxnSpPr>
            <a:stCxn id="512" idx="0"/>
            <a:endCxn id="510" idx="2"/>
          </p:cNvCxnSpPr>
          <p:nvPr/>
        </p:nvCxnSpPr>
        <p:spPr>
          <a:xfrm flipH="1" rot="10800000">
            <a:off x="5427025" y="3947000"/>
            <a:ext cx="257100" cy="161700"/>
          </a:xfrm>
          <a:prstGeom prst="straightConnector1">
            <a:avLst/>
          </a:prstGeom>
          <a:noFill/>
          <a:ln cap="flat" cmpd="sng" w="19050">
            <a:solidFill>
              <a:srgbClr val="666666"/>
            </a:solidFill>
            <a:prstDash val="solid"/>
            <a:round/>
            <a:headEnd len="med" w="med" type="none"/>
            <a:tailEnd len="med" w="med" type="none"/>
          </a:ln>
        </p:spPr>
      </p:cxnSp>
      <p:cxnSp>
        <p:nvCxnSpPr>
          <p:cNvPr id="519" name="Google Shape;519;p42"/>
          <p:cNvCxnSpPr>
            <a:stCxn id="510" idx="2"/>
            <a:endCxn id="513" idx="0"/>
          </p:cNvCxnSpPr>
          <p:nvPr/>
        </p:nvCxnSpPr>
        <p:spPr>
          <a:xfrm>
            <a:off x="5684225" y="3946874"/>
            <a:ext cx="221400" cy="167700"/>
          </a:xfrm>
          <a:prstGeom prst="straightConnector1">
            <a:avLst/>
          </a:prstGeom>
          <a:noFill/>
          <a:ln cap="flat" cmpd="sng" w="19050">
            <a:solidFill>
              <a:srgbClr val="666666"/>
            </a:solidFill>
            <a:prstDash val="solid"/>
            <a:round/>
            <a:headEnd len="med" w="med" type="none"/>
            <a:tailEnd len="med" w="med" type="none"/>
          </a:ln>
        </p:spPr>
      </p:cxnSp>
      <p:cxnSp>
        <p:nvCxnSpPr>
          <p:cNvPr id="520" name="Google Shape;520;p42"/>
          <p:cNvCxnSpPr>
            <a:stCxn id="511" idx="2"/>
            <a:endCxn id="514" idx="0"/>
          </p:cNvCxnSpPr>
          <p:nvPr/>
        </p:nvCxnSpPr>
        <p:spPr>
          <a:xfrm flipH="1">
            <a:off x="6348725" y="3946874"/>
            <a:ext cx="249900" cy="167700"/>
          </a:xfrm>
          <a:prstGeom prst="straightConnector1">
            <a:avLst/>
          </a:prstGeom>
          <a:noFill/>
          <a:ln cap="flat" cmpd="sng" w="19050">
            <a:solidFill>
              <a:srgbClr val="666666"/>
            </a:solidFill>
            <a:prstDash val="solid"/>
            <a:round/>
            <a:headEnd len="med" w="med" type="none"/>
            <a:tailEnd len="med" w="med" type="none"/>
          </a:ln>
        </p:spPr>
      </p:cxnSp>
      <p:cxnSp>
        <p:nvCxnSpPr>
          <p:cNvPr id="521" name="Google Shape;521;p42"/>
          <p:cNvCxnSpPr>
            <a:stCxn id="511" idx="2"/>
            <a:endCxn id="515" idx="0"/>
          </p:cNvCxnSpPr>
          <p:nvPr/>
        </p:nvCxnSpPr>
        <p:spPr>
          <a:xfrm>
            <a:off x="6598625" y="3946874"/>
            <a:ext cx="257100" cy="167700"/>
          </a:xfrm>
          <a:prstGeom prst="straightConnector1">
            <a:avLst/>
          </a:prstGeom>
          <a:noFill/>
          <a:ln cap="flat" cmpd="sng" w="19050">
            <a:solidFill>
              <a:srgbClr val="666666"/>
            </a:solidFill>
            <a:prstDash val="solid"/>
            <a:round/>
            <a:headEnd len="med" w="med" type="none"/>
            <a:tailEnd len="med" w="med" type="none"/>
          </a:ln>
        </p:spPr>
      </p:cxnSp>
      <p:cxnSp>
        <p:nvCxnSpPr>
          <p:cNvPr id="522" name="Google Shape;522;p42"/>
          <p:cNvCxnSpPr>
            <a:stCxn id="498" idx="2"/>
            <a:endCxn id="501" idx="0"/>
          </p:cNvCxnSpPr>
          <p:nvPr/>
        </p:nvCxnSpPr>
        <p:spPr>
          <a:xfrm>
            <a:off x="1314590" y="3131120"/>
            <a:ext cx="174300" cy="1143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6" name="Shape 526"/>
        <p:cNvGrpSpPr/>
        <p:nvPr/>
      </p:nvGrpSpPr>
      <p:grpSpPr>
        <a:xfrm>
          <a:off x="0" y="0"/>
          <a:ext cx="0" cy="0"/>
          <a:chOff x="0" y="0"/>
          <a:chExt cx="0" cy="0"/>
        </a:xfrm>
      </p:grpSpPr>
      <p:sp>
        <p:nvSpPr>
          <p:cNvPr id="527" name="Google Shape;527;p4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BSTs in Practice</a:t>
            </a:r>
            <a:endParaRPr/>
          </a:p>
        </p:txBody>
      </p:sp>
      <p:sp>
        <p:nvSpPr>
          <p:cNvPr id="528" name="Google Shape;528;p43"/>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Give an example of a sequence of add operations that results in:</a:t>
            </a:r>
            <a:endParaRPr/>
          </a:p>
          <a:p>
            <a:pPr indent="-342900" lvl="0" marL="457200" rtl="0" algn="l">
              <a:spcBef>
                <a:spcPts val="600"/>
              </a:spcBef>
              <a:spcAft>
                <a:spcPts val="0"/>
              </a:spcAft>
              <a:buSzPts val="1800"/>
              <a:buChar char="●"/>
            </a:pPr>
            <a:r>
              <a:rPr lang="en"/>
              <a:t>A spindly tree.</a:t>
            </a:r>
            <a:endParaRPr/>
          </a:p>
          <a:p>
            <a:pPr indent="-342900" lvl="1" marL="914400" rtl="0" algn="l">
              <a:spcBef>
                <a:spcPts val="600"/>
              </a:spcBef>
              <a:spcAft>
                <a:spcPts val="0"/>
              </a:spcAft>
              <a:buSzPts val="1800"/>
              <a:buChar char="○"/>
            </a:pPr>
            <a:r>
              <a:rPr lang="en"/>
              <a:t>add(1), add(2), add(3), add(4), add(5), add(6), add(7)</a:t>
            </a:r>
            <a:endParaRPr/>
          </a:p>
          <a:p>
            <a:pPr indent="-342900" lvl="0" marL="457200" rtl="0" algn="l">
              <a:spcBef>
                <a:spcPts val="600"/>
              </a:spcBef>
              <a:spcAft>
                <a:spcPts val="0"/>
              </a:spcAft>
              <a:buSzPts val="1800"/>
              <a:buChar char="●"/>
            </a:pPr>
            <a:r>
              <a:rPr lang="en"/>
              <a:t>A bushy tree.</a:t>
            </a:r>
            <a:endParaRPr/>
          </a:p>
          <a:p>
            <a:pPr indent="-342900" lvl="1" marL="914400" rtl="0" algn="l">
              <a:spcBef>
                <a:spcPts val="600"/>
              </a:spcBef>
              <a:spcAft>
                <a:spcPts val="0"/>
              </a:spcAft>
              <a:buSzPts val="1800"/>
              <a:buChar char="○"/>
            </a:pPr>
            <a:r>
              <a:rPr lang="en"/>
              <a:t>add(4), add(2), add(1), add(3), add(6), add(5), add(7)</a:t>
            </a:r>
            <a:endParaRPr/>
          </a:p>
        </p:txBody>
      </p:sp>
      <p:sp>
        <p:nvSpPr>
          <p:cNvPr id="529" name="Google Shape;529;p43"/>
          <p:cNvSpPr/>
          <p:nvPr/>
        </p:nvSpPr>
        <p:spPr>
          <a:xfrm>
            <a:off x="5974475" y="3265176"/>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530" name="Google Shape;530;p43"/>
          <p:cNvSpPr/>
          <p:nvPr/>
        </p:nvSpPr>
        <p:spPr>
          <a:xfrm>
            <a:off x="5517275" y="3682574"/>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531" name="Google Shape;531;p43"/>
          <p:cNvSpPr/>
          <p:nvPr/>
        </p:nvSpPr>
        <p:spPr>
          <a:xfrm>
            <a:off x="6431675" y="3682574"/>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6</a:t>
            </a:r>
            <a:endParaRPr/>
          </a:p>
        </p:txBody>
      </p:sp>
      <p:sp>
        <p:nvSpPr>
          <p:cNvPr id="532" name="Google Shape;532;p43"/>
          <p:cNvSpPr/>
          <p:nvPr/>
        </p:nvSpPr>
        <p:spPr>
          <a:xfrm>
            <a:off x="5260075" y="4108700"/>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533" name="Google Shape;533;p43"/>
          <p:cNvSpPr/>
          <p:nvPr/>
        </p:nvSpPr>
        <p:spPr>
          <a:xfrm>
            <a:off x="5738618" y="4114618"/>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534" name="Google Shape;534;p43"/>
          <p:cNvSpPr/>
          <p:nvPr/>
        </p:nvSpPr>
        <p:spPr>
          <a:xfrm>
            <a:off x="6181900" y="4114618"/>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535" name="Google Shape;535;p43"/>
          <p:cNvSpPr/>
          <p:nvPr/>
        </p:nvSpPr>
        <p:spPr>
          <a:xfrm>
            <a:off x="6688864" y="4114618"/>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cxnSp>
        <p:nvCxnSpPr>
          <p:cNvPr id="536" name="Google Shape;536;p43"/>
          <p:cNvCxnSpPr>
            <a:stCxn id="530" idx="0"/>
            <a:endCxn id="529" idx="2"/>
          </p:cNvCxnSpPr>
          <p:nvPr/>
        </p:nvCxnSpPr>
        <p:spPr>
          <a:xfrm flipH="1" rot="10800000">
            <a:off x="5684225" y="3529574"/>
            <a:ext cx="457200" cy="153000"/>
          </a:xfrm>
          <a:prstGeom prst="straightConnector1">
            <a:avLst/>
          </a:prstGeom>
          <a:noFill/>
          <a:ln cap="flat" cmpd="sng" w="19050">
            <a:solidFill>
              <a:srgbClr val="666666"/>
            </a:solidFill>
            <a:prstDash val="solid"/>
            <a:round/>
            <a:headEnd len="med" w="med" type="none"/>
            <a:tailEnd len="med" w="med" type="none"/>
          </a:ln>
        </p:spPr>
      </p:cxnSp>
      <p:cxnSp>
        <p:nvCxnSpPr>
          <p:cNvPr id="537" name="Google Shape;537;p43"/>
          <p:cNvCxnSpPr>
            <a:stCxn id="531" idx="0"/>
            <a:endCxn id="529" idx="2"/>
          </p:cNvCxnSpPr>
          <p:nvPr/>
        </p:nvCxnSpPr>
        <p:spPr>
          <a:xfrm rot="10800000">
            <a:off x="6141425" y="3529574"/>
            <a:ext cx="457200" cy="153000"/>
          </a:xfrm>
          <a:prstGeom prst="straightConnector1">
            <a:avLst/>
          </a:prstGeom>
          <a:noFill/>
          <a:ln cap="flat" cmpd="sng" w="19050">
            <a:solidFill>
              <a:srgbClr val="666666"/>
            </a:solidFill>
            <a:prstDash val="solid"/>
            <a:round/>
            <a:headEnd len="med" w="med" type="none"/>
            <a:tailEnd len="med" w="med" type="none"/>
          </a:ln>
        </p:spPr>
      </p:cxnSp>
      <p:cxnSp>
        <p:nvCxnSpPr>
          <p:cNvPr id="538" name="Google Shape;538;p43"/>
          <p:cNvCxnSpPr>
            <a:stCxn id="532" idx="0"/>
            <a:endCxn id="530" idx="2"/>
          </p:cNvCxnSpPr>
          <p:nvPr/>
        </p:nvCxnSpPr>
        <p:spPr>
          <a:xfrm flipH="1" rot="10800000">
            <a:off x="5427025" y="3947000"/>
            <a:ext cx="257100" cy="161700"/>
          </a:xfrm>
          <a:prstGeom prst="straightConnector1">
            <a:avLst/>
          </a:prstGeom>
          <a:noFill/>
          <a:ln cap="flat" cmpd="sng" w="19050">
            <a:solidFill>
              <a:srgbClr val="666666"/>
            </a:solidFill>
            <a:prstDash val="solid"/>
            <a:round/>
            <a:headEnd len="med" w="med" type="none"/>
            <a:tailEnd len="med" w="med" type="none"/>
          </a:ln>
        </p:spPr>
      </p:cxnSp>
      <p:cxnSp>
        <p:nvCxnSpPr>
          <p:cNvPr id="539" name="Google Shape;539;p43"/>
          <p:cNvCxnSpPr>
            <a:stCxn id="530" idx="2"/>
            <a:endCxn id="533" idx="0"/>
          </p:cNvCxnSpPr>
          <p:nvPr/>
        </p:nvCxnSpPr>
        <p:spPr>
          <a:xfrm>
            <a:off x="5684225" y="3946874"/>
            <a:ext cx="221400" cy="167700"/>
          </a:xfrm>
          <a:prstGeom prst="straightConnector1">
            <a:avLst/>
          </a:prstGeom>
          <a:noFill/>
          <a:ln cap="flat" cmpd="sng" w="19050">
            <a:solidFill>
              <a:srgbClr val="666666"/>
            </a:solidFill>
            <a:prstDash val="solid"/>
            <a:round/>
            <a:headEnd len="med" w="med" type="none"/>
            <a:tailEnd len="med" w="med" type="none"/>
          </a:ln>
        </p:spPr>
      </p:cxnSp>
      <p:cxnSp>
        <p:nvCxnSpPr>
          <p:cNvPr id="540" name="Google Shape;540;p43"/>
          <p:cNvCxnSpPr>
            <a:stCxn id="531" idx="2"/>
            <a:endCxn id="534" idx="0"/>
          </p:cNvCxnSpPr>
          <p:nvPr/>
        </p:nvCxnSpPr>
        <p:spPr>
          <a:xfrm flipH="1">
            <a:off x="6348725" y="3946874"/>
            <a:ext cx="249900" cy="167700"/>
          </a:xfrm>
          <a:prstGeom prst="straightConnector1">
            <a:avLst/>
          </a:prstGeom>
          <a:noFill/>
          <a:ln cap="flat" cmpd="sng" w="19050">
            <a:solidFill>
              <a:srgbClr val="666666"/>
            </a:solidFill>
            <a:prstDash val="solid"/>
            <a:round/>
            <a:headEnd len="med" w="med" type="none"/>
            <a:tailEnd len="med" w="med" type="none"/>
          </a:ln>
        </p:spPr>
      </p:cxnSp>
      <p:cxnSp>
        <p:nvCxnSpPr>
          <p:cNvPr id="541" name="Google Shape;541;p43"/>
          <p:cNvCxnSpPr>
            <a:stCxn id="531" idx="2"/>
            <a:endCxn id="535" idx="0"/>
          </p:cNvCxnSpPr>
          <p:nvPr/>
        </p:nvCxnSpPr>
        <p:spPr>
          <a:xfrm>
            <a:off x="6598625" y="3946874"/>
            <a:ext cx="257100" cy="167700"/>
          </a:xfrm>
          <a:prstGeom prst="straightConnector1">
            <a:avLst/>
          </a:prstGeom>
          <a:noFill/>
          <a:ln cap="flat" cmpd="sng" w="19050">
            <a:solidFill>
              <a:srgbClr val="666666"/>
            </a:solidFill>
            <a:prstDash val="solid"/>
            <a:round/>
            <a:headEnd len="med" w="med" type="none"/>
            <a:tailEnd len="med" w="med" type="none"/>
          </a:ln>
        </p:spPr>
      </p:cxnSp>
      <p:sp>
        <p:nvSpPr>
          <p:cNvPr id="542" name="Google Shape;542;p43"/>
          <p:cNvSpPr/>
          <p:nvPr/>
        </p:nvSpPr>
        <p:spPr>
          <a:xfrm>
            <a:off x="1496470" y="3624209"/>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543" name="Google Shape;543;p43"/>
          <p:cNvSpPr/>
          <p:nvPr/>
        </p:nvSpPr>
        <p:spPr>
          <a:xfrm>
            <a:off x="1147640" y="2866820"/>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544" name="Google Shape;544;p43"/>
          <p:cNvSpPr/>
          <p:nvPr/>
        </p:nvSpPr>
        <p:spPr>
          <a:xfrm>
            <a:off x="1845299" y="4381599"/>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6</a:t>
            </a:r>
            <a:endParaRPr/>
          </a:p>
        </p:txBody>
      </p:sp>
      <p:sp>
        <p:nvSpPr>
          <p:cNvPr id="545" name="Google Shape;545;p43"/>
          <p:cNvSpPr/>
          <p:nvPr/>
        </p:nvSpPr>
        <p:spPr>
          <a:xfrm>
            <a:off x="973225" y="2488125"/>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546" name="Google Shape;546;p43"/>
          <p:cNvSpPr/>
          <p:nvPr/>
        </p:nvSpPr>
        <p:spPr>
          <a:xfrm>
            <a:off x="1322055" y="3245515"/>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547" name="Google Shape;547;p43"/>
          <p:cNvSpPr/>
          <p:nvPr/>
        </p:nvSpPr>
        <p:spPr>
          <a:xfrm>
            <a:off x="1670884" y="4002904"/>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548" name="Google Shape;548;p43"/>
          <p:cNvSpPr/>
          <p:nvPr/>
        </p:nvSpPr>
        <p:spPr>
          <a:xfrm>
            <a:off x="2019714" y="4760293"/>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cxnSp>
        <p:nvCxnSpPr>
          <p:cNvPr id="549" name="Google Shape;549;p43"/>
          <p:cNvCxnSpPr>
            <a:stCxn id="545" idx="2"/>
            <a:endCxn id="543" idx="0"/>
          </p:cNvCxnSpPr>
          <p:nvPr/>
        </p:nvCxnSpPr>
        <p:spPr>
          <a:xfrm>
            <a:off x="1140175" y="2752425"/>
            <a:ext cx="174300" cy="114300"/>
          </a:xfrm>
          <a:prstGeom prst="straightConnector1">
            <a:avLst/>
          </a:prstGeom>
          <a:noFill/>
          <a:ln cap="flat" cmpd="sng" w="9525">
            <a:solidFill>
              <a:schemeClr val="dk2"/>
            </a:solidFill>
            <a:prstDash val="solid"/>
            <a:round/>
            <a:headEnd len="med" w="med" type="none"/>
            <a:tailEnd len="med" w="med" type="none"/>
          </a:ln>
        </p:spPr>
      </p:cxnSp>
      <p:cxnSp>
        <p:nvCxnSpPr>
          <p:cNvPr id="550" name="Google Shape;550;p43"/>
          <p:cNvCxnSpPr>
            <a:stCxn id="543" idx="2"/>
            <a:endCxn id="546" idx="0"/>
          </p:cNvCxnSpPr>
          <p:nvPr/>
        </p:nvCxnSpPr>
        <p:spPr>
          <a:xfrm>
            <a:off x="1314590" y="3131120"/>
            <a:ext cx="174300" cy="114300"/>
          </a:xfrm>
          <a:prstGeom prst="straightConnector1">
            <a:avLst/>
          </a:prstGeom>
          <a:noFill/>
          <a:ln cap="flat" cmpd="sng" w="9525">
            <a:solidFill>
              <a:schemeClr val="dk2"/>
            </a:solidFill>
            <a:prstDash val="solid"/>
            <a:round/>
            <a:headEnd len="med" w="med" type="none"/>
            <a:tailEnd len="med" w="med" type="none"/>
          </a:ln>
        </p:spPr>
      </p:cxnSp>
      <p:cxnSp>
        <p:nvCxnSpPr>
          <p:cNvPr id="551" name="Google Shape;551;p43"/>
          <p:cNvCxnSpPr>
            <a:stCxn id="546" idx="2"/>
            <a:endCxn id="542" idx="0"/>
          </p:cNvCxnSpPr>
          <p:nvPr/>
        </p:nvCxnSpPr>
        <p:spPr>
          <a:xfrm>
            <a:off x="1489005" y="3509815"/>
            <a:ext cx="174300" cy="114300"/>
          </a:xfrm>
          <a:prstGeom prst="straightConnector1">
            <a:avLst/>
          </a:prstGeom>
          <a:noFill/>
          <a:ln cap="flat" cmpd="sng" w="9525">
            <a:solidFill>
              <a:schemeClr val="dk2"/>
            </a:solidFill>
            <a:prstDash val="solid"/>
            <a:round/>
            <a:headEnd len="med" w="med" type="none"/>
            <a:tailEnd len="med" w="med" type="none"/>
          </a:ln>
        </p:spPr>
      </p:cxnSp>
      <p:cxnSp>
        <p:nvCxnSpPr>
          <p:cNvPr id="552" name="Google Shape;552;p43"/>
          <p:cNvCxnSpPr>
            <a:stCxn id="542" idx="2"/>
            <a:endCxn id="547" idx="0"/>
          </p:cNvCxnSpPr>
          <p:nvPr/>
        </p:nvCxnSpPr>
        <p:spPr>
          <a:xfrm>
            <a:off x="1663420" y="3888509"/>
            <a:ext cx="174300" cy="114300"/>
          </a:xfrm>
          <a:prstGeom prst="straightConnector1">
            <a:avLst/>
          </a:prstGeom>
          <a:noFill/>
          <a:ln cap="flat" cmpd="sng" w="9525">
            <a:solidFill>
              <a:schemeClr val="dk2"/>
            </a:solidFill>
            <a:prstDash val="solid"/>
            <a:round/>
            <a:headEnd len="med" w="med" type="none"/>
            <a:tailEnd len="med" w="med" type="none"/>
          </a:ln>
        </p:spPr>
      </p:cxnSp>
      <p:cxnSp>
        <p:nvCxnSpPr>
          <p:cNvPr id="553" name="Google Shape;553;p43"/>
          <p:cNvCxnSpPr>
            <a:stCxn id="547" idx="2"/>
            <a:endCxn id="544" idx="0"/>
          </p:cNvCxnSpPr>
          <p:nvPr/>
        </p:nvCxnSpPr>
        <p:spPr>
          <a:xfrm>
            <a:off x="1837834" y="4267204"/>
            <a:ext cx="174300" cy="114300"/>
          </a:xfrm>
          <a:prstGeom prst="straightConnector1">
            <a:avLst/>
          </a:prstGeom>
          <a:noFill/>
          <a:ln cap="flat" cmpd="sng" w="9525">
            <a:solidFill>
              <a:schemeClr val="dk2"/>
            </a:solidFill>
            <a:prstDash val="solid"/>
            <a:round/>
            <a:headEnd len="med" w="med" type="none"/>
            <a:tailEnd len="med" w="med" type="none"/>
          </a:ln>
        </p:spPr>
      </p:cxnSp>
      <p:cxnSp>
        <p:nvCxnSpPr>
          <p:cNvPr id="554" name="Google Shape;554;p43"/>
          <p:cNvCxnSpPr>
            <a:stCxn id="544" idx="2"/>
            <a:endCxn id="548" idx="0"/>
          </p:cNvCxnSpPr>
          <p:nvPr/>
        </p:nvCxnSpPr>
        <p:spPr>
          <a:xfrm>
            <a:off x="2012249" y="4645899"/>
            <a:ext cx="174300" cy="114300"/>
          </a:xfrm>
          <a:prstGeom prst="straightConnector1">
            <a:avLst/>
          </a:prstGeom>
          <a:noFill/>
          <a:ln cap="flat" cmpd="sng" w="9525">
            <a:solidFill>
              <a:schemeClr val="dk2"/>
            </a:solidFill>
            <a:prstDash val="solid"/>
            <a:round/>
            <a:headEnd len="med" w="med" type="none"/>
            <a:tailEnd len="med" w="med" type="none"/>
          </a:ln>
        </p:spPr>
      </p:cxnSp>
      <p:sp>
        <p:nvSpPr>
          <p:cNvPr id="555" name="Google Shape;555;p43"/>
          <p:cNvSpPr txBox="1"/>
          <p:nvPr/>
        </p:nvSpPr>
        <p:spPr>
          <a:xfrm>
            <a:off x="2233450" y="3415875"/>
            <a:ext cx="2029800" cy="6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Height: 6</a:t>
            </a:r>
            <a:endParaRPr/>
          </a:p>
          <a:p>
            <a:pPr indent="0" lvl="0" marL="0" rtl="0" algn="l">
              <a:spcBef>
                <a:spcPts val="0"/>
              </a:spcBef>
              <a:spcAft>
                <a:spcPts val="0"/>
              </a:spcAft>
              <a:buNone/>
            </a:pPr>
            <a:r>
              <a:rPr lang="en"/>
              <a:t>Average Depth: 3</a:t>
            </a:r>
            <a:endParaRPr/>
          </a:p>
        </p:txBody>
      </p:sp>
      <p:sp>
        <p:nvSpPr>
          <p:cNvPr id="556" name="Google Shape;556;p43"/>
          <p:cNvSpPr txBox="1"/>
          <p:nvPr/>
        </p:nvSpPr>
        <p:spPr>
          <a:xfrm>
            <a:off x="6971525" y="3415875"/>
            <a:ext cx="2029800" cy="6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Height: 2</a:t>
            </a:r>
            <a:endParaRPr/>
          </a:p>
          <a:p>
            <a:pPr indent="0" lvl="0" marL="0" rtl="0" algn="l">
              <a:spcBef>
                <a:spcPts val="0"/>
              </a:spcBef>
              <a:spcAft>
                <a:spcPts val="0"/>
              </a:spcAft>
              <a:buNone/>
            </a:pPr>
            <a:r>
              <a:rPr lang="en"/>
              <a:t>Average Depth: 1.43</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4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Important Question: What about Real World BSTs?</a:t>
            </a:r>
            <a:endParaRPr/>
          </a:p>
        </p:txBody>
      </p:sp>
      <p:sp>
        <p:nvSpPr>
          <p:cNvPr id="562" name="Google Shape;562;p4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BSTs have:</a:t>
            </a:r>
            <a:endParaRPr/>
          </a:p>
          <a:p>
            <a:pPr indent="-342900" lvl="0" marL="457200" rtl="0" algn="l">
              <a:spcBef>
                <a:spcPts val="600"/>
              </a:spcBef>
              <a:spcAft>
                <a:spcPts val="0"/>
              </a:spcAft>
              <a:buSzPts val="1800"/>
              <a:buChar char="●"/>
            </a:pPr>
            <a:r>
              <a:rPr lang="en"/>
              <a:t>Worst case Θ(N) height.</a:t>
            </a:r>
            <a:endParaRPr/>
          </a:p>
          <a:p>
            <a:pPr indent="-342900" lvl="0" marL="457200" rtl="0" algn="l">
              <a:spcBef>
                <a:spcPts val="600"/>
              </a:spcBef>
              <a:spcAft>
                <a:spcPts val="0"/>
              </a:spcAft>
              <a:buSzPts val="1800"/>
              <a:buChar char="●"/>
            </a:pPr>
            <a:r>
              <a:rPr lang="en"/>
              <a:t>Best case Θ(log N) height.</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 but what about trees that you’d build during real world applications?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One way to approximate this is to consider randomized BSTs.</a:t>
            </a:r>
            <a:endParaRPr/>
          </a:p>
          <a:p>
            <a:pPr indent="0" lvl="0" marL="0" rtl="0" algn="l">
              <a:spcBef>
                <a:spcPts val="60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4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Simulation: Trees Built from Random Inserts</a:t>
            </a:r>
            <a:endParaRPr/>
          </a:p>
        </p:txBody>
      </p:sp>
      <p:sp>
        <p:nvSpPr>
          <p:cNvPr id="568" name="Google Shape;568;p45"/>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sz="1200"/>
              <a:t>Video courtesy of Kevin Wayne (Princeton University)</a:t>
            </a:r>
            <a:endParaRPr sz="1200"/>
          </a:p>
          <a:p>
            <a:pPr indent="0" lvl="0" marL="0" rtl="0" algn="l">
              <a:spcBef>
                <a:spcPts val="600"/>
              </a:spcBef>
              <a:spcAft>
                <a:spcPts val="0"/>
              </a:spcAft>
              <a:buNone/>
            </a:pPr>
            <a:r>
              <a:t/>
            </a:r>
            <a:endParaRPr/>
          </a:p>
        </p:txBody>
      </p:sp>
      <p:sp>
        <p:nvSpPr>
          <p:cNvPr id="569" name="Google Shape;569;p45"/>
          <p:cNvSpPr txBox="1"/>
          <p:nvPr/>
        </p:nvSpPr>
        <p:spPr>
          <a:xfrm>
            <a:off x="248775" y="4149025"/>
            <a:ext cx="8706900" cy="495300"/>
          </a:xfrm>
          <a:prstGeom prst="rect">
            <a:avLst/>
          </a:prstGeom>
          <a:noFill/>
          <a:ln>
            <a:noFill/>
          </a:ln>
        </p:spPr>
        <p:txBody>
          <a:bodyPr anchorCtr="0" anchor="ctr" bIns="91425" lIns="91425" spcFirstLastPara="1" rIns="91425" wrap="square" tIns="91425">
            <a:noAutofit/>
          </a:bodyPr>
          <a:lstStyle/>
          <a:p>
            <a:pPr indent="0" lvl="0" marL="0" rtl="0" algn="l">
              <a:spcBef>
                <a:spcPts val="600"/>
              </a:spcBef>
              <a:spcAft>
                <a:spcPts val="0"/>
              </a:spcAft>
              <a:buNone/>
            </a:pPr>
            <a:r>
              <a:rPr b="1" lang="en" sz="2000">
                <a:solidFill>
                  <a:schemeClr val="dk1"/>
                </a:solidFill>
                <a:latin typeface="Calibri"/>
                <a:ea typeface="Calibri"/>
                <a:cs typeface="Calibri"/>
                <a:sym typeface="Calibri"/>
              </a:rPr>
              <a:t>Nice Property</a:t>
            </a:r>
            <a:r>
              <a:rPr lang="en" sz="2000">
                <a:solidFill>
                  <a:schemeClr val="dk1"/>
                </a:solidFill>
                <a:latin typeface="Calibri"/>
                <a:ea typeface="Calibri"/>
                <a:cs typeface="Calibri"/>
                <a:sym typeface="Calibri"/>
              </a:rPr>
              <a:t>. Random trees have Θ(log N) average depth and height.</a:t>
            </a:r>
            <a:endParaRPr sz="2000">
              <a:solidFill>
                <a:schemeClr val="dk1"/>
              </a:solidFill>
              <a:latin typeface="Calibri"/>
              <a:ea typeface="Calibri"/>
              <a:cs typeface="Calibri"/>
              <a:sym typeface="Calibri"/>
            </a:endParaRPr>
          </a:p>
          <a:p>
            <a:pPr indent="-355600" lvl="0" marL="457200" rtl="0" algn="l">
              <a:spcBef>
                <a:spcPts val="60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In other words: Random trees are bushy, not spindly.</a:t>
            </a:r>
            <a:endParaRPr sz="2000">
              <a:solidFill>
                <a:schemeClr val="dk1"/>
              </a:solidFill>
              <a:latin typeface="Calibri"/>
              <a:ea typeface="Calibri"/>
              <a:cs typeface="Calibri"/>
              <a:sym typeface="Calibri"/>
            </a:endParaRPr>
          </a:p>
        </p:txBody>
      </p:sp>
      <p:pic>
        <p:nvPicPr>
          <p:cNvPr id="570" name="Google Shape;570;p45" title="[B Trees, Video 2] - BST Performance">
            <a:hlinkClick r:id="rId3"/>
          </p:cNvPr>
          <p:cNvPicPr preferRelativeResize="0"/>
          <p:nvPr/>
        </p:nvPicPr>
        <p:blipFill>
          <a:blip r:embed="rId4">
            <a:alphaModFix/>
          </a:blip>
          <a:stretch>
            <a:fillRect/>
          </a:stretch>
        </p:blipFill>
        <p:spPr>
          <a:xfrm>
            <a:off x="1263400" y="430101"/>
            <a:ext cx="6617225" cy="372218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0"/>
                                        </p:tgtEl>
                                        <p:attrNameLst>
                                          <p:attrName>style.visibility</p:attrName>
                                        </p:attrNameLst>
                                      </p:cBhvr>
                                      <p:to>
                                        <p:strVal val="visible"/>
                                      </p:to>
                                    </p:set>
                                    <p:animEffect filter="fade" transition="in">
                                      <p:cBhvr>
                                        <p:cTn dur="1000"/>
                                        <p:tgtEl>
                                          <p:spTgt spid="5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4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Randomized Trees:</a:t>
            </a:r>
            <a:r>
              <a:rPr lang="en"/>
              <a:t> Mathematical Analysis</a:t>
            </a:r>
            <a:endParaRPr/>
          </a:p>
        </p:txBody>
      </p:sp>
      <p:sp>
        <p:nvSpPr>
          <p:cNvPr id="576" name="Google Shape;576;p4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a:t>Average Depth</a:t>
            </a:r>
            <a:r>
              <a:rPr b="1" lang="en"/>
              <a:t>. </a:t>
            </a:r>
            <a:r>
              <a:rPr lang="en"/>
              <a:t>If N distinct keys are inserted into a BST, the expected average depth is ~ 2 ln N = Θ(log N).</a:t>
            </a:r>
            <a:endParaRPr/>
          </a:p>
          <a:p>
            <a:pPr indent="-342900" lvl="0" marL="457200" rtl="0" algn="l">
              <a:spcBef>
                <a:spcPts val="600"/>
              </a:spcBef>
              <a:spcAft>
                <a:spcPts val="0"/>
              </a:spcAft>
              <a:buSzPts val="1800"/>
              <a:buChar char="●"/>
            </a:pPr>
            <a:r>
              <a:rPr lang="en"/>
              <a:t>Thus, average runtime for contains operation is Θ(log N) on a tree built with random inserts.</a:t>
            </a:r>
            <a:endParaRPr/>
          </a:p>
          <a:p>
            <a:pPr indent="-342900" lvl="0" marL="457200" rtl="0" algn="l">
              <a:spcBef>
                <a:spcPts val="600"/>
              </a:spcBef>
              <a:spcAft>
                <a:spcPts val="0"/>
              </a:spcAft>
              <a:buSzPts val="1800"/>
              <a:buChar char="●"/>
            </a:pPr>
            <a:r>
              <a:rPr lang="en"/>
              <a:t>Will discuss this proof briefly closer to the end of this course.</a:t>
            </a:r>
            <a:endParaRPr b="1"/>
          </a:p>
          <a:p>
            <a:pPr indent="0" lvl="0" marL="0" rtl="0" algn="l">
              <a:spcBef>
                <a:spcPts val="600"/>
              </a:spcBef>
              <a:spcAft>
                <a:spcPts val="0"/>
              </a:spcAft>
              <a:buNone/>
            </a:pPr>
            <a:r>
              <a:t/>
            </a:r>
            <a:endParaRPr b="1"/>
          </a:p>
          <a:p>
            <a:pPr indent="0" lvl="0" marL="0" rtl="0" algn="l">
              <a:spcBef>
                <a:spcPts val="600"/>
              </a:spcBef>
              <a:spcAft>
                <a:spcPts val="0"/>
              </a:spcAft>
              <a:buNone/>
            </a:pPr>
            <a:r>
              <a:rPr b="1" lang="en"/>
              <a:t>Tree Height. </a:t>
            </a:r>
            <a:r>
              <a:rPr lang="en"/>
              <a:t>If N distinct keys are inserted in random order, expected tree height is ~ 4.311 ln N </a:t>
            </a:r>
            <a:r>
              <a:rPr lang="en" u="sng">
                <a:solidFill>
                  <a:schemeClr val="hlink"/>
                </a:solidFill>
                <a:hlinkClick r:id="rId3"/>
              </a:rPr>
              <a:t>(see Reed, 2003)</a:t>
            </a:r>
            <a:r>
              <a:rPr lang="en"/>
              <a:t>.</a:t>
            </a:r>
            <a:endParaRPr/>
          </a:p>
          <a:p>
            <a:pPr indent="-342900" lvl="0" marL="457200" rtl="0" algn="l">
              <a:spcBef>
                <a:spcPts val="600"/>
              </a:spcBef>
              <a:spcAft>
                <a:spcPts val="0"/>
              </a:spcAft>
              <a:buSzPts val="1800"/>
              <a:buChar char="●"/>
            </a:pPr>
            <a:r>
              <a:rPr lang="en"/>
              <a:t>Thus, worst case runtime for contains operation is Θ(log N) on a tree built with random inserts.</a:t>
            </a:r>
            <a:endParaRPr/>
          </a:p>
          <a:p>
            <a:pPr indent="-342900" lvl="0" marL="457200" rtl="0" algn="l">
              <a:spcBef>
                <a:spcPts val="600"/>
              </a:spcBef>
              <a:spcAft>
                <a:spcPts val="0"/>
              </a:spcAft>
              <a:buSzPts val="1800"/>
              <a:buChar char="●"/>
            </a:pPr>
            <a:r>
              <a:rPr lang="en"/>
              <a:t>Proof is well beyond the scope of the course (and is 27 pages long!).</a:t>
            </a:r>
            <a:endParaRPr/>
          </a:p>
          <a:p>
            <a:pPr indent="0" lvl="0" marL="0" rtl="0" algn="l">
              <a:spcBef>
                <a:spcPts val="600"/>
              </a:spcBef>
              <a:spcAft>
                <a:spcPts val="0"/>
              </a:spcAft>
              <a:buNone/>
            </a:pPr>
            <a:r>
              <a:t/>
            </a:r>
            <a:endParaRPr b="1"/>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
        <p:nvSpPr>
          <p:cNvPr id="577" name="Google Shape;577;p46"/>
          <p:cNvSpPr txBox="1"/>
          <p:nvPr/>
        </p:nvSpPr>
        <p:spPr>
          <a:xfrm>
            <a:off x="269725" y="4711925"/>
            <a:ext cx="83328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Note: ~ is the same thing as Big Theta, but you don’t drop the multiplicative constants.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6">
                                            <p:txEl>
                                              <p:pRg end="0" st="0"/>
                                            </p:txEl>
                                          </p:spTgt>
                                        </p:tgtEl>
                                        <p:attrNameLst>
                                          <p:attrName>style.visibility</p:attrName>
                                        </p:attrNameLst>
                                      </p:cBhvr>
                                      <p:to>
                                        <p:strVal val="visible"/>
                                      </p:to>
                                    </p:set>
                                    <p:animEffect filter="fade" transition="in">
                                      <p:cBhvr>
                                        <p:cTn dur="1"/>
                                        <p:tgtEl>
                                          <p:spTgt spid="57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6">
                                            <p:txEl>
                                              <p:pRg end="1" st="1"/>
                                            </p:txEl>
                                          </p:spTgt>
                                        </p:tgtEl>
                                        <p:attrNameLst>
                                          <p:attrName>style.visibility</p:attrName>
                                        </p:attrNameLst>
                                      </p:cBhvr>
                                      <p:to>
                                        <p:strVal val="visible"/>
                                      </p:to>
                                    </p:set>
                                    <p:animEffect filter="fade" transition="in">
                                      <p:cBhvr>
                                        <p:cTn dur="1"/>
                                        <p:tgtEl>
                                          <p:spTgt spid="57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6">
                                            <p:txEl>
                                              <p:pRg end="2" st="2"/>
                                            </p:txEl>
                                          </p:spTgt>
                                        </p:tgtEl>
                                        <p:attrNameLst>
                                          <p:attrName>style.visibility</p:attrName>
                                        </p:attrNameLst>
                                      </p:cBhvr>
                                      <p:to>
                                        <p:strVal val="visible"/>
                                      </p:to>
                                    </p:set>
                                    <p:animEffect filter="fade" transition="in">
                                      <p:cBhvr>
                                        <p:cTn dur="1"/>
                                        <p:tgtEl>
                                          <p:spTgt spid="57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6">
                                            <p:txEl>
                                              <p:pRg end="3" st="3"/>
                                            </p:txEl>
                                          </p:spTgt>
                                        </p:tgtEl>
                                        <p:attrNameLst>
                                          <p:attrName>style.visibility</p:attrName>
                                        </p:attrNameLst>
                                      </p:cBhvr>
                                      <p:to>
                                        <p:strVal val="visible"/>
                                      </p:to>
                                    </p:set>
                                    <p:animEffect filter="fade" transition="in">
                                      <p:cBhvr>
                                        <p:cTn dur="1"/>
                                        <p:tgtEl>
                                          <p:spTgt spid="57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6">
                                            <p:txEl>
                                              <p:pRg end="4" st="4"/>
                                            </p:txEl>
                                          </p:spTgt>
                                        </p:tgtEl>
                                        <p:attrNameLst>
                                          <p:attrName>style.visibility</p:attrName>
                                        </p:attrNameLst>
                                      </p:cBhvr>
                                      <p:to>
                                        <p:strVal val="visible"/>
                                      </p:to>
                                    </p:set>
                                    <p:animEffect filter="fade" transition="in">
                                      <p:cBhvr>
                                        <p:cTn dur="1"/>
                                        <p:tgtEl>
                                          <p:spTgt spid="57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6">
                                            <p:txEl>
                                              <p:pRg end="5" st="5"/>
                                            </p:txEl>
                                          </p:spTgt>
                                        </p:tgtEl>
                                        <p:attrNameLst>
                                          <p:attrName>style.visibility</p:attrName>
                                        </p:attrNameLst>
                                      </p:cBhvr>
                                      <p:to>
                                        <p:strVal val="visible"/>
                                      </p:to>
                                    </p:set>
                                    <p:animEffect filter="fade" transition="in">
                                      <p:cBhvr>
                                        <p:cTn dur="1"/>
                                        <p:tgtEl>
                                          <p:spTgt spid="57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6">
                                            <p:txEl>
                                              <p:pRg end="6" st="6"/>
                                            </p:txEl>
                                          </p:spTgt>
                                        </p:tgtEl>
                                        <p:attrNameLst>
                                          <p:attrName>style.visibility</p:attrName>
                                        </p:attrNameLst>
                                      </p:cBhvr>
                                      <p:to>
                                        <p:strVal val="visible"/>
                                      </p:to>
                                    </p:set>
                                    <p:animEffect filter="fade" transition="in">
                                      <p:cBhvr>
                                        <p:cTn dur="1"/>
                                        <p:tgtEl>
                                          <p:spTgt spid="57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6">
                                            <p:txEl>
                                              <p:pRg end="7" st="7"/>
                                            </p:txEl>
                                          </p:spTgt>
                                        </p:tgtEl>
                                        <p:attrNameLst>
                                          <p:attrName>style.visibility</p:attrName>
                                        </p:attrNameLst>
                                      </p:cBhvr>
                                      <p:to>
                                        <p:strVal val="visible"/>
                                      </p:to>
                                    </p:set>
                                    <p:animEffect filter="fade" transition="in">
                                      <p:cBhvr>
                                        <p:cTn dur="1"/>
                                        <p:tgtEl>
                                          <p:spTgt spid="57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6">
                                            <p:txEl>
                                              <p:pRg end="8" st="8"/>
                                            </p:txEl>
                                          </p:spTgt>
                                        </p:tgtEl>
                                        <p:attrNameLst>
                                          <p:attrName>style.visibility</p:attrName>
                                        </p:attrNameLst>
                                      </p:cBhvr>
                                      <p:to>
                                        <p:strVal val="visible"/>
                                      </p:to>
                                    </p:set>
                                    <p:animEffect filter="fade" transition="in">
                                      <p:cBhvr>
                                        <p:cTn dur="1"/>
                                        <p:tgtEl>
                                          <p:spTgt spid="57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6">
                                            <p:txEl>
                                              <p:pRg end="9" st="9"/>
                                            </p:txEl>
                                          </p:spTgt>
                                        </p:tgtEl>
                                        <p:attrNameLst>
                                          <p:attrName>style.visibility</p:attrName>
                                        </p:attrNameLst>
                                      </p:cBhvr>
                                      <p:to>
                                        <p:strVal val="visible"/>
                                      </p:to>
                                    </p:set>
                                    <p:animEffect filter="fade" transition="in">
                                      <p:cBhvr>
                                        <p:cTn dur="1"/>
                                        <p:tgtEl>
                                          <p:spTgt spid="57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6">
                                            <p:txEl>
                                              <p:pRg end="10" st="10"/>
                                            </p:txEl>
                                          </p:spTgt>
                                        </p:tgtEl>
                                        <p:attrNameLst>
                                          <p:attrName>style.visibility</p:attrName>
                                        </p:attrNameLst>
                                      </p:cBhvr>
                                      <p:to>
                                        <p:strVal val="visible"/>
                                      </p:to>
                                    </p:set>
                                    <p:animEffect filter="fade" transition="in">
                                      <p:cBhvr>
                                        <p:cTn dur="1"/>
                                        <p:tgtEl>
                                          <p:spTgt spid="576">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6">
                                            <p:txEl>
                                              <p:pRg end="11" st="11"/>
                                            </p:txEl>
                                          </p:spTgt>
                                        </p:tgtEl>
                                        <p:attrNameLst>
                                          <p:attrName>style.visibility</p:attrName>
                                        </p:attrNameLst>
                                      </p:cBhvr>
                                      <p:to>
                                        <p:strVal val="visible"/>
                                      </p:to>
                                    </p:set>
                                    <p:animEffect filter="fade" transition="in">
                                      <p:cBhvr>
                                        <p:cTn dur="1"/>
                                        <p:tgtEl>
                                          <p:spTgt spid="576">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4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Important Question: What about Real World BSTs?</a:t>
            </a:r>
            <a:endParaRPr/>
          </a:p>
        </p:txBody>
      </p:sp>
      <p:sp>
        <p:nvSpPr>
          <p:cNvPr id="583" name="Google Shape;583;p47"/>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BSTs have:</a:t>
            </a:r>
            <a:endParaRPr/>
          </a:p>
          <a:p>
            <a:pPr indent="-342900" lvl="0" marL="457200" rtl="0" algn="l">
              <a:spcBef>
                <a:spcPts val="600"/>
              </a:spcBef>
              <a:spcAft>
                <a:spcPts val="0"/>
              </a:spcAft>
              <a:buSzPts val="1800"/>
              <a:buChar char="●"/>
            </a:pPr>
            <a:r>
              <a:rPr lang="en"/>
              <a:t>Worst case Θ(N) height.</a:t>
            </a:r>
            <a:endParaRPr/>
          </a:p>
          <a:p>
            <a:pPr indent="-342900" lvl="0" marL="457200" rtl="0" algn="l">
              <a:spcBef>
                <a:spcPts val="600"/>
              </a:spcBef>
              <a:spcAft>
                <a:spcPts val="0"/>
              </a:spcAft>
              <a:buSzPts val="1800"/>
              <a:buChar char="●"/>
            </a:pPr>
            <a:r>
              <a:rPr lang="en"/>
              <a:t>Best case Θ(log N) height.</a:t>
            </a:r>
            <a:endParaRPr/>
          </a:p>
          <a:p>
            <a:pPr indent="-342900" lvl="0" marL="457200" rtl="0" algn="l">
              <a:spcBef>
                <a:spcPts val="600"/>
              </a:spcBef>
              <a:spcAft>
                <a:spcPts val="0"/>
              </a:spcAft>
              <a:buSzPts val="1800"/>
              <a:buChar char="●"/>
            </a:pPr>
            <a:r>
              <a:rPr lang="en"/>
              <a:t>Θ(log N) height if constructed via random inserts.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In real world applications we expect both insertion and deletion.</a:t>
            </a:r>
            <a:endParaRPr/>
          </a:p>
          <a:p>
            <a:pPr indent="-342900" lvl="0" marL="457200" rtl="0" algn="l">
              <a:spcBef>
                <a:spcPts val="600"/>
              </a:spcBef>
              <a:spcAft>
                <a:spcPts val="0"/>
              </a:spcAft>
              <a:buSzPts val="1800"/>
              <a:buChar char="●"/>
            </a:pPr>
            <a:r>
              <a:rPr lang="en"/>
              <a:t>See (IMO really interesting!) extra slides for more on simulations of trees including deletion.</a:t>
            </a:r>
            <a:endParaRPr/>
          </a:p>
          <a:p>
            <a:pPr indent="-342900" lvl="0" marL="457200" rtl="0" algn="l">
              <a:spcBef>
                <a:spcPts val="600"/>
              </a:spcBef>
              <a:spcAft>
                <a:spcPts val="0"/>
              </a:spcAft>
              <a:buSzPts val="1800"/>
              <a:buChar char="●"/>
            </a:pPr>
            <a:r>
              <a:rPr lang="en"/>
              <a:t>Can show that random trees including deletion are still Θ(log N) height (if you randomly pick between predecessor and successor when deleting).</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587" name="Shape 587"/>
        <p:cNvGrpSpPr/>
        <p:nvPr/>
      </p:nvGrpSpPr>
      <p:grpSpPr>
        <a:xfrm>
          <a:off x="0" y="0"/>
          <a:ext cx="0" cy="0"/>
          <a:chOff x="0" y="0"/>
          <a:chExt cx="0" cy="0"/>
        </a:xfrm>
      </p:grpSpPr>
      <p:sp>
        <p:nvSpPr>
          <p:cNvPr id="588" name="Google Shape;588;p4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Good News and Bad News</a:t>
            </a:r>
            <a:endParaRPr/>
          </a:p>
        </p:txBody>
      </p:sp>
      <p:sp>
        <p:nvSpPr>
          <p:cNvPr id="589" name="Google Shape;589;p48"/>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Good news: BSTs have great performance if we insert items randomly. Performance is Θ(log N) per operation.</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Bad News: We can’t always insert our items in a random order. Why?</a:t>
            </a:r>
            <a:endParaRPr/>
          </a:p>
        </p:txBody>
      </p:sp>
      <p:sp>
        <p:nvSpPr>
          <p:cNvPr id="590" name="Google Shape;590;p48"/>
          <p:cNvSpPr/>
          <p:nvPr/>
        </p:nvSpPr>
        <p:spPr>
          <a:xfrm>
            <a:off x="5649368" y="2740932"/>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e</a:t>
            </a:r>
            <a:endParaRPr sz="1800"/>
          </a:p>
        </p:txBody>
      </p:sp>
      <p:sp>
        <p:nvSpPr>
          <p:cNvPr id="591" name="Google Shape;591;p48"/>
          <p:cNvSpPr/>
          <p:nvPr/>
        </p:nvSpPr>
        <p:spPr>
          <a:xfrm>
            <a:off x="5235080" y="3285367"/>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b</a:t>
            </a:r>
            <a:endParaRPr sz="1800"/>
          </a:p>
        </p:txBody>
      </p:sp>
      <p:sp>
        <p:nvSpPr>
          <p:cNvPr id="592" name="Google Shape;592;p48"/>
          <p:cNvSpPr/>
          <p:nvPr/>
        </p:nvSpPr>
        <p:spPr>
          <a:xfrm>
            <a:off x="6064756" y="3285367"/>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g</a:t>
            </a:r>
            <a:endParaRPr sz="1800"/>
          </a:p>
        </p:txBody>
      </p:sp>
      <p:cxnSp>
        <p:nvCxnSpPr>
          <p:cNvPr id="593" name="Google Shape;593;p48"/>
          <p:cNvCxnSpPr>
            <a:stCxn id="591" idx="0"/>
            <a:endCxn id="590" idx="2"/>
          </p:cNvCxnSpPr>
          <p:nvPr/>
        </p:nvCxnSpPr>
        <p:spPr>
          <a:xfrm flipH="1" rot="10800000">
            <a:off x="5480330" y="3065767"/>
            <a:ext cx="414300" cy="219600"/>
          </a:xfrm>
          <a:prstGeom prst="straightConnector1">
            <a:avLst/>
          </a:prstGeom>
          <a:noFill/>
          <a:ln cap="flat" cmpd="sng" w="19050">
            <a:solidFill>
              <a:srgbClr val="666666"/>
            </a:solidFill>
            <a:prstDash val="solid"/>
            <a:round/>
            <a:headEnd len="med" w="med" type="none"/>
            <a:tailEnd len="med" w="med" type="none"/>
          </a:ln>
        </p:spPr>
      </p:cxnSp>
      <p:cxnSp>
        <p:nvCxnSpPr>
          <p:cNvPr id="594" name="Google Shape;594;p48"/>
          <p:cNvCxnSpPr>
            <a:stCxn id="592" idx="0"/>
            <a:endCxn id="590" idx="2"/>
          </p:cNvCxnSpPr>
          <p:nvPr/>
        </p:nvCxnSpPr>
        <p:spPr>
          <a:xfrm rot="10800000">
            <a:off x="5894506" y="3065767"/>
            <a:ext cx="415500" cy="219600"/>
          </a:xfrm>
          <a:prstGeom prst="straightConnector1">
            <a:avLst/>
          </a:prstGeom>
          <a:noFill/>
          <a:ln cap="flat" cmpd="sng" w="19050">
            <a:solidFill>
              <a:srgbClr val="666666"/>
            </a:solidFill>
            <a:prstDash val="solid"/>
            <a:round/>
            <a:headEnd len="med" w="med" type="none"/>
            <a:tailEnd len="med" w="med" type="none"/>
          </a:ln>
        </p:spPr>
      </p:cxnSp>
      <p:sp>
        <p:nvSpPr>
          <p:cNvPr id="595" name="Google Shape;595;p48"/>
          <p:cNvSpPr/>
          <p:nvPr/>
        </p:nvSpPr>
        <p:spPr>
          <a:xfrm>
            <a:off x="7375542" y="2740923"/>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o</a:t>
            </a:r>
            <a:endParaRPr sz="1800"/>
          </a:p>
        </p:txBody>
      </p:sp>
      <p:sp>
        <p:nvSpPr>
          <p:cNvPr id="596" name="Google Shape;596;p48"/>
          <p:cNvSpPr/>
          <p:nvPr/>
        </p:nvSpPr>
        <p:spPr>
          <a:xfrm>
            <a:off x="7009004" y="3285383"/>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n</a:t>
            </a:r>
            <a:endParaRPr sz="1800"/>
          </a:p>
        </p:txBody>
      </p:sp>
      <p:sp>
        <p:nvSpPr>
          <p:cNvPr id="597" name="Google Shape;597;p48"/>
          <p:cNvSpPr/>
          <p:nvPr/>
        </p:nvSpPr>
        <p:spPr>
          <a:xfrm>
            <a:off x="7818280" y="3285383"/>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p</a:t>
            </a:r>
            <a:endParaRPr sz="1800"/>
          </a:p>
        </p:txBody>
      </p:sp>
      <p:cxnSp>
        <p:nvCxnSpPr>
          <p:cNvPr id="598" name="Google Shape;598;p48"/>
          <p:cNvCxnSpPr>
            <a:stCxn id="596" idx="0"/>
            <a:endCxn id="595" idx="2"/>
          </p:cNvCxnSpPr>
          <p:nvPr/>
        </p:nvCxnSpPr>
        <p:spPr>
          <a:xfrm flipH="1" rot="10800000">
            <a:off x="7254254" y="3065783"/>
            <a:ext cx="366600" cy="219600"/>
          </a:xfrm>
          <a:prstGeom prst="straightConnector1">
            <a:avLst/>
          </a:prstGeom>
          <a:noFill/>
          <a:ln cap="flat" cmpd="sng" w="19050">
            <a:solidFill>
              <a:srgbClr val="666666"/>
            </a:solidFill>
            <a:prstDash val="solid"/>
            <a:round/>
            <a:headEnd len="med" w="med" type="none"/>
            <a:tailEnd len="med" w="med" type="none"/>
          </a:ln>
        </p:spPr>
      </p:cxnSp>
      <p:cxnSp>
        <p:nvCxnSpPr>
          <p:cNvPr id="599" name="Google Shape;599;p48"/>
          <p:cNvCxnSpPr>
            <a:stCxn id="597" idx="0"/>
            <a:endCxn id="595" idx="2"/>
          </p:cNvCxnSpPr>
          <p:nvPr/>
        </p:nvCxnSpPr>
        <p:spPr>
          <a:xfrm rot="10800000">
            <a:off x="7620730" y="3065783"/>
            <a:ext cx="442800" cy="219600"/>
          </a:xfrm>
          <a:prstGeom prst="straightConnector1">
            <a:avLst/>
          </a:prstGeom>
          <a:noFill/>
          <a:ln cap="flat" cmpd="sng" w="19050">
            <a:solidFill>
              <a:srgbClr val="666666"/>
            </a:solidFill>
            <a:prstDash val="solid"/>
            <a:round/>
            <a:headEnd len="med" w="med" type="none"/>
            <a:tailEnd len="med" w="med" type="none"/>
          </a:ln>
        </p:spPr>
      </p:cxnSp>
      <p:sp>
        <p:nvSpPr>
          <p:cNvPr id="600" name="Google Shape;600;p48"/>
          <p:cNvSpPr/>
          <p:nvPr/>
        </p:nvSpPr>
        <p:spPr>
          <a:xfrm>
            <a:off x="6506132" y="2144200"/>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m</a:t>
            </a:r>
            <a:endParaRPr sz="1800"/>
          </a:p>
        </p:txBody>
      </p:sp>
      <p:cxnSp>
        <p:nvCxnSpPr>
          <p:cNvPr id="601" name="Google Shape;601;p48"/>
          <p:cNvCxnSpPr>
            <a:stCxn id="600" idx="2"/>
            <a:endCxn id="590" idx="0"/>
          </p:cNvCxnSpPr>
          <p:nvPr/>
        </p:nvCxnSpPr>
        <p:spPr>
          <a:xfrm flipH="1">
            <a:off x="5894582" y="2469100"/>
            <a:ext cx="856800" cy="271800"/>
          </a:xfrm>
          <a:prstGeom prst="straightConnector1">
            <a:avLst/>
          </a:prstGeom>
          <a:noFill/>
          <a:ln cap="flat" cmpd="sng" w="19050">
            <a:solidFill>
              <a:srgbClr val="666666"/>
            </a:solidFill>
            <a:prstDash val="solid"/>
            <a:round/>
            <a:headEnd len="med" w="med" type="none"/>
            <a:tailEnd len="med" w="med" type="none"/>
          </a:ln>
        </p:spPr>
      </p:cxnSp>
      <p:cxnSp>
        <p:nvCxnSpPr>
          <p:cNvPr id="602" name="Google Shape;602;p48"/>
          <p:cNvCxnSpPr>
            <a:stCxn id="600" idx="2"/>
            <a:endCxn id="595" idx="0"/>
          </p:cNvCxnSpPr>
          <p:nvPr/>
        </p:nvCxnSpPr>
        <p:spPr>
          <a:xfrm>
            <a:off x="6751382" y="2469100"/>
            <a:ext cx="869400" cy="271800"/>
          </a:xfrm>
          <a:prstGeom prst="straightConnector1">
            <a:avLst/>
          </a:prstGeom>
          <a:noFill/>
          <a:ln cap="flat" cmpd="sng" w="19050">
            <a:solidFill>
              <a:srgbClr val="666666"/>
            </a:solidFill>
            <a:prstDash val="solid"/>
            <a:round/>
            <a:headEnd len="med" w="med" type="none"/>
            <a:tailEnd len="med" w="med" type="none"/>
          </a:ln>
        </p:spPr>
      </p:cxnSp>
      <p:grpSp>
        <p:nvGrpSpPr>
          <p:cNvPr id="603" name="Google Shape;603;p48"/>
          <p:cNvGrpSpPr/>
          <p:nvPr/>
        </p:nvGrpSpPr>
        <p:grpSpPr>
          <a:xfrm>
            <a:off x="8063530" y="3610283"/>
            <a:ext cx="540353" cy="485613"/>
            <a:chOff x="8063530" y="3534083"/>
            <a:chExt cx="540353" cy="485613"/>
          </a:xfrm>
        </p:grpSpPr>
        <p:sp>
          <p:nvSpPr>
            <p:cNvPr id="604" name="Google Shape;604;p48"/>
            <p:cNvSpPr/>
            <p:nvPr/>
          </p:nvSpPr>
          <p:spPr>
            <a:xfrm>
              <a:off x="8113684" y="3694796"/>
              <a:ext cx="4902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q</a:t>
              </a:r>
              <a:endParaRPr sz="1800"/>
            </a:p>
          </p:txBody>
        </p:sp>
        <p:cxnSp>
          <p:nvCxnSpPr>
            <p:cNvPr id="605" name="Google Shape;605;p48"/>
            <p:cNvCxnSpPr>
              <a:stCxn id="597" idx="2"/>
              <a:endCxn id="604" idx="0"/>
            </p:cNvCxnSpPr>
            <p:nvPr/>
          </p:nvCxnSpPr>
          <p:spPr>
            <a:xfrm>
              <a:off x="8063530" y="3534083"/>
              <a:ext cx="295200" cy="160800"/>
            </a:xfrm>
            <a:prstGeom prst="straightConnector1">
              <a:avLst/>
            </a:prstGeom>
            <a:noFill/>
            <a:ln cap="flat" cmpd="sng" w="19050">
              <a:solidFill>
                <a:schemeClr val="dk2"/>
              </a:solidFill>
              <a:prstDash val="solid"/>
              <a:round/>
              <a:headEnd len="med" w="med" type="none"/>
              <a:tailEnd len="med" w="med" type="none"/>
            </a:ln>
          </p:spPr>
        </p:cxnSp>
      </p:grpSp>
      <p:grpSp>
        <p:nvGrpSpPr>
          <p:cNvPr id="606" name="Google Shape;606;p48"/>
          <p:cNvGrpSpPr/>
          <p:nvPr/>
        </p:nvGrpSpPr>
        <p:grpSpPr>
          <a:xfrm>
            <a:off x="8332652" y="4095896"/>
            <a:ext cx="490200" cy="485699"/>
            <a:chOff x="8332652" y="4019696"/>
            <a:chExt cx="490200" cy="485699"/>
          </a:xfrm>
        </p:grpSpPr>
        <p:sp>
          <p:nvSpPr>
            <p:cNvPr id="607" name="Google Shape;607;p48"/>
            <p:cNvSpPr/>
            <p:nvPr/>
          </p:nvSpPr>
          <p:spPr>
            <a:xfrm>
              <a:off x="8332652" y="4180495"/>
              <a:ext cx="4902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r</a:t>
              </a:r>
              <a:endParaRPr sz="1800"/>
            </a:p>
          </p:txBody>
        </p:sp>
        <p:cxnSp>
          <p:nvCxnSpPr>
            <p:cNvPr id="608" name="Google Shape;608;p48"/>
            <p:cNvCxnSpPr>
              <a:stCxn id="604" idx="2"/>
              <a:endCxn id="607" idx="0"/>
            </p:cNvCxnSpPr>
            <p:nvPr/>
          </p:nvCxnSpPr>
          <p:spPr>
            <a:xfrm>
              <a:off x="8358784" y="4019696"/>
              <a:ext cx="219000" cy="160800"/>
            </a:xfrm>
            <a:prstGeom prst="straightConnector1">
              <a:avLst/>
            </a:prstGeom>
            <a:noFill/>
            <a:ln cap="flat" cmpd="sng" w="19050">
              <a:solidFill>
                <a:schemeClr val="dk2"/>
              </a:solidFill>
              <a:prstDash val="solid"/>
              <a:round/>
              <a:headEnd len="med" w="med" type="none"/>
              <a:tailEnd len="med" w="med" type="none"/>
            </a:ln>
          </p:spPr>
        </p:cxnSp>
      </p:grpSp>
      <p:grpSp>
        <p:nvGrpSpPr>
          <p:cNvPr id="609" name="Google Shape;609;p48"/>
          <p:cNvGrpSpPr/>
          <p:nvPr/>
        </p:nvGrpSpPr>
        <p:grpSpPr>
          <a:xfrm>
            <a:off x="8515933" y="4581595"/>
            <a:ext cx="490200" cy="485699"/>
            <a:chOff x="8515933" y="4505395"/>
            <a:chExt cx="490200" cy="485699"/>
          </a:xfrm>
        </p:grpSpPr>
        <p:sp>
          <p:nvSpPr>
            <p:cNvPr id="610" name="Google Shape;610;p48"/>
            <p:cNvSpPr/>
            <p:nvPr/>
          </p:nvSpPr>
          <p:spPr>
            <a:xfrm>
              <a:off x="8515933" y="4666194"/>
              <a:ext cx="4902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s</a:t>
              </a:r>
              <a:endParaRPr sz="1800"/>
            </a:p>
          </p:txBody>
        </p:sp>
        <p:cxnSp>
          <p:nvCxnSpPr>
            <p:cNvPr id="611" name="Google Shape;611;p48"/>
            <p:cNvCxnSpPr>
              <a:stCxn id="607" idx="2"/>
              <a:endCxn id="610" idx="0"/>
            </p:cNvCxnSpPr>
            <p:nvPr/>
          </p:nvCxnSpPr>
          <p:spPr>
            <a:xfrm>
              <a:off x="8577752" y="4505395"/>
              <a:ext cx="183300" cy="160800"/>
            </a:xfrm>
            <a:prstGeom prst="straightConnector1">
              <a:avLst/>
            </a:prstGeom>
            <a:noFill/>
            <a:ln cap="flat" cmpd="sng" w="19050">
              <a:solidFill>
                <a:schemeClr val="dk2"/>
              </a:solidFill>
              <a:prstDash val="solid"/>
              <a:round/>
              <a:headEnd len="med" w="med" type="none"/>
              <a:tailEnd len="med" w="med" type="none"/>
            </a:ln>
          </p:spPr>
        </p:cxn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5" name="Shape 615"/>
        <p:cNvGrpSpPr/>
        <p:nvPr/>
      </p:nvGrpSpPr>
      <p:grpSpPr>
        <a:xfrm>
          <a:off x="0" y="0"/>
          <a:ext cx="0" cy="0"/>
          <a:chOff x="0" y="0"/>
          <a:chExt cx="0" cy="0"/>
        </a:xfrm>
      </p:grpSpPr>
      <p:sp>
        <p:nvSpPr>
          <p:cNvPr id="616" name="Google Shape;616;p4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Good News and Bad News</a:t>
            </a:r>
            <a:endParaRPr/>
          </a:p>
        </p:txBody>
      </p:sp>
      <p:sp>
        <p:nvSpPr>
          <p:cNvPr id="617" name="Google Shape;617;p49"/>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Good news: BSTs have great performance if we insert items randomly. Performance is Θ(log N) per operation.</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Bad News: We can’t always insert our items in a random order. Why?</a:t>
            </a:r>
            <a:endParaRPr/>
          </a:p>
          <a:p>
            <a:pPr indent="-342900" lvl="0" marL="457200" rtl="0" algn="l">
              <a:spcBef>
                <a:spcPts val="600"/>
              </a:spcBef>
              <a:spcAft>
                <a:spcPts val="0"/>
              </a:spcAft>
              <a:buSzPts val="1800"/>
              <a:buChar char="●"/>
            </a:pPr>
            <a:r>
              <a:rPr lang="en"/>
              <a:t>Data comes in over time, don’t have all at once.</a:t>
            </a:r>
            <a:endParaRPr/>
          </a:p>
          <a:p>
            <a:pPr indent="-342900" lvl="1" marL="914400" rtl="0" algn="l">
              <a:spcBef>
                <a:spcPts val="600"/>
              </a:spcBef>
              <a:spcAft>
                <a:spcPts val="0"/>
              </a:spcAft>
              <a:buSzPts val="1800"/>
              <a:buChar char="○"/>
            </a:pPr>
            <a:r>
              <a:rPr lang="en"/>
              <a:t>Example: Storing dates of events.</a:t>
            </a:r>
            <a:endParaRPr/>
          </a:p>
          <a:p>
            <a:pPr indent="-342900" lvl="2" marL="1371600" rtl="0" algn="l">
              <a:spcBef>
                <a:spcPts val="600"/>
              </a:spcBef>
              <a:spcAft>
                <a:spcPts val="0"/>
              </a:spcAft>
              <a:buSzPts val="1800"/>
              <a:buChar char="■"/>
            </a:pPr>
            <a:r>
              <a:rPr lang="en"/>
              <a:t>add(“01-Jan-2019, 10:31:00”)</a:t>
            </a:r>
            <a:endParaRPr/>
          </a:p>
          <a:p>
            <a:pPr indent="-342900" lvl="2" marL="1371600" rtl="0" algn="l">
              <a:spcBef>
                <a:spcPts val="600"/>
              </a:spcBef>
              <a:spcAft>
                <a:spcPts val="0"/>
              </a:spcAft>
              <a:buSzPts val="1800"/>
              <a:buChar char="■"/>
            </a:pPr>
            <a:r>
              <a:rPr lang="en"/>
              <a:t>add(“01-Jan-2019, 18:51:00”)</a:t>
            </a:r>
            <a:endParaRPr/>
          </a:p>
          <a:p>
            <a:pPr indent="-342900" lvl="2" marL="1371600" rtl="0" algn="l">
              <a:spcBef>
                <a:spcPts val="600"/>
              </a:spcBef>
              <a:spcAft>
                <a:spcPts val="0"/>
              </a:spcAft>
              <a:buSzPts val="1800"/>
              <a:buChar char="■"/>
            </a:pPr>
            <a:r>
              <a:rPr lang="en"/>
              <a:t>add(“02-Jan-2019, 00:05:00”)</a:t>
            </a:r>
            <a:endParaRPr/>
          </a:p>
          <a:p>
            <a:pPr indent="-342900" lvl="2" marL="1371600" rtl="0" algn="l">
              <a:spcBef>
                <a:spcPts val="600"/>
              </a:spcBef>
              <a:spcAft>
                <a:spcPts val="0"/>
              </a:spcAft>
              <a:buSzPts val="1800"/>
              <a:buChar char="■"/>
            </a:pPr>
            <a:r>
              <a:rPr lang="en"/>
              <a:t>add(“02-Jan-2019, 23:10:00”)</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In this lecture, we’ll do something totally different.</a:t>
            </a:r>
            <a:endParaRPr/>
          </a:p>
        </p:txBody>
      </p:sp>
      <p:sp>
        <p:nvSpPr>
          <p:cNvPr id="618" name="Google Shape;618;p49"/>
          <p:cNvSpPr/>
          <p:nvPr/>
        </p:nvSpPr>
        <p:spPr>
          <a:xfrm>
            <a:off x="5649368" y="2740932"/>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e</a:t>
            </a:r>
            <a:endParaRPr sz="1800"/>
          </a:p>
        </p:txBody>
      </p:sp>
      <p:sp>
        <p:nvSpPr>
          <p:cNvPr id="619" name="Google Shape;619;p49"/>
          <p:cNvSpPr/>
          <p:nvPr/>
        </p:nvSpPr>
        <p:spPr>
          <a:xfrm>
            <a:off x="5235080" y="3285367"/>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b</a:t>
            </a:r>
            <a:endParaRPr sz="1800"/>
          </a:p>
        </p:txBody>
      </p:sp>
      <p:sp>
        <p:nvSpPr>
          <p:cNvPr id="620" name="Google Shape;620;p49"/>
          <p:cNvSpPr/>
          <p:nvPr/>
        </p:nvSpPr>
        <p:spPr>
          <a:xfrm>
            <a:off x="6064756" y="3285367"/>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g</a:t>
            </a:r>
            <a:endParaRPr sz="1800"/>
          </a:p>
        </p:txBody>
      </p:sp>
      <p:cxnSp>
        <p:nvCxnSpPr>
          <p:cNvPr id="621" name="Google Shape;621;p49"/>
          <p:cNvCxnSpPr>
            <a:stCxn id="619" idx="0"/>
            <a:endCxn id="618" idx="2"/>
          </p:cNvCxnSpPr>
          <p:nvPr/>
        </p:nvCxnSpPr>
        <p:spPr>
          <a:xfrm flipH="1" rot="10800000">
            <a:off x="5480330" y="3065767"/>
            <a:ext cx="414300" cy="219600"/>
          </a:xfrm>
          <a:prstGeom prst="straightConnector1">
            <a:avLst/>
          </a:prstGeom>
          <a:noFill/>
          <a:ln cap="flat" cmpd="sng" w="19050">
            <a:solidFill>
              <a:srgbClr val="666666"/>
            </a:solidFill>
            <a:prstDash val="solid"/>
            <a:round/>
            <a:headEnd len="med" w="med" type="none"/>
            <a:tailEnd len="med" w="med" type="none"/>
          </a:ln>
        </p:spPr>
      </p:cxnSp>
      <p:cxnSp>
        <p:nvCxnSpPr>
          <p:cNvPr id="622" name="Google Shape;622;p49"/>
          <p:cNvCxnSpPr>
            <a:stCxn id="620" idx="0"/>
            <a:endCxn id="618" idx="2"/>
          </p:cNvCxnSpPr>
          <p:nvPr/>
        </p:nvCxnSpPr>
        <p:spPr>
          <a:xfrm rot="10800000">
            <a:off x="5894506" y="3065767"/>
            <a:ext cx="415500" cy="219600"/>
          </a:xfrm>
          <a:prstGeom prst="straightConnector1">
            <a:avLst/>
          </a:prstGeom>
          <a:noFill/>
          <a:ln cap="flat" cmpd="sng" w="19050">
            <a:solidFill>
              <a:srgbClr val="666666"/>
            </a:solidFill>
            <a:prstDash val="solid"/>
            <a:round/>
            <a:headEnd len="med" w="med" type="none"/>
            <a:tailEnd len="med" w="med" type="none"/>
          </a:ln>
        </p:spPr>
      </p:cxnSp>
      <p:sp>
        <p:nvSpPr>
          <p:cNvPr id="623" name="Google Shape;623;p49"/>
          <p:cNvSpPr/>
          <p:nvPr/>
        </p:nvSpPr>
        <p:spPr>
          <a:xfrm>
            <a:off x="7375542" y="2740923"/>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o</a:t>
            </a:r>
            <a:endParaRPr sz="1800"/>
          </a:p>
        </p:txBody>
      </p:sp>
      <p:sp>
        <p:nvSpPr>
          <p:cNvPr id="624" name="Google Shape;624;p49"/>
          <p:cNvSpPr/>
          <p:nvPr/>
        </p:nvSpPr>
        <p:spPr>
          <a:xfrm>
            <a:off x="7009004" y="3285383"/>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n</a:t>
            </a:r>
            <a:endParaRPr sz="1800"/>
          </a:p>
        </p:txBody>
      </p:sp>
      <p:sp>
        <p:nvSpPr>
          <p:cNvPr id="625" name="Google Shape;625;p49"/>
          <p:cNvSpPr/>
          <p:nvPr/>
        </p:nvSpPr>
        <p:spPr>
          <a:xfrm>
            <a:off x="7818280" y="3285383"/>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p</a:t>
            </a:r>
            <a:endParaRPr sz="1800"/>
          </a:p>
        </p:txBody>
      </p:sp>
      <p:cxnSp>
        <p:nvCxnSpPr>
          <p:cNvPr id="626" name="Google Shape;626;p49"/>
          <p:cNvCxnSpPr>
            <a:stCxn id="624" idx="0"/>
            <a:endCxn id="623" idx="2"/>
          </p:cNvCxnSpPr>
          <p:nvPr/>
        </p:nvCxnSpPr>
        <p:spPr>
          <a:xfrm flipH="1" rot="10800000">
            <a:off x="7254254" y="3065783"/>
            <a:ext cx="366600" cy="219600"/>
          </a:xfrm>
          <a:prstGeom prst="straightConnector1">
            <a:avLst/>
          </a:prstGeom>
          <a:noFill/>
          <a:ln cap="flat" cmpd="sng" w="19050">
            <a:solidFill>
              <a:srgbClr val="666666"/>
            </a:solidFill>
            <a:prstDash val="solid"/>
            <a:round/>
            <a:headEnd len="med" w="med" type="none"/>
            <a:tailEnd len="med" w="med" type="none"/>
          </a:ln>
        </p:spPr>
      </p:cxnSp>
      <p:cxnSp>
        <p:nvCxnSpPr>
          <p:cNvPr id="627" name="Google Shape;627;p49"/>
          <p:cNvCxnSpPr>
            <a:stCxn id="625" idx="0"/>
            <a:endCxn id="623" idx="2"/>
          </p:cNvCxnSpPr>
          <p:nvPr/>
        </p:nvCxnSpPr>
        <p:spPr>
          <a:xfrm rot="10800000">
            <a:off x="7620730" y="3065783"/>
            <a:ext cx="442800" cy="219600"/>
          </a:xfrm>
          <a:prstGeom prst="straightConnector1">
            <a:avLst/>
          </a:prstGeom>
          <a:noFill/>
          <a:ln cap="flat" cmpd="sng" w="19050">
            <a:solidFill>
              <a:srgbClr val="666666"/>
            </a:solidFill>
            <a:prstDash val="solid"/>
            <a:round/>
            <a:headEnd len="med" w="med" type="none"/>
            <a:tailEnd len="med" w="med" type="none"/>
          </a:ln>
        </p:spPr>
      </p:cxnSp>
      <p:sp>
        <p:nvSpPr>
          <p:cNvPr id="628" name="Google Shape;628;p49"/>
          <p:cNvSpPr/>
          <p:nvPr/>
        </p:nvSpPr>
        <p:spPr>
          <a:xfrm>
            <a:off x="6506132" y="2144200"/>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m</a:t>
            </a:r>
            <a:endParaRPr sz="1800"/>
          </a:p>
        </p:txBody>
      </p:sp>
      <p:cxnSp>
        <p:nvCxnSpPr>
          <p:cNvPr id="629" name="Google Shape;629;p49"/>
          <p:cNvCxnSpPr>
            <a:stCxn id="628" idx="2"/>
            <a:endCxn id="618" idx="0"/>
          </p:cNvCxnSpPr>
          <p:nvPr/>
        </p:nvCxnSpPr>
        <p:spPr>
          <a:xfrm flipH="1">
            <a:off x="5894582" y="2469100"/>
            <a:ext cx="856800" cy="271800"/>
          </a:xfrm>
          <a:prstGeom prst="straightConnector1">
            <a:avLst/>
          </a:prstGeom>
          <a:noFill/>
          <a:ln cap="flat" cmpd="sng" w="19050">
            <a:solidFill>
              <a:srgbClr val="666666"/>
            </a:solidFill>
            <a:prstDash val="solid"/>
            <a:round/>
            <a:headEnd len="med" w="med" type="none"/>
            <a:tailEnd len="med" w="med" type="none"/>
          </a:ln>
        </p:spPr>
      </p:cxnSp>
      <p:cxnSp>
        <p:nvCxnSpPr>
          <p:cNvPr id="630" name="Google Shape;630;p49"/>
          <p:cNvCxnSpPr>
            <a:stCxn id="628" idx="2"/>
            <a:endCxn id="623" idx="0"/>
          </p:cNvCxnSpPr>
          <p:nvPr/>
        </p:nvCxnSpPr>
        <p:spPr>
          <a:xfrm>
            <a:off x="6751382" y="2469100"/>
            <a:ext cx="869400" cy="271800"/>
          </a:xfrm>
          <a:prstGeom prst="straightConnector1">
            <a:avLst/>
          </a:prstGeom>
          <a:noFill/>
          <a:ln cap="flat" cmpd="sng" w="19050">
            <a:solidFill>
              <a:srgbClr val="666666"/>
            </a:solidFill>
            <a:prstDash val="solid"/>
            <a:round/>
            <a:headEnd len="med" w="med" type="none"/>
            <a:tailEnd len="med" w="med" type="none"/>
          </a:ln>
        </p:spPr>
      </p:cxnSp>
      <p:grpSp>
        <p:nvGrpSpPr>
          <p:cNvPr id="631" name="Google Shape;631;p49"/>
          <p:cNvGrpSpPr/>
          <p:nvPr/>
        </p:nvGrpSpPr>
        <p:grpSpPr>
          <a:xfrm>
            <a:off x="8063530" y="3610283"/>
            <a:ext cx="540353" cy="485613"/>
            <a:chOff x="8063530" y="3534083"/>
            <a:chExt cx="540353" cy="485613"/>
          </a:xfrm>
        </p:grpSpPr>
        <p:sp>
          <p:nvSpPr>
            <p:cNvPr id="632" name="Google Shape;632;p49"/>
            <p:cNvSpPr/>
            <p:nvPr/>
          </p:nvSpPr>
          <p:spPr>
            <a:xfrm>
              <a:off x="8113684" y="3694796"/>
              <a:ext cx="4902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q</a:t>
              </a:r>
              <a:endParaRPr sz="1800"/>
            </a:p>
          </p:txBody>
        </p:sp>
        <p:cxnSp>
          <p:nvCxnSpPr>
            <p:cNvPr id="633" name="Google Shape;633;p49"/>
            <p:cNvCxnSpPr>
              <a:stCxn id="625" idx="2"/>
              <a:endCxn id="632" idx="0"/>
            </p:cNvCxnSpPr>
            <p:nvPr/>
          </p:nvCxnSpPr>
          <p:spPr>
            <a:xfrm>
              <a:off x="8063530" y="3534083"/>
              <a:ext cx="295200" cy="160800"/>
            </a:xfrm>
            <a:prstGeom prst="straightConnector1">
              <a:avLst/>
            </a:prstGeom>
            <a:noFill/>
            <a:ln cap="flat" cmpd="sng" w="19050">
              <a:solidFill>
                <a:schemeClr val="dk2"/>
              </a:solidFill>
              <a:prstDash val="solid"/>
              <a:round/>
              <a:headEnd len="med" w="med" type="none"/>
              <a:tailEnd len="med" w="med" type="none"/>
            </a:ln>
          </p:spPr>
        </p:cxnSp>
      </p:grpSp>
      <p:grpSp>
        <p:nvGrpSpPr>
          <p:cNvPr id="634" name="Google Shape;634;p49"/>
          <p:cNvGrpSpPr/>
          <p:nvPr/>
        </p:nvGrpSpPr>
        <p:grpSpPr>
          <a:xfrm>
            <a:off x="8332652" y="4095896"/>
            <a:ext cx="490200" cy="485699"/>
            <a:chOff x="8332652" y="4019696"/>
            <a:chExt cx="490200" cy="485699"/>
          </a:xfrm>
        </p:grpSpPr>
        <p:sp>
          <p:nvSpPr>
            <p:cNvPr id="635" name="Google Shape;635;p49"/>
            <p:cNvSpPr/>
            <p:nvPr/>
          </p:nvSpPr>
          <p:spPr>
            <a:xfrm>
              <a:off x="8332652" y="4180495"/>
              <a:ext cx="4902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r</a:t>
              </a:r>
              <a:endParaRPr sz="1800"/>
            </a:p>
          </p:txBody>
        </p:sp>
        <p:cxnSp>
          <p:nvCxnSpPr>
            <p:cNvPr id="636" name="Google Shape;636;p49"/>
            <p:cNvCxnSpPr>
              <a:stCxn id="632" idx="2"/>
              <a:endCxn id="635" idx="0"/>
            </p:cNvCxnSpPr>
            <p:nvPr/>
          </p:nvCxnSpPr>
          <p:spPr>
            <a:xfrm>
              <a:off x="8358784" y="4019696"/>
              <a:ext cx="219000" cy="160800"/>
            </a:xfrm>
            <a:prstGeom prst="straightConnector1">
              <a:avLst/>
            </a:prstGeom>
            <a:noFill/>
            <a:ln cap="flat" cmpd="sng" w="19050">
              <a:solidFill>
                <a:schemeClr val="dk2"/>
              </a:solidFill>
              <a:prstDash val="solid"/>
              <a:round/>
              <a:headEnd len="med" w="med" type="none"/>
              <a:tailEnd len="med" w="med" type="none"/>
            </a:ln>
          </p:spPr>
        </p:cxnSp>
      </p:grpSp>
      <p:grpSp>
        <p:nvGrpSpPr>
          <p:cNvPr id="637" name="Google Shape;637;p49"/>
          <p:cNvGrpSpPr/>
          <p:nvPr/>
        </p:nvGrpSpPr>
        <p:grpSpPr>
          <a:xfrm>
            <a:off x="8515933" y="4581595"/>
            <a:ext cx="490200" cy="485699"/>
            <a:chOff x="8515933" y="4505395"/>
            <a:chExt cx="490200" cy="485699"/>
          </a:xfrm>
        </p:grpSpPr>
        <p:sp>
          <p:nvSpPr>
            <p:cNvPr id="638" name="Google Shape;638;p49"/>
            <p:cNvSpPr/>
            <p:nvPr/>
          </p:nvSpPr>
          <p:spPr>
            <a:xfrm>
              <a:off x="8515933" y="4666194"/>
              <a:ext cx="4902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s</a:t>
              </a:r>
              <a:endParaRPr sz="1800"/>
            </a:p>
          </p:txBody>
        </p:sp>
        <p:cxnSp>
          <p:nvCxnSpPr>
            <p:cNvPr id="639" name="Google Shape;639;p49"/>
            <p:cNvCxnSpPr>
              <a:stCxn id="635" idx="2"/>
              <a:endCxn id="638" idx="0"/>
            </p:cNvCxnSpPr>
            <p:nvPr/>
          </p:nvCxnSpPr>
          <p:spPr>
            <a:xfrm>
              <a:off x="8577752" y="4505395"/>
              <a:ext cx="183300" cy="160800"/>
            </a:xfrm>
            <a:prstGeom prst="straightConnector1">
              <a:avLst/>
            </a:prstGeom>
            <a:noFill/>
            <a:ln cap="flat" cmpd="sng" w="19050">
              <a:solidFill>
                <a:schemeClr val="dk2"/>
              </a:solidFill>
              <a:prstDash val="solid"/>
              <a:round/>
              <a:headEnd len="med" w="med" type="none"/>
              <a:tailEnd len="med" w="med" type="none"/>
            </a:ln>
          </p:spPr>
        </p:cxn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50"/>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Binary Search Trees</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BST Height, Big O vs. Worst Case Big Theta</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Worst Case Performance</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B-Trees</a:t>
            </a:r>
            <a:endParaRPr b="1">
              <a:solidFill>
                <a:schemeClr val="accent3"/>
              </a:solidFill>
              <a:latin typeface="Roboto"/>
              <a:ea typeface="Roboto"/>
              <a:cs typeface="Roboto"/>
              <a:sym typeface="Roboto"/>
            </a:endParaRPr>
          </a:p>
          <a:p>
            <a:pPr indent="-342900" lvl="0" marL="457200" rtl="0" algn="l">
              <a:spcBef>
                <a:spcPts val="60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Splitting Juicy Nodes</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Chain Reaction Splitting</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B-Tree Terminology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Invariants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Worst Case Performance</a:t>
            </a:r>
            <a:endParaRPr>
              <a:solidFill>
                <a:srgbClr val="B7B7B7"/>
              </a:solidFill>
            </a:endParaRPr>
          </a:p>
        </p:txBody>
      </p:sp>
      <p:sp>
        <p:nvSpPr>
          <p:cNvPr id="645" name="Google Shape;645;p50"/>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Splitting Juicy Nodes</a:t>
            </a:r>
            <a:endParaRPr/>
          </a:p>
        </p:txBody>
      </p:sp>
      <p:sp>
        <p:nvSpPr>
          <p:cNvPr id="646" name="Google Shape;646;p50"/>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17, CS61B, Fall 2023</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5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Avoiding Imbalance</a:t>
            </a:r>
            <a:endParaRPr/>
          </a:p>
        </p:txBody>
      </p:sp>
      <p:sp>
        <p:nvSpPr>
          <p:cNvPr id="652" name="Google Shape;652;p51"/>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problem is adding new leaves at the bottom.</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Crazy idea: Never add new leaves at the bottom.</a:t>
            </a:r>
            <a:endParaRPr/>
          </a:p>
          <a:p>
            <a:pPr indent="-342900" lvl="0" marL="457200" rtl="0" algn="l">
              <a:spcBef>
                <a:spcPts val="600"/>
              </a:spcBef>
              <a:spcAft>
                <a:spcPts val="0"/>
              </a:spcAft>
              <a:buSzPts val="1800"/>
              <a:buChar char="●"/>
            </a:pPr>
            <a:r>
              <a:rPr lang="en"/>
              <a:t>Tree can never get imbalanced.</a:t>
            </a:r>
            <a:endParaRPr/>
          </a:p>
        </p:txBody>
      </p:sp>
      <p:sp>
        <p:nvSpPr>
          <p:cNvPr id="653" name="Google Shape;653;p51"/>
          <p:cNvSpPr/>
          <p:nvPr/>
        </p:nvSpPr>
        <p:spPr>
          <a:xfrm>
            <a:off x="5801768" y="1750332"/>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5</a:t>
            </a:r>
            <a:endParaRPr sz="1800"/>
          </a:p>
        </p:txBody>
      </p:sp>
      <p:sp>
        <p:nvSpPr>
          <p:cNvPr id="654" name="Google Shape;654;p51"/>
          <p:cNvSpPr/>
          <p:nvPr/>
        </p:nvSpPr>
        <p:spPr>
          <a:xfrm>
            <a:off x="5387480" y="2294767"/>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a:t>
            </a:r>
            <a:endParaRPr sz="1800"/>
          </a:p>
        </p:txBody>
      </p:sp>
      <p:sp>
        <p:nvSpPr>
          <p:cNvPr id="655" name="Google Shape;655;p51"/>
          <p:cNvSpPr/>
          <p:nvPr/>
        </p:nvSpPr>
        <p:spPr>
          <a:xfrm>
            <a:off x="6217156" y="2294767"/>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7</a:t>
            </a:r>
            <a:endParaRPr sz="1800"/>
          </a:p>
        </p:txBody>
      </p:sp>
      <p:cxnSp>
        <p:nvCxnSpPr>
          <p:cNvPr id="656" name="Google Shape;656;p51"/>
          <p:cNvCxnSpPr>
            <a:stCxn id="654" idx="0"/>
            <a:endCxn id="653" idx="2"/>
          </p:cNvCxnSpPr>
          <p:nvPr/>
        </p:nvCxnSpPr>
        <p:spPr>
          <a:xfrm flipH="1" rot="10800000">
            <a:off x="5632730" y="2075167"/>
            <a:ext cx="414300" cy="219600"/>
          </a:xfrm>
          <a:prstGeom prst="straightConnector1">
            <a:avLst/>
          </a:prstGeom>
          <a:noFill/>
          <a:ln cap="flat" cmpd="sng" w="19050">
            <a:solidFill>
              <a:srgbClr val="666666"/>
            </a:solidFill>
            <a:prstDash val="solid"/>
            <a:round/>
            <a:headEnd len="med" w="med" type="none"/>
            <a:tailEnd len="med" w="med" type="none"/>
          </a:ln>
        </p:spPr>
      </p:cxnSp>
      <p:cxnSp>
        <p:nvCxnSpPr>
          <p:cNvPr id="657" name="Google Shape;657;p51"/>
          <p:cNvCxnSpPr>
            <a:stCxn id="655" idx="0"/>
            <a:endCxn id="653" idx="2"/>
          </p:cNvCxnSpPr>
          <p:nvPr/>
        </p:nvCxnSpPr>
        <p:spPr>
          <a:xfrm rot="10800000">
            <a:off x="6046906" y="2075167"/>
            <a:ext cx="415500" cy="219600"/>
          </a:xfrm>
          <a:prstGeom prst="straightConnector1">
            <a:avLst/>
          </a:prstGeom>
          <a:noFill/>
          <a:ln cap="flat" cmpd="sng" w="19050">
            <a:solidFill>
              <a:srgbClr val="666666"/>
            </a:solidFill>
            <a:prstDash val="solid"/>
            <a:round/>
            <a:headEnd len="med" w="med" type="none"/>
            <a:tailEnd len="med" w="med" type="none"/>
          </a:ln>
        </p:spPr>
      </p:cxnSp>
      <p:sp>
        <p:nvSpPr>
          <p:cNvPr id="658" name="Google Shape;658;p51"/>
          <p:cNvSpPr/>
          <p:nvPr/>
        </p:nvSpPr>
        <p:spPr>
          <a:xfrm>
            <a:off x="7527942" y="1750323"/>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15</a:t>
            </a:r>
            <a:endParaRPr sz="1800"/>
          </a:p>
        </p:txBody>
      </p:sp>
      <p:sp>
        <p:nvSpPr>
          <p:cNvPr id="659" name="Google Shape;659;p51"/>
          <p:cNvSpPr/>
          <p:nvPr/>
        </p:nvSpPr>
        <p:spPr>
          <a:xfrm>
            <a:off x="7161404" y="2294783"/>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14</a:t>
            </a:r>
            <a:endParaRPr sz="1800"/>
          </a:p>
        </p:txBody>
      </p:sp>
      <p:sp>
        <p:nvSpPr>
          <p:cNvPr id="660" name="Google Shape;660;p51"/>
          <p:cNvSpPr/>
          <p:nvPr/>
        </p:nvSpPr>
        <p:spPr>
          <a:xfrm>
            <a:off x="7970680" y="2294783"/>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16</a:t>
            </a:r>
            <a:endParaRPr sz="1800"/>
          </a:p>
        </p:txBody>
      </p:sp>
      <p:cxnSp>
        <p:nvCxnSpPr>
          <p:cNvPr id="661" name="Google Shape;661;p51"/>
          <p:cNvCxnSpPr>
            <a:stCxn id="659" idx="0"/>
            <a:endCxn id="658" idx="2"/>
          </p:cNvCxnSpPr>
          <p:nvPr/>
        </p:nvCxnSpPr>
        <p:spPr>
          <a:xfrm flipH="1" rot="10800000">
            <a:off x="7406654" y="2075183"/>
            <a:ext cx="366600" cy="219600"/>
          </a:xfrm>
          <a:prstGeom prst="straightConnector1">
            <a:avLst/>
          </a:prstGeom>
          <a:noFill/>
          <a:ln cap="flat" cmpd="sng" w="19050">
            <a:solidFill>
              <a:srgbClr val="666666"/>
            </a:solidFill>
            <a:prstDash val="solid"/>
            <a:round/>
            <a:headEnd len="med" w="med" type="none"/>
            <a:tailEnd len="med" w="med" type="none"/>
          </a:ln>
        </p:spPr>
      </p:cxnSp>
      <p:cxnSp>
        <p:nvCxnSpPr>
          <p:cNvPr id="662" name="Google Shape;662;p51"/>
          <p:cNvCxnSpPr>
            <a:stCxn id="660" idx="0"/>
            <a:endCxn id="658" idx="2"/>
          </p:cNvCxnSpPr>
          <p:nvPr/>
        </p:nvCxnSpPr>
        <p:spPr>
          <a:xfrm rot="10800000">
            <a:off x="7773130" y="2075183"/>
            <a:ext cx="442800" cy="219600"/>
          </a:xfrm>
          <a:prstGeom prst="straightConnector1">
            <a:avLst/>
          </a:prstGeom>
          <a:noFill/>
          <a:ln cap="flat" cmpd="sng" w="19050">
            <a:solidFill>
              <a:srgbClr val="666666"/>
            </a:solidFill>
            <a:prstDash val="solid"/>
            <a:round/>
            <a:headEnd len="med" w="med" type="none"/>
            <a:tailEnd len="med" w="med" type="none"/>
          </a:ln>
        </p:spPr>
      </p:cxnSp>
      <p:sp>
        <p:nvSpPr>
          <p:cNvPr id="663" name="Google Shape;663;p51"/>
          <p:cNvSpPr/>
          <p:nvPr/>
        </p:nvSpPr>
        <p:spPr>
          <a:xfrm>
            <a:off x="6658533" y="1153600"/>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13</a:t>
            </a:r>
            <a:endParaRPr sz="1800"/>
          </a:p>
        </p:txBody>
      </p:sp>
      <p:cxnSp>
        <p:nvCxnSpPr>
          <p:cNvPr id="664" name="Google Shape;664;p51"/>
          <p:cNvCxnSpPr>
            <a:stCxn id="663" idx="2"/>
            <a:endCxn id="653" idx="0"/>
          </p:cNvCxnSpPr>
          <p:nvPr/>
        </p:nvCxnSpPr>
        <p:spPr>
          <a:xfrm flipH="1">
            <a:off x="6046983" y="1478500"/>
            <a:ext cx="856800" cy="271800"/>
          </a:xfrm>
          <a:prstGeom prst="straightConnector1">
            <a:avLst/>
          </a:prstGeom>
          <a:noFill/>
          <a:ln cap="flat" cmpd="sng" w="19050">
            <a:solidFill>
              <a:srgbClr val="666666"/>
            </a:solidFill>
            <a:prstDash val="solid"/>
            <a:round/>
            <a:headEnd len="med" w="med" type="none"/>
            <a:tailEnd len="med" w="med" type="none"/>
          </a:ln>
        </p:spPr>
      </p:cxnSp>
      <p:cxnSp>
        <p:nvCxnSpPr>
          <p:cNvPr id="665" name="Google Shape;665;p51"/>
          <p:cNvCxnSpPr>
            <a:stCxn id="663" idx="2"/>
            <a:endCxn id="658" idx="0"/>
          </p:cNvCxnSpPr>
          <p:nvPr/>
        </p:nvCxnSpPr>
        <p:spPr>
          <a:xfrm>
            <a:off x="6903783" y="1478500"/>
            <a:ext cx="869400" cy="271800"/>
          </a:xfrm>
          <a:prstGeom prst="straightConnector1">
            <a:avLst/>
          </a:prstGeom>
          <a:noFill/>
          <a:ln cap="flat" cmpd="sng" w="19050">
            <a:solidFill>
              <a:srgbClr val="666666"/>
            </a:solidFill>
            <a:prstDash val="solid"/>
            <a:round/>
            <a:headEnd len="med" w="med" type="none"/>
            <a:tailEnd len="med" w="med" type="none"/>
          </a:ln>
        </p:spPr>
      </p:cxnSp>
      <p:grpSp>
        <p:nvGrpSpPr>
          <p:cNvPr id="666" name="Google Shape;666;p51"/>
          <p:cNvGrpSpPr/>
          <p:nvPr/>
        </p:nvGrpSpPr>
        <p:grpSpPr>
          <a:xfrm>
            <a:off x="5787075" y="3441350"/>
            <a:ext cx="2728800" cy="1384994"/>
            <a:chOff x="5787075" y="3441350"/>
            <a:chExt cx="2728800" cy="1384994"/>
          </a:xfrm>
        </p:grpSpPr>
        <p:sp>
          <p:nvSpPr>
            <p:cNvPr id="667" name="Google Shape;667;p51"/>
            <p:cNvSpPr/>
            <p:nvPr/>
          </p:nvSpPr>
          <p:spPr>
            <a:xfrm>
              <a:off x="6462409" y="4326646"/>
              <a:ext cx="4902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17</a:t>
              </a:r>
              <a:endParaRPr sz="1800"/>
            </a:p>
          </p:txBody>
        </p:sp>
        <p:sp>
          <p:nvSpPr>
            <p:cNvPr id="668" name="Google Shape;668;p51"/>
            <p:cNvSpPr/>
            <p:nvPr/>
          </p:nvSpPr>
          <p:spPr>
            <a:xfrm>
              <a:off x="7161552" y="3782145"/>
              <a:ext cx="4902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18</a:t>
              </a:r>
              <a:endParaRPr sz="1800"/>
            </a:p>
          </p:txBody>
        </p:sp>
        <p:sp>
          <p:nvSpPr>
            <p:cNvPr id="669" name="Google Shape;669;p51"/>
            <p:cNvSpPr/>
            <p:nvPr/>
          </p:nvSpPr>
          <p:spPr>
            <a:xfrm>
              <a:off x="7970833" y="4501444"/>
              <a:ext cx="4902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19</a:t>
              </a:r>
              <a:endParaRPr sz="1800"/>
            </a:p>
          </p:txBody>
        </p:sp>
        <p:sp>
          <p:nvSpPr>
            <p:cNvPr id="670" name="Google Shape;670;p51"/>
            <p:cNvSpPr txBox="1"/>
            <p:nvPr/>
          </p:nvSpPr>
          <p:spPr>
            <a:xfrm>
              <a:off x="5787075" y="3822350"/>
              <a:ext cx="366600" cy="32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t>?</a:t>
              </a:r>
              <a:endParaRPr sz="2000"/>
            </a:p>
          </p:txBody>
        </p:sp>
        <p:sp>
          <p:nvSpPr>
            <p:cNvPr id="671" name="Google Shape;671;p51"/>
            <p:cNvSpPr txBox="1"/>
            <p:nvPr/>
          </p:nvSpPr>
          <p:spPr>
            <a:xfrm>
              <a:off x="6472875" y="3441350"/>
              <a:ext cx="366600" cy="32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t>?</a:t>
              </a:r>
              <a:endParaRPr sz="2000"/>
            </a:p>
          </p:txBody>
        </p:sp>
        <p:sp>
          <p:nvSpPr>
            <p:cNvPr id="672" name="Google Shape;672;p51"/>
            <p:cNvSpPr txBox="1"/>
            <p:nvPr/>
          </p:nvSpPr>
          <p:spPr>
            <a:xfrm>
              <a:off x="7311075" y="4279550"/>
              <a:ext cx="366600" cy="32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t>?</a:t>
              </a:r>
              <a:endParaRPr sz="2000"/>
            </a:p>
          </p:txBody>
        </p:sp>
        <p:sp>
          <p:nvSpPr>
            <p:cNvPr id="673" name="Google Shape;673;p51"/>
            <p:cNvSpPr txBox="1"/>
            <p:nvPr/>
          </p:nvSpPr>
          <p:spPr>
            <a:xfrm>
              <a:off x="8149275" y="3822350"/>
              <a:ext cx="366600" cy="32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t>?</a:t>
              </a:r>
              <a:endParaRPr sz="2000"/>
            </a:p>
          </p:txBody>
        </p:sp>
      </p:grpSp>
      <p:sp>
        <p:nvSpPr>
          <p:cNvPr id="674" name="Google Shape;674;p51"/>
          <p:cNvSpPr txBox="1"/>
          <p:nvPr/>
        </p:nvSpPr>
        <p:spPr>
          <a:xfrm>
            <a:off x="304800" y="3200400"/>
            <a:ext cx="5038500" cy="495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dk1"/>
                </a:solidFill>
                <a:latin typeface="Calibri"/>
                <a:ea typeface="Calibri"/>
                <a:cs typeface="Calibri"/>
                <a:sym typeface="Calibri"/>
              </a:rPr>
              <a:t>Q: What do we do with incoming keys?</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6"/>
                                        </p:tgtEl>
                                        <p:attrNameLst>
                                          <p:attrName>style.visibility</p:attrName>
                                        </p:attrNameLst>
                                      </p:cBhvr>
                                      <p:to>
                                        <p:strVal val="visible"/>
                                      </p:to>
                                    </p:set>
                                    <p:animEffect filter="fade" transition="in">
                                      <p:cBhvr>
                                        <p:cTn dur="1"/>
                                        <p:tgtEl>
                                          <p:spTgt spid="6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xEl>
                                              <p:pRg end="0" st="0"/>
                                            </p:txEl>
                                          </p:spTgt>
                                        </p:tgtEl>
                                        <p:attrNameLst>
                                          <p:attrName>style.visibility</p:attrName>
                                        </p:attrNameLst>
                                      </p:cBhvr>
                                      <p:to>
                                        <p:strVal val="visible"/>
                                      </p:to>
                                    </p:set>
                                    <p:animEffect filter="fade" transition="in">
                                      <p:cBhvr>
                                        <p:cTn dur="1"/>
                                        <p:tgtEl>
                                          <p:spTgt spid="65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xEl>
                                              <p:pRg end="1" st="1"/>
                                            </p:txEl>
                                          </p:spTgt>
                                        </p:tgtEl>
                                        <p:attrNameLst>
                                          <p:attrName>style.visibility</p:attrName>
                                        </p:attrNameLst>
                                      </p:cBhvr>
                                      <p:to>
                                        <p:strVal val="visible"/>
                                      </p:to>
                                    </p:set>
                                    <p:animEffect filter="fade" transition="in">
                                      <p:cBhvr>
                                        <p:cTn dur="1"/>
                                        <p:tgtEl>
                                          <p:spTgt spid="65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xEl>
                                              <p:pRg end="2" st="2"/>
                                            </p:txEl>
                                          </p:spTgt>
                                        </p:tgtEl>
                                        <p:attrNameLst>
                                          <p:attrName>style.visibility</p:attrName>
                                        </p:attrNameLst>
                                      </p:cBhvr>
                                      <p:to>
                                        <p:strVal val="visible"/>
                                      </p:to>
                                    </p:set>
                                    <p:animEffect filter="fade" transition="in">
                                      <p:cBhvr>
                                        <p:cTn dur="1"/>
                                        <p:tgtEl>
                                          <p:spTgt spid="65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xEl>
                                              <p:pRg end="3" st="3"/>
                                            </p:txEl>
                                          </p:spTgt>
                                        </p:tgtEl>
                                        <p:attrNameLst>
                                          <p:attrName>style.visibility</p:attrName>
                                        </p:attrNameLst>
                                      </p:cBhvr>
                                      <p:to>
                                        <p:strVal val="visible"/>
                                      </p:to>
                                    </p:set>
                                    <p:animEffect filter="fade" transition="in">
                                      <p:cBhvr>
                                        <p:cTn dur="1"/>
                                        <p:tgtEl>
                                          <p:spTgt spid="65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4"/>
                                        </p:tgtEl>
                                        <p:attrNameLst>
                                          <p:attrName>style.visibility</p:attrName>
                                        </p:attrNameLst>
                                      </p:cBhvr>
                                      <p:to>
                                        <p:strVal val="visible"/>
                                      </p:to>
                                    </p:set>
                                    <p:animEffect filter="fade" transition="in">
                                      <p:cBhvr>
                                        <p:cTn dur="1"/>
                                        <p:tgtEl>
                                          <p:spTgt spid="6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5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Avoiding Imbalance through Overstuffing</a:t>
            </a:r>
            <a:endParaRPr/>
          </a:p>
        </p:txBody>
      </p:sp>
      <p:sp>
        <p:nvSpPr>
          <p:cNvPr id="680" name="Google Shape;680;p52"/>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The problem is adding new leaves at the bottom.</a:t>
            </a:r>
            <a:endParaRPr/>
          </a:p>
        </p:txBody>
      </p:sp>
      <p:cxnSp>
        <p:nvCxnSpPr>
          <p:cNvPr id="681" name="Google Shape;681;p52"/>
          <p:cNvCxnSpPr/>
          <p:nvPr/>
        </p:nvCxnSpPr>
        <p:spPr>
          <a:xfrm flipH="1">
            <a:off x="3734300" y="2977975"/>
            <a:ext cx="1208400" cy="323700"/>
          </a:xfrm>
          <a:prstGeom prst="straightConnector1">
            <a:avLst/>
          </a:prstGeom>
          <a:noFill/>
          <a:ln cap="flat" cmpd="sng" w="19050">
            <a:solidFill>
              <a:schemeClr val="dk2"/>
            </a:solidFill>
            <a:prstDash val="solid"/>
            <a:round/>
            <a:headEnd len="med" w="med" type="none"/>
            <a:tailEnd len="med" w="med" type="triangle"/>
          </a:ln>
        </p:spPr>
      </p:cxnSp>
      <p:cxnSp>
        <p:nvCxnSpPr>
          <p:cNvPr id="682" name="Google Shape;682;p52"/>
          <p:cNvCxnSpPr/>
          <p:nvPr/>
        </p:nvCxnSpPr>
        <p:spPr>
          <a:xfrm>
            <a:off x="3892375" y="3987125"/>
            <a:ext cx="638400" cy="0"/>
          </a:xfrm>
          <a:prstGeom prst="straightConnector1">
            <a:avLst/>
          </a:prstGeom>
          <a:noFill/>
          <a:ln cap="flat" cmpd="sng" w="19050">
            <a:solidFill>
              <a:schemeClr val="dk2"/>
            </a:solidFill>
            <a:prstDash val="solid"/>
            <a:round/>
            <a:headEnd len="med" w="med" type="none"/>
            <a:tailEnd len="med" w="med" type="triangle"/>
          </a:ln>
        </p:spPr>
      </p:cxnSp>
      <p:sp>
        <p:nvSpPr>
          <p:cNvPr id="683" name="Google Shape;683;p52"/>
          <p:cNvSpPr txBox="1"/>
          <p:nvPr/>
        </p:nvSpPr>
        <p:spPr>
          <a:xfrm>
            <a:off x="243509" y="1325191"/>
            <a:ext cx="5480400" cy="1431300"/>
          </a:xfrm>
          <a:prstGeom prst="rect">
            <a:avLst/>
          </a:prstGeom>
          <a:noFill/>
          <a:ln>
            <a:noFill/>
          </a:ln>
        </p:spPr>
        <p:txBody>
          <a:bodyPr anchorCtr="0" anchor="t" bIns="91425" lIns="91425" spcFirstLastPara="1" rIns="91425" wrap="square" tIns="91425">
            <a:noAutofit/>
          </a:bodyPr>
          <a:lstStyle/>
          <a:p>
            <a:pPr indent="0" lvl="0" marL="0" rtl="0" algn="l">
              <a:spcBef>
                <a:spcPts val="600"/>
              </a:spcBef>
              <a:spcAft>
                <a:spcPts val="0"/>
              </a:spcAft>
              <a:buNone/>
            </a:pPr>
            <a:r>
              <a:rPr lang="en" sz="2000">
                <a:solidFill>
                  <a:schemeClr val="dk1"/>
                </a:solidFill>
                <a:latin typeface="Calibri"/>
                <a:ea typeface="Calibri"/>
                <a:cs typeface="Calibri"/>
                <a:sym typeface="Calibri"/>
              </a:rPr>
              <a:t>Avoid new leaves by “overstuffing” the leaf nodes.</a:t>
            </a:r>
            <a:endParaRPr sz="2000">
              <a:solidFill>
                <a:schemeClr val="dk1"/>
              </a:solidFill>
              <a:latin typeface="Calibri"/>
              <a:ea typeface="Calibri"/>
              <a:cs typeface="Calibri"/>
              <a:sym typeface="Calibri"/>
            </a:endParaRPr>
          </a:p>
          <a:p>
            <a:pPr indent="-355600" lvl="0" marL="457200" rtl="0" algn="l">
              <a:spcBef>
                <a:spcPts val="60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“Overstuffed tree” always has balanced height, because leaf depths never change.</a:t>
            </a:r>
            <a:endParaRPr sz="2000">
              <a:solidFill>
                <a:schemeClr val="dk1"/>
              </a:solidFill>
              <a:latin typeface="Calibri"/>
              <a:ea typeface="Calibri"/>
              <a:cs typeface="Calibri"/>
              <a:sym typeface="Calibri"/>
            </a:endParaRPr>
          </a:p>
          <a:p>
            <a:pPr indent="-355600" lvl="1" marL="914400" rtl="0" algn="l">
              <a:spcBef>
                <a:spcPts val="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Height is just max(depth).</a:t>
            </a:r>
            <a:endParaRPr sz="2000">
              <a:solidFill>
                <a:schemeClr val="dk1"/>
              </a:solidFill>
              <a:latin typeface="Calibri"/>
              <a:ea typeface="Calibri"/>
              <a:cs typeface="Calibri"/>
              <a:sym typeface="Calibri"/>
            </a:endParaRPr>
          </a:p>
        </p:txBody>
      </p:sp>
      <p:sp>
        <p:nvSpPr>
          <p:cNvPr id="684" name="Google Shape;684;p52"/>
          <p:cNvSpPr/>
          <p:nvPr/>
        </p:nvSpPr>
        <p:spPr>
          <a:xfrm>
            <a:off x="5801768" y="1750332"/>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5</a:t>
            </a:r>
            <a:endParaRPr sz="1800"/>
          </a:p>
        </p:txBody>
      </p:sp>
      <p:sp>
        <p:nvSpPr>
          <p:cNvPr id="685" name="Google Shape;685;p52"/>
          <p:cNvSpPr/>
          <p:nvPr/>
        </p:nvSpPr>
        <p:spPr>
          <a:xfrm>
            <a:off x="5387480" y="2294767"/>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a:t>
            </a:r>
            <a:endParaRPr sz="1800"/>
          </a:p>
        </p:txBody>
      </p:sp>
      <p:sp>
        <p:nvSpPr>
          <p:cNvPr id="686" name="Google Shape;686;p52"/>
          <p:cNvSpPr/>
          <p:nvPr/>
        </p:nvSpPr>
        <p:spPr>
          <a:xfrm>
            <a:off x="6217156" y="2294767"/>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7</a:t>
            </a:r>
            <a:endParaRPr sz="1800"/>
          </a:p>
        </p:txBody>
      </p:sp>
      <p:cxnSp>
        <p:nvCxnSpPr>
          <p:cNvPr id="687" name="Google Shape;687;p52"/>
          <p:cNvCxnSpPr>
            <a:stCxn id="685" idx="0"/>
            <a:endCxn id="684" idx="2"/>
          </p:cNvCxnSpPr>
          <p:nvPr/>
        </p:nvCxnSpPr>
        <p:spPr>
          <a:xfrm flipH="1" rot="10800000">
            <a:off x="5632730" y="2075167"/>
            <a:ext cx="414300" cy="219600"/>
          </a:xfrm>
          <a:prstGeom prst="straightConnector1">
            <a:avLst/>
          </a:prstGeom>
          <a:noFill/>
          <a:ln cap="flat" cmpd="sng" w="19050">
            <a:solidFill>
              <a:srgbClr val="666666"/>
            </a:solidFill>
            <a:prstDash val="solid"/>
            <a:round/>
            <a:headEnd len="med" w="med" type="none"/>
            <a:tailEnd len="med" w="med" type="none"/>
          </a:ln>
        </p:spPr>
      </p:cxnSp>
      <p:cxnSp>
        <p:nvCxnSpPr>
          <p:cNvPr id="688" name="Google Shape;688;p52"/>
          <p:cNvCxnSpPr>
            <a:stCxn id="686" idx="0"/>
            <a:endCxn id="684" idx="2"/>
          </p:cNvCxnSpPr>
          <p:nvPr/>
        </p:nvCxnSpPr>
        <p:spPr>
          <a:xfrm rot="10800000">
            <a:off x="6046906" y="2075167"/>
            <a:ext cx="415500" cy="219600"/>
          </a:xfrm>
          <a:prstGeom prst="straightConnector1">
            <a:avLst/>
          </a:prstGeom>
          <a:noFill/>
          <a:ln cap="flat" cmpd="sng" w="19050">
            <a:solidFill>
              <a:srgbClr val="666666"/>
            </a:solidFill>
            <a:prstDash val="solid"/>
            <a:round/>
            <a:headEnd len="med" w="med" type="none"/>
            <a:tailEnd len="med" w="med" type="none"/>
          </a:ln>
        </p:spPr>
      </p:cxnSp>
      <p:sp>
        <p:nvSpPr>
          <p:cNvPr id="689" name="Google Shape;689;p52"/>
          <p:cNvSpPr/>
          <p:nvPr/>
        </p:nvSpPr>
        <p:spPr>
          <a:xfrm>
            <a:off x="7527942" y="1750323"/>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15</a:t>
            </a:r>
            <a:endParaRPr sz="1800"/>
          </a:p>
        </p:txBody>
      </p:sp>
      <p:sp>
        <p:nvSpPr>
          <p:cNvPr id="690" name="Google Shape;690;p52"/>
          <p:cNvSpPr/>
          <p:nvPr/>
        </p:nvSpPr>
        <p:spPr>
          <a:xfrm>
            <a:off x="7161404" y="2294783"/>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14</a:t>
            </a:r>
            <a:endParaRPr sz="1800"/>
          </a:p>
        </p:txBody>
      </p:sp>
      <p:sp>
        <p:nvSpPr>
          <p:cNvPr id="691" name="Google Shape;691;p52"/>
          <p:cNvSpPr/>
          <p:nvPr/>
        </p:nvSpPr>
        <p:spPr>
          <a:xfrm>
            <a:off x="7970680" y="2294783"/>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16</a:t>
            </a:r>
            <a:endParaRPr sz="1800"/>
          </a:p>
        </p:txBody>
      </p:sp>
      <p:cxnSp>
        <p:nvCxnSpPr>
          <p:cNvPr id="692" name="Google Shape;692;p52"/>
          <p:cNvCxnSpPr>
            <a:stCxn id="690" idx="0"/>
            <a:endCxn id="689" idx="2"/>
          </p:cNvCxnSpPr>
          <p:nvPr/>
        </p:nvCxnSpPr>
        <p:spPr>
          <a:xfrm flipH="1" rot="10800000">
            <a:off x="7406654" y="2075183"/>
            <a:ext cx="366600" cy="219600"/>
          </a:xfrm>
          <a:prstGeom prst="straightConnector1">
            <a:avLst/>
          </a:prstGeom>
          <a:noFill/>
          <a:ln cap="flat" cmpd="sng" w="19050">
            <a:solidFill>
              <a:srgbClr val="666666"/>
            </a:solidFill>
            <a:prstDash val="solid"/>
            <a:round/>
            <a:headEnd len="med" w="med" type="none"/>
            <a:tailEnd len="med" w="med" type="none"/>
          </a:ln>
        </p:spPr>
      </p:cxnSp>
      <p:cxnSp>
        <p:nvCxnSpPr>
          <p:cNvPr id="693" name="Google Shape;693;p52"/>
          <p:cNvCxnSpPr>
            <a:stCxn id="691" idx="0"/>
            <a:endCxn id="689" idx="2"/>
          </p:cNvCxnSpPr>
          <p:nvPr/>
        </p:nvCxnSpPr>
        <p:spPr>
          <a:xfrm rot="10800000">
            <a:off x="7773130" y="2075183"/>
            <a:ext cx="442800" cy="219600"/>
          </a:xfrm>
          <a:prstGeom prst="straightConnector1">
            <a:avLst/>
          </a:prstGeom>
          <a:noFill/>
          <a:ln cap="flat" cmpd="sng" w="19050">
            <a:solidFill>
              <a:srgbClr val="666666"/>
            </a:solidFill>
            <a:prstDash val="solid"/>
            <a:round/>
            <a:headEnd len="med" w="med" type="none"/>
            <a:tailEnd len="med" w="med" type="none"/>
          </a:ln>
        </p:spPr>
      </p:cxnSp>
      <p:sp>
        <p:nvSpPr>
          <p:cNvPr id="694" name="Google Shape;694;p52"/>
          <p:cNvSpPr/>
          <p:nvPr/>
        </p:nvSpPr>
        <p:spPr>
          <a:xfrm>
            <a:off x="6658533" y="1153600"/>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13</a:t>
            </a:r>
            <a:endParaRPr sz="1800"/>
          </a:p>
        </p:txBody>
      </p:sp>
      <p:cxnSp>
        <p:nvCxnSpPr>
          <p:cNvPr id="695" name="Google Shape;695;p52"/>
          <p:cNvCxnSpPr>
            <a:stCxn id="694" idx="2"/>
            <a:endCxn id="684" idx="0"/>
          </p:cNvCxnSpPr>
          <p:nvPr/>
        </p:nvCxnSpPr>
        <p:spPr>
          <a:xfrm flipH="1">
            <a:off x="6046983" y="1478500"/>
            <a:ext cx="856800" cy="271800"/>
          </a:xfrm>
          <a:prstGeom prst="straightConnector1">
            <a:avLst/>
          </a:prstGeom>
          <a:noFill/>
          <a:ln cap="flat" cmpd="sng" w="19050">
            <a:solidFill>
              <a:srgbClr val="666666"/>
            </a:solidFill>
            <a:prstDash val="solid"/>
            <a:round/>
            <a:headEnd len="med" w="med" type="none"/>
            <a:tailEnd len="med" w="med" type="none"/>
          </a:ln>
        </p:spPr>
      </p:cxnSp>
      <p:cxnSp>
        <p:nvCxnSpPr>
          <p:cNvPr id="696" name="Google Shape;696;p52"/>
          <p:cNvCxnSpPr>
            <a:stCxn id="694" idx="2"/>
            <a:endCxn id="689" idx="0"/>
          </p:cNvCxnSpPr>
          <p:nvPr/>
        </p:nvCxnSpPr>
        <p:spPr>
          <a:xfrm>
            <a:off x="6903783" y="1478500"/>
            <a:ext cx="869400" cy="271800"/>
          </a:xfrm>
          <a:prstGeom prst="straightConnector1">
            <a:avLst/>
          </a:prstGeom>
          <a:noFill/>
          <a:ln cap="flat" cmpd="sng" w="19050">
            <a:solidFill>
              <a:srgbClr val="666666"/>
            </a:solidFill>
            <a:prstDash val="solid"/>
            <a:round/>
            <a:headEnd len="med" w="med" type="none"/>
            <a:tailEnd len="med" w="med" type="none"/>
          </a:ln>
        </p:spPr>
      </p:cxnSp>
      <p:sp>
        <p:nvSpPr>
          <p:cNvPr id="697" name="Google Shape;697;p52"/>
          <p:cNvSpPr/>
          <p:nvPr/>
        </p:nvSpPr>
        <p:spPr>
          <a:xfrm>
            <a:off x="617068" y="3958933"/>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5</a:t>
            </a:r>
            <a:endParaRPr sz="1800"/>
          </a:p>
        </p:txBody>
      </p:sp>
      <p:sp>
        <p:nvSpPr>
          <p:cNvPr id="698" name="Google Shape;698;p52"/>
          <p:cNvSpPr/>
          <p:nvPr/>
        </p:nvSpPr>
        <p:spPr>
          <a:xfrm>
            <a:off x="202780" y="4503368"/>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a:t>
            </a:r>
            <a:endParaRPr sz="1800"/>
          </a:p>
        </p:txBody>
      </p:sp>
      <p:sp>
        <p:nvSpPr>
          <p:cNvPr id="699" name="Google Shape;699;p52"/>
          <p:cNvSpPr/>
          <p:nvPr/>
        </p:nvSpPr>
        <p:spPr>
          <a:xfrm>
            <a:off x="1032456" y="4503368"/>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7</a:t>
            </a:r>
            <a:endParaRPr sz="1800"/>
          </a:p>
        </p:txBody>
      </p:sp>
      <p:cxnSp>
        <p:nvCxnSpPr>
          <p:cNvPr id="700" name="Google Shape;700;p52"/>
          <p:cNvCxnSpPr>
            <a:stCxn id="698" idx="0"/>
            <a:endCxn id="697" idx="2"/>
          </p:cNvCxnSpPr>
          <p:nvPr/>
        </p:nvCxnSpPr>
        <p:spPr>
          <a:xfrm flipH="1" rot="10800000">
            <a:off x="448030" y="4283768"/>
            <a:ext cx="414300" cy="219600"/>
          </a:xfrm>
          <a:prstGeom prst="straightConnector1">
            <a:avLst/>
          </a:prstGeom>
          <a:noFill/>
          <a:ln cap="flat" cmpd="sng" w="19050">
            <a:solidFill>
              <a:srgbClr val="666666"/>
            </a:solidFill>
            <a:prstDash val="solid"/>
            <a:round/>
            <a:headEnd len="med" w="med" type="none"/>
            <a:tailEnd len="med" w="med" type="none"/>
          </a:ln>
        </p:spPr>
      </p:cxnSp>
      <p:cxnSp>
        <p:nvCxnSpPr>
          <p:cNvPr id="701" name="Google Shape;701;p52"/>
          <p:cNvCxnSpPr>
            <a:stCxn id="699" idx="0"/>
            <a:endCxn id="697" idx="2"/>
          </p:cNvCxnSpPr>
          <p:nvPr/>
        </p:nvCxnSpPr>
        <p:spPr>
          <a:xfrm rot="10800000">
            <a:off x="862206" y="4283768"/>
            <a:ext cx="415500" cy="219600"/>
          </a:xfrm>
          <a:prstGeom prst="straightConnector1">
            <a:avLst/>
          </a:prstGeom>
          <a:noFill/>
          <a:ln cap="flat" cmpd="sng" w="19050">
            <a:solidFill>
              <a:srgbClr val="666666"/>
            </a:solidFill>
            <a:prstDash val="solid"/>
            <a:round/>
            <a:headEnd len="med" w="med" type="none"/>
            <a:tailEnd len="med" w="med" type="none"/>
          </a:ln>
        </p:spPr>
      </p:cxnSp>
      <p:sp>
        <p:nvSpPr>
          <p:cNvPr id="702" name="Google Shape;702;p52"/>
          <p:cNvSpPr/>
          <p:nvPr/>
        </p:nvSpPr>
        <p:spPr>
          <a:xfrm>
            <a:off x="2343242" y="3958924"/>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15</a:t>
            </a:r>
            <a:endParaRPr sz="1800"/>
          </a:p>
        </p:txBody>
      </p:sp>
      <p:sp>
        <p:nvSpPr>
          <p:cNvPr id="703" name="Google Shape;703;p52"/>
          <p:cNvSpPr/>
          <p:nvPr/>
        </p:nvSpPr>
        <p:spPr>
          <a:xfrm>
            <a:off x="1976704" y="4503384"/>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14</a:t>
            </a:r>
            <a:endParaRPr sz="1800"/>
          </a:p>
        </p:txBody>
      </p:sp>
      <p:sp>
        <p:nvSpPr>
          <p:cNvPr id="704" name="Google Shape;704;p52"/>
          <p:cNvSpPr/>
          <p:nvPr/>
        </p:nvSpPr>
        <p:spPr>
          <a:xfrm>
            <a:off x="2785975" y="4503376"/>
            <a:ext cx="8568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16  17</a:t>
            </a:r>
            <a:endParaRPr sz="1800"/>
          </a:p>
        </p:txBody>
      </p:sp>
      <p:cxnSp>
        <p:nvCxnSpPr>
          <p:cNvPr id="705" name="Google Shape;705;p52"/>
          <p:cNvCxnSpPr>
            <a:stCxn id="703" idx="0"/>
            <a:endCxn id="702" idx="2"/>
          </p:cNvCxnSpPr>
          <p:nvPr/>
        </p:nvCxnSpPr>
        <p:spPr>
          <a:xfrm flipH="1" rot="10800000">
            <a:off x="2221954" y="4283784"/>
            <a:ext cx="366600" cy="219600"/>
          </a:xfrm>
          <a:prstGeom prst="straightConnector1">
            <a:avLst/>
          </a:prstGeom>
          <a:noFill/>
          <a:ln cap="flat" cmpd="sng" w="19050">
            <a:solidFill>
              <a:srgbClr val="666666"/>
            </a:solidFill>
            <a:prstDash val="solid"/>
            <a:round/>
            <a:headEnd len="med" w="med" type="none"/>
            <a:tailEnd len="med" w="med" type="none"/>
          </a:ln>
        </p:spPr>
      </p:cxnSp>
      <p:cxnSp>
        <p:nvCxnSpPr>
          <p:cNvPr id="706" name="Google Shape;706;p52"/>
          <p:cNvCxnSpPr>
            <a:stCxn id="704" idx="0"/>
            <a:endCxn id="702" idx="2"/>
          </p:cNvCxnSpPr>
          <p:nvPr/>
        </p:nvCxnSpPr>
        <p:spPr>
          <a:xfrm rot="10800000">
            <a:off x="2588575" y="4283776"/>
            <a:ext cx="625800" cy="219600"/>
          </a:xfrm>
          <a:prstGeom prst="straightConnector1">
            <a:avLst/>
          </a:prstGeom>
          <a:noFill/>
          <a:ln cap="flat" cmpd="sng" w="19050">
            <a:solidFill>
              <a:srgbClr val="666666"/>
            </a:solidFill>
            <a:prstDash val="solid"/>
            <a:round/>
            <a:headEnd len="med" w="med" type="none"/>
            <a:tailEnd len="med" w="med" type="none"/>
          </a:ln>
        </p:spPr>
      </p:cxnSp>
      <p:sp>
        <p:nvSpPr>
          <p:cNvPr id="707" name="Google Shape;707;p52"/>
          <p:cNvSpPr/>
          <p:nvPr/>
        </p:nvSpPr>
        <p:spPr>
          <a:xfrm>
            <a:off x="1473833" y="3362201"/>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13</a:t>
            </a:r>
            <a:endParaRPr sz="1800"/>
          </a:p>
        </p:txBody>
      </p:sp>
      <p:cxnSp>
        <p:nvCxnSpPr>
          <p:cNvPr id="708" name="Google Shape;708;p52"/>
          <p:cNvCxnSpPr>
            <a:stCxn id="707" idx="2"/>
            <a:endCxn id="697" idx="0"/>
          </p:cNvCxnSpPr>
          <p:nvPr/>
        </p:nvCxnSpPr>
        <p:spPr>
          <a:xfrm flipH="1">
            <a:off x="862283" y="3687101"/>
            <a:ext cx="856800" cy="271800"/>
          </a:xfrm>
          <a:prstGeom prst="straightConnector1">
            <a:avLst/>
          </a:prstGeom>
          <a:noFill/>
          <a:ln cap="flat" cmpd="sng" w="19050">
            <a:solidFill>
              <a:srgbClr val="666666"/>
            </a:solidFill>
            <a:prstDash val="solid"/>
            <a:round/>
            <a:headEnd len="med" w="med" type="none"/>
            <a:tailEnd len="med" w="med" type="none"/>
          </a:ln>
        </p:spPr>
      </p:cxnSp>
      <p:cxnSp>
        <p:nvCxnSpPr>
          <p:cNvPr id="709" name="Google Shape;709;p52"/>
          <p:cNvCxnSpPr>
            <a:stCxn id="707" idx="2"/>
            <a:endCxn id="702" idx="0"/>
          </p:cNvCxnSpPr>
          <p:nvPr/>
        </p:nvCxnSpPr>
        <p:spPr>
          <a:xfrm>
            <a:off x="1719083" y="3687101"/>
            <a:ext cx="869400" cy="271800"/>
          </a:xfrm>
          <a:prstGeom prst="straightConnector1">
            <a:avLst/>
          </a:prstGeom>
          <a:noFill/>
          <a:ln cap="flat" cmpd="sng" w="19050">
            <a:solidFill>
              <a:srgbClr val="666666"/>
            </a:solidFill>
            <a:prstDash val="solid"/>
            <a:round/>
            <a:headEnd len="med" w="med" type="none"/>
            <a:tailEnd len="med" w="med" type="none"/>
          </a:ln>
        </p:spPr>
      </p:cxnSp>
      <p:sp>
        <p:nvSpPr>
          <p:cNvPr id="710" name="Google Shape;710;p52"/>
          <p:cNvSpPr/>
          <p:nvPr/>
        </p:nvSpPr>
        <p:spPr>
          <a:xfrm>
            <a:off x="5493868" y="3958933"/>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5</a:t>
            </a:r>
            <a:endParaRPr sz="1800"/>
          </a:p>
        </p:txBody>
      </p:sp>
      <p:sp>
        <p:nvSpPr>
          <p:cNvPr id="711" name="Google Shape;711;p52"/>
          <p:cNvSpPr/>
          <p:nvPr/>
        </p:nvSpPr>
        <p:spPr>
          <a:xfrm>
            <a:off x="5079580" y="4503368"/>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a:t>
            </a:r>
            <a:endParaRPr sz="1800"/>
          </a:p>
        </p:txBody>
      </p:sp>
      <p:sp>
        <p:nvSpPr>
          <p:cNvPr id="712" name="Google Shape;712;p52"/>
          <p:cNvSpPr/>
          <p:nvPr/>
        </p:nvSpPr>
        <p:spPr>
          <a:xfrm>
            <a:off x="5909256" y="4503368"/>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7</a:t>
            </a:r>
            <a:endParaRPr sz="1800"/>
          </a:p>
        </p:txBody>
      </p:sp>
      <p:cxnSp>
        <p:nvCxnSpPr>
          <p:cNvPr id="713" name="Google Shape;713;p52"/>
          <p:cNvCxnSpPr>
            <a:stCxn id="711" idx="0"/>
            <a:endCxn id="710" idx="2"/>
          </p:cNvCxnSpPr>
          <p:nvPr/>
        </p:nvCxnSpPr>
        <p:spPr>
          <a:xfrm flipH="1" rot="10800000">
            <a:off x="5324830" y="4283768"/>
            <a:ext cx="414300" cy="219600"/>
          </a:xfrm>
          <a:prstGeom prst="straightConnector1">
            <a:avLst/>
          </a:prstGeom>
          <a:noFill/>
          <a:ln cap="flat" cmpd="sng" w="19050">
            <a:solidFill>
              <a:srgbClr val="666666"/>
            </a:solidFill>
            <a:prstDash val="solid"/>
            <a:round/>
            <a:headEnd len="med" w="med" type="none"/>
            <a:tailEnd len="med" w="med" type="none"/>
          </a:ln>
        </p:spPr>
      </p:cxnSp>
      <p:cxnSp>
        <p:nvCxnSpPr>
          <p:cNvPr id="714" name="Google Shape;714;p52"/>
          <p:cNvCxnSpPr>
            <a:stCxn id="712" idx="0"/>
            <a:endCxn id="710" idx="2"/>
          </p:cNvCxnSpPr>
          <p:nvPr/>
        </p:nvCxnSpPr>
        <p:spPr>
          <a:xfrm rot="10800000">
            <a:off x="5739006" y="4283768"/>
            <a:ext cx="415500" cy="219600"/>
          </a:xfrm>
          <a:prstGeom prst="straightConnector1">
            <a:avLst/>
          </a:prstGeom>
          <a:noFill/>
          <a:ln cap="flat" cmpd="sng" w="19050">
            <a:solidFill>
              <a:srgbClr val="666666"/>
            </a:solidFill>
            <a:prstDash val="solid"/>
            <a:round/>
            <a:headEnd len="med" w="med" type="none"/>
            <a:tailEnd len="med" w="med" type="none"/>
          </a:ln>
        </p:spPr>
      </p:cxnSp>
      <p:sp>
        <p:nvSpPr>
          <p:cNvPr id="715" name="Google Shape;715;p52"/>
          <p:cNvSpPr/>
          <p:nvPr/>
        </p:nvSpPr>
        <p:spPr>
          <a:xfrm>
            <a:off x="7220042" y="3958924"/>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15</a:t>
            </a:r>
            <a:endParaRPr sz="1800"/>
          </a:p>
        </p:txBody>
      </p:sp>
      <p:sp>
        <p:nvSpPr>
          <p:cNvPr id="716" name="Google Shape;716;p52"/>
          <p:cNvSpPr/>
          <p:nvPr/>
        </p:nvSpPr>
        <p:spPr>
          <a:xfrm>
            <a:off x="6853504" y="4503384"/>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14</a:t>
            </a:r>
            <a:endParaRPr sz="1800"/>
          </a:p>
        </p:txBody>
      </p:sp>
      <p:sp>
        <p:nvSpPr>
          <p:cNvPr id="717" name="Google Shape;717;p52"/>
          <p:cNvSpPr/>
          <p:nvPr/>
        </p:nvSpPr>
        <p:spPr>
          <a:xfrm>
            <a:off x="7662777" y="4503376"/>
            <a:ext cx="12084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16  17  18</a:t>
            </a:r>
            <a:endParaRPr sz="1800"/>
          </a:p>
        </p:txBody>
      </p:sp>
      <p:cxnSp>
        <p:nvCxnSpPr>
          <p:cNvPr id="718" name="Google Shape;718;p52"/>
          <p:cNvCxnSpPr>
            <a:stCxn id="716" idx="0"/>
            <a:endCxn id="715" idx="2"/>
          </p:cNvCxnSpPr>
          <p:nvPr/>
        </p:nvCxnSpPr>
        <p:spPr>
          <a:xfrm flipH="1" rot="10800000">
            <a:off x="7098754" y="4283784"/>
            <a:ext cx="366600" cy="219600"/>
          </a:xfrm>
          <a:prstGeom prst="straightConnector1">
            <a:avLst/>
          </a:prstGeom>
          <a:noFill/>
          <a:ln cap="flat" cmpd="sng" w="19050">
            <a:solidFill>
              <a:srgbClr val="666666"/>
            </a:solidFill>
            <a:prstDash val="solid"/>
            <a:round/>
            <a:headEnd len="med" w="med" type="none"/>
            <a:tailEnd len="med" w="med" type="none"/>
          </a:ln>
        </p:spPr>
      </p:cxnSp>
      <p:cxnSp>
        <p:nvCxnSpPr>
          <p:cNvPr id="719" name="Google Shape;719;p52"/>
          <p:cNvCxnSpPr>
            <a:stCxn id="717" idx="0"/>
            <a:endCxn id="715" idx="2"/>
          </p:cNvCxnSpPr>
          <p:nvPr/>
        </p:nvCxnSpPr>
        <p:spPr>
          <a:xfrm rot="10800000">
            <a:off x="7465377" y="4283776"/>
            <a:ext cx="801600" cy="219600"/>
          </a:xfrm>
          <a:prstGeom prst="straightConnector1">
            <a:avLst/>
          </a:prstGeom>
          <a:noFill/>
          <a:ln cap="flat" cmpd="sng" w="19050">
            <a:solidFill>
              <a:srgbClr val="666666"/>
            </a:solidFill>
            <a:prstDash val="solid"/>
            <a:round/>
            <a:headEnd len="med" w="med" type="none"/>
            <a:tailEnd len="med" w="med" type="none"/>
          </a:ln>
        </p:spPr>
      </p:cxnSp>
      <p:sp>
        <p:nvSpPr>
          <p:cNvPr id="720" name="Google Shape;720;p52"/>
          <p:cNvSpPr/>
          <p:nvPr/>
        </p:nvSpPr>
        <p:spPr>
          <a:xfrm>
            <a:off x="6350633" y="3362201"/>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13</a:t>
            </a:r>
            <a:endParaRPr sz="1800"/>
          </a:p>
        </p:txBody>
      </p:sp>
      <p:cxnSp>
        <p:nvCxnSpPr>
          <p:cNvPr id="721" name="Google Shape;721;p52"/>
          <p:cNvCxnSpPr>
            <a:stCxn id="720" idx="2"/>
            <a:endCxn id="710" idx="0"/>
          </p:cNvCxnSpPr>
          <p:nvPr/>
        </p:nvCxnSpPr>
        <p:spPr>
          <a:xfrm flipH="1">
            <a:off x="5739083" y="3687101"/>
            <a:ext cx="856800" cy="271800"/>
          </a:xfrm>
          <a:prstGeom prst="straightConnector1">
            <a:avLst/>
          </a:prstGeom>
          <a:noFill/>
          <a:ln cap="flat" cmpd="sng" w="19050">
            <a:solidFill>
              <a:srgbClr val="666666"/>
            </a:solidFill>
            <a:prstDash val="solid"/>
            <a:round/>
            <a:headEnd len="med" w="med" type="none"/>
            <a:tailEnd len="med" w="med" type="none"/>
          </a:ln>
        </p:spPr>
      </p:cxnSp>
      <p:cxnSp>
        <p:nvCxnSpPr>
          <p:cNvPr id="722" name="Google Shape;722;p52"/>
          <p:cNvCxnSpPr>
            <a:stCxn id="720" idx="2"/>
            <a:endCxn id="715" idx="0"/>
          </p:cNvCxnSpPr>
          <p:nvPr/>
        </p:nvCxnSpPr>
        <p:spPr>
          <a:xfrm>
            <a:off x="6595883" y="3687101"/>
            <a:ext cx="869400" cy="271800"/>
          </a:xfrm>
          <a:prstGeom prst="straightConnector1">
            <a:avLst/>
          </a:prstGeom>
          <a:noFill/>
          <a:ln cap="flat" cmpd="sng" w="19050">
            <a:solidFill>
              <a:srgbClr val="666666"/>
            </a:solidFill>
            <a:prstDash val="solid"/>
            <a:round/>
            <a:headEnd len="med" w="med" type="none"/>
            <a:tailEnd len="med" w="med" type="none"/>
          </a:ln>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5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Avoiding Imbalance through Overstuffing</a:t>
            </a:r>
            <a:endParaRPr/>
          </a:p>
        </p:txBody>
      </p:sp>
      <p:sp>
        <p:nvSpPr>
          <p:cNvPr id="728" name="Google Shape;728;p53"/>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Overstuffed trees are a logically consistent but very weird data structure.</a:t>
            </a:r>
            <a:endParaRPr/>
          </a:p>
          <a:p>
            <a:pPr indent="-342900" lvl="0" marL="457200" rtl="0" algn="l">
              <a:spcBef>
                <a:spcPts val="600"/>
              </a:spcBef>
              <a:spcAft>
                <a:spcPts val="0"/>
              </a:spcAft>
              <a:buSzPts val="1800"/>
              <a:buChar char="●"/>
            </a:pPr>
            <a:r>
              <a:rPr lang="en"/>
              <a:t>contains(18): </a:t>
            </a:r>
            <a:endParaRPr/>
          </a:p>
          <a:p>
            <a:pPr indent="-342900" lvl="1" marL="914400" rtl="0" algn="l">
              <a:spcBef>
                <a:spcPts val="0"/>
              </a:spcBef>
              <a:spcAft>
                <a:spcPts val="0"/>
              </a:spcAft>
              <a:buSzPts val="1800"/>
              <a:buChar char="○"/>
            </a:pPr>
            <a:r>
              <a:rPr lang="en"/>
              <a:t>Is 18 &gt; 13? Yes, go right.</a:t>
            </a:r>
            <a:endParaRPr/>
          </a:p>
          <a:p>
            <a:pPr indent="-342900" lvl="1" marL="914400" rtl="0" algn="l">
              <a:spcBef>
                <a:spcPts val="0"/>
              </a:spcBef>
              <a:spcAft>
                <a:spcPts val="0"/>
              </a:spcAft>
              <a:buSzPts val="1800"/>
              <a:buChar char="○"/>
            </a:pPr>
            <a:r>
              <a:rPr lang="en"/>
              <a:t>Is 18 &gt; 15? Yes, go right.</a:t>
            </a:r>
            <a:endParaRPr/>
          </a:p>
          <a:p>
            <a:pPr indent="-342900" lvl="1" marL="914400" rtl="0" algn="l">
              <a:spcBef>
                <a:spcPts val="0"/>
              </a:spcBef>
              <a:spcAft>
                <a:spcPts val="0"/>
              </a:spcAft>
              <a:buSzPts val="1800"/>
              <a:buChar char="○"/>
            </a:pPr>
            <a:r>
              <a:rPr lang="en"/>
              <a:t>Is 16 = 18? No.</a:t>
            </a:r>
            <a:endParaRPr/>
          </a:p>
          <a:p>
            <a:pPr indent="-342900" lvl="1" marL="914400" rtl="0" algn="l">
              <a:spcBef>
                <a:spcPts val="0"/>
              </a:spcBef>
              <a:spcAft>
                <a:spcPts val="0"/>
              </a:spcAft>
              <a:buSzPts val="1800"/>
              <a:buChar char="○"/>
            </a:pPr>
            <a:r>
              <a:rPr lang="en"/>
              <a:t>Is 17 = 18? No.</a:t>
            </a:r>
            <a:endParaRPr/>
          </a:p>
          <a:p>
            <a:pPr indent="-342900" lvl="1" marL="914400" rtl="0" algn="l">
              <a:spcBef>
                <a:spcPts val="0"/>
              </a:spcBef>
              <a:spcAft>
                <a:spcPts val="0"/>
              </a:spcAft>
              <a:buSzPts val="1800"/>
              <a:buChar char="○"/>
            </a:pPr>
            <a:r>
              <a:rPr lang="en"/>
              <a:t>Is 18 = 18? Yes! Found it.</a:t>
            </a:r>
            <a:endParaRPr/>
          </a:p>
          <a:p>
            <a:pPr indent="0" lvl="0" marL="0" rtl="0" algn="l">
              <a:spcBef>
                <a:spcPts val="600"/>
              </a:spcBef>
              <a:spcAft>
                <a:spcPts val="0"/>
              </a:spcAft>
              <a:buNone/>
            </a:pPr>
            <a:r>
              <a:rPr lang="en"/>
              <a:t>Q: What is the problem with this idea?</a:t>
            </a:r>
            <a:endParaRPr/>
          </a:p>
        </p:txBody>
      </p:sp>
      <p:sp>
        <p:nvSpPr>
          <p:cNvPr id="729" name="Google Shape;729;p53"/>
          <p:cNvSpPr/>
          <p:nvPr/>
        </p:nvSpPr>
        <p:spPr>
          <a:xfrm>
            <a:off x="5493868" y="1945707"/>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5</a:t>
            </a:r>
            <a:endParaRPr sz="1800"/>
          </a:p>
        </p:txBody>
      </p:sp>
      <p:sp>
        <p:nvSpPr>
          <p:cNvPr id="730" name="Google Shape;730;p53"/>
          <p:cNvSpPr/>
          <p:nvPr/>
        </p:nvSpPr>
        <p:spPr>
          <a:xfrm>
            <a:off x="5079580" y="2490142"/>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a:t>
            </a:r>
            <a:endParaRPr sz="1800"/>
          </a:p>
        </p:txBody>
      </p:sp>
      <p:sp>
        <p:nvSpPr>
          <p:cNvPr id="731" name="Google Shape;731;p53"/>
          <p:cNvSpPr/>
          <p:nvPr/>
        </p:nvSpPr>
        <p:spPr>
          <a:xfrm>
            <a:off x="5909256" y="2490142"/>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7</a:t>
            </a:r>
            <a:endParaRPr sz="1800"/>
          </a:p>
        </p:txBody>
      </p:sp>
      <p:cxnSp>
        <p:nvCxnSpPr>
          <p:cNvPr id="732" name="Google Shape;732;p53"/>
          <p:cNvCxnSpPr>
            <a:stCxn id="730" idx="0"/>
            <a:endCxn id="729" idx="2"/>
          </p:cNvCxnSpPr>
          <p:nvPr/>
        </p:nvCxnSpPr>
        <p:spPr>
          <a:xfrm flipH="1" rot="10800000">
            <a:off x="5324830" y="2270542"/>
            <a:ext cx="414300" cy="219600"/>
          </a:xfrm>
          <a:prstGeom prst="straightConnector1">
            <a:avLst/>
          </a:prstGeom>
          <a:noFill/>
          <a:ln cap="flat" cmpd="sng" w="19050">
            <a:solidFill>
              <a:srgbClr val="666666"/>
            </a:solidFill>
            <a:prstDash val="solid"/>
            <a:round/>
            <a:headEnd len="med" w="med" type="none"/>
            <a:tailEnd len="med" w="med" type="none"/>
          </a:ln>
        </p:spPr>
      </p:cxnSp>
      <p:cxnSp>
        <p:nvCxnSpPr>
          <p:cNvPr id="733" name="Google Shape;733;p53"/>
          <p:cNvCxnSpPr>
            <a:stCxn id="731" idx="0"/>
            <a:endCxn id="729" idx="2"/>
          </p:cNvCxnSpPr>
          <p:nvPr/>
        </p:nvCxnSpPr>
        <p:spPr>
          <a:xfrm rot="10800000">
            <a:off x="5739006" y="2270542"/>
            <a:ext cx="415500" cy="219600"/>
          </a:xfrm>
          <a:prstGeom prst="straightConnector1">
            <a:avLst/>
          </a:prstGeom>
          <a:noFill/>
          <a:ln cap="flat" cmpd="sng" w="19050">
            <a:solidFill>
              <a:srgbClr val="666666"/>
            </a:solidFill>
            <a:prstDash val="solid"/>
            <a:round/>
            <a:headEnd len="med" w="med" type="none"/>
            <a:tailEnd len="med" w="med" type="none"/>
          </a:ln>
        </p:spPr>
      </p:cxnSp>
      <p:sp>
        <p:nvSpPr>
          <p:cNvPr id="734" name="Google Shape;734;p53"/>
          <p:cNvSpPr/>
          <p:nvPr/>
        </p:nvSpPr>
        <p:spPr>
          <a:xfrm>
            <a:off x="7220042" y="1945698"/>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15</a:t>
            </a:r>
            <a:endParaRPr sz="1800"/>
          </a:p>
        </p:txBody>
      </p:sp>
      <p:sp>
        <p:nvSpPr>
          <p:cNvPr id="735" name="Google Shape;735;p53"/>
          <p:cNvSpPr/>
          <p:nvPr/>
        </p:nvSpPr>
        <p:spPr>
          <a:xfrm>
            <a:off x="6777304" y="2490158"/>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14</a:t>
            </a:r>
            <a:endParaRPr sz="1800"/>
          </a:p>
        </p:txBody>
      </p:sp>
      <p:sp>
        <p:nvSpPr>
          <p:cNvPr id="736" name="Google Shape;736;p53"/>
          <p:cNvSpPr/>
          <p:nvPr/>
        </p:nvSpPr>
        <p:spPr>
          <a:xfrm>
            <a:off x="7442200" y="2490150"/>
            <a:ext cx="16170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16  17  18  19</a:t>
            </a:r>
            <a:endParaRPr sz="1800"/>
          </a:p>
        </p:txBody>
      </p:sp>
      <p:cxnSp>
        <p:nvCxnSpPr>
          <p:cNvPr id="737" name="Google Shape;737;p53"/>
          <p:cNvCxnSpPr>
            <a:stCxn id="735" idx="0"/>
            <a:endCxn id="734" idx="2"/>
          </p:cNvCxnSpPr>
          <p:nvPr/>
        </p:nvCxnSpPr>
        <p:spPr>
          <a:xfrm flipH="1" rot="10800000">
            <a:off x="7022554" y="2270558"/>
            <a:ext cx="442800" cy="219600"/>
          </a:xfrm>
          <a:prstGeom prst="straightConnector1">
            <a:avLst/>
          </a:prstGeom>
          <a:noFill/>
          <a:ln cap="flat" cmpd="sng" w="19050">
            <a:solidFill>
              <a:srgbClr val="666666"/>
            </a:solidFill>
            <a:prstDash val="solid"/>
            <a:round/>
            <a:headEnd len="med" w="med" type="none"/>
            <a:tailEnd len="med" w="med" type="none"/>
          </a:ln>
        </p:spPr>
      </p:cxnSp>
      <p:cxnSp>
        <p:nvCxnSpPr>
          <p:cNvPr id="738" name="Google Shape;738;p53"/>
          <p:cNvCxnSpPr>
            <a:stCxn id="736" idx="0"/>
            <a:endCxn id="734" idx="2"/>
          </p:cNvCxnSpPr>
          <p:nvPr/>
        </p:nvCxnSpPr>
        <p:spPr>
          <a:xfrm rot="10800000">
            <a:off x="7465300" y="2270550"/>
            <a:ext cx="785400" cy="219600"/>
          </a:xfrm>
          <a:prstGeom prst="straightConnector1">
            <a:avLst/>
          </a:prstGeom>
          <a:noFill/>
          <a:ln cap="flat" cmpd="sng" w="19050">
            <a:solidFill>
              <a:srgbClr val="666666"/>
            </a:solidFill>
            <a:prstDash val="solid"/>
            <a:round/>
            <a:headEnd len="med" w="med" type="none"/>
            <a:tailEnd len="med" w="med" type="none"/>
          </a:ln>
        </p:spPr>
      </p:cxnSp>
      <p:sp>
        <p:nvSpPr>
          <p:cNvPr id="739" name="Google Shape;739;p53"/>
          <p:cNvSpPr/>
          <p:nvPr/>
        </p:nvSpPr>
        <p:spPr>
          <a:xfrm>
            <a:off x="6350633" y="134897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13</a:t>
            </a:r>
            <a:endParaRPr sz="1800"/>
          </a:p>
        </p:txBody>
      </p:sp>
      <p:cxnSp>
        <p:nvCxnSpPr>
          <p:cNvPr id="740" name="Google Shape;740;p53"/>
          <p:cNvCxnSpPr>
            <a:stCxn id="739" idx="2"/>
            <a:endCxn id="729" idx="0"/>
          </p:cNvCxnSpPr>
          <p:nvPr/>
        </p:nvCxnSpPr>
        <p:spPr>
          <a:xfrm flipH="1">
            <a:off x="5739083" y="1673875"/>
            <a:ext cx="856800" cy="271800"/>
          </a:xfrm>
          <a:prstGeom prst="straightConnector1">
            <a:avLst/>
          </a:prstGeom>
          <a:noFill/>
          <a:ln cap="flat" cmpd="sng" w="19050">
            <a:solidFill>
              <a:srgbClr val="666666"/>
            </a:solidFill>
            <a:prstDash val="solid"/>
            <a:round/>
            <a:headEnd len="med" w="med" type="none"/>
            <a:tailEnd len="med" w="med" type="none"/>
          </a:ln>
        </p:spPr>
      </p:cxnSp>
      <p:cxnSp>
        <p:nvCxnSpPr>
          <p:cNvPr id="741" name="Google Shape;741;p53"/>
          <p:cNvCxnSpPr>
            <a:stCxn id="739" idx="2"/>
            <a:endCxn id="734" idx="0"/>
          </p:cNvCxnSpPr>
          <p:nvPr/>
        </p:nvCxnSpPr>
        <p:spPr>
          <a:xfrm>
            <a:off x="6595883" y="1673875"/>
            <a:ext cx="869400" cy="271800"/>
          </a:xfrm>
          <a:prstGeom prst="straightConnector1">
            <a:avLst/>
          </a:prstGeom>
          <a:noFill/>
          <a:ln cap="flat" cmpd="sng" w="19050">
            <a:solidFill>
              <a:srgbClr val="666666"/>
            </a:solidFill>
            <a:prstDash val="solid"/>
            <a:round/>
            <a:headEnd len="med" w="med" type="none"/>
            <a:tailEnd len="med" w="med" type="none"/>
          </a:ln>
        </p:spPr>
      </p:cxnSp>
      <p:grpSp>
        <p:nvGrpSpPr>
          <p:cNvPr id="742" name="Google Shape;742;p53"/>
          <p:cNvGrpSpPr/>
          <p:nvPr/>
        </p:nvGrpSpPr>
        <p:grpSpPr>
          <a:xfrm>
            <a:off x="2446805" y="3413175"/>
            <a:ext cx="6025645" cy="1466083"/>
            <a:chOff x="2446805" y="3260775"/>
            <a:chExt cx="6025645" cy="1466083"/>
          </a:xfrm>
        </p:grpSpPr>
        <p:sp>
          <p:nvSpPr>
            <p:cNvPr id="743" name="Google Shape;743;p53"/>
            <p:cNvSpPr/>
            <p:nvPr/>
          </p:nvSpPr>
          <p:spPr>
            <a:xfrm>
              <a:off x="2861093" y="3857507"/>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5</a:t>
              </a:r>
              <a:endParaRPr sz="1800"/>
            </a:p>
          </p:txBody>
        </p:sp>
        <p:sp>
          <p:nvSpPr>
            <p:cNvPr id="744" name="Google Shape;744;p53"/>
            <p:cNvSpPr/>
            <p:nvPr/>
          </p:nvSpPr>
          <p:spPr>
            <a:xfrm>
              <a:off x="2446805" y="4401942"/>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a:t>
              </a:r>
              <a:endParaRPr sz="1800"/>
            </a:p>
          </p:txBody>
        </p:sp>
        <p:sp>
          <p:nvSpPr>
            <p:cNvPr id="745" name="Google Shape;745;p53"/>
            <p:cNvSpPr/>
            <p:nvPr/>
          </p:nvSpPr>
          <p:spPr>
            <a:xfrm>
              <a:off x="3276481" y="4401942"/>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7</a:t>
              </a:r>
              <a:endParaRPr sz="1800"/>
            </a:p>
          </p:txBody>
        </p:sp>
        <p:cxnSp>
          <p:nvCxnSpPr>
            <p:cNvPr id="746" name="Google Shape;746;p53"/>
            <p:cNvCxnSpPr>
              <a:stCxn id="744" idx="0"/>
              <a:endCxn id="743" idx="2"/>
            </p:cNvCxnSpPr>
            <p:nvPr/>
          </p:nvCxnSpPr>
          <p:spPr>
            <a:xfrm flipH="1" rot="10800000">
              <a:off x="2692055" y="4182342"/>
              <a:ext cx="414300" cy="219600"/>
            </a:xfrm>
            <a:prstGeom prst="straightConnector1">
              <a:avLst/>
            </a:prstGeom>
            <a:noFill/>
            <a:ln cap="flat" cmpd="sng" w="19050">
              <a:solidFill>
                <a:srgbClr val="666666"/>
              </a:solidFill>
              <a:prstDash val="solid"/>
              <a:round/>
              <a:headEnd len="med" w="med" type="none"/>
              <a:tailEnd len="med" w="med" type="none"/>
            </a:ln>
          </p:spPr>
        </p:cxnSp>
        <p:cxnSp>
          <p:nvCxnSpPr>
            <p:cNvPr id="747" name="Google Shape;747;p53"/>
            <p:cNvCxnSpPr>
              <a:stCxn id="745" idx="0"/>
              <a:endCxn id="743" idx="2"/>
            </p:cNvCxnSpPr>
            <p:nvPr/>
          </p:nvCxnSpPr>
          <p:spPr>
            <a:xfrm rot="10800000">
              <a:off x="3106231" y="4182342"/>
              <a:ext cx="415500" cy="219600"/>
            </a:xfrm>
            <a:prstGeom prst="straightConnector1">
              <a:avLst/>
            </a:prstGeom>
            <a:noFill/>
            <a:ln cap="flat" cmpd="sng" w="19050">
              <a:solidFill>
                <a:srgbClr val="666666"/>
              </a:solidFill>
              <a:prstDash val="solid"/>
              <a:round/>
              <a:headEnd len="med" w="med" type="none"/>
              <a:tailEnd len="med" w="med" type="none"/>
            </a:ln>
          </p:spPr>
        </p:cxnSp>
        <p:sp>
          <p:nvSpPr>
            <p:cNvPr id="748" name="Google Shape;748;p53"/>
            <p:cNvSpPr/>
            <p:nvPr/>
          </p:nvSpPr>
          <p:spPr>
            <a:xfrm>
              <a:off x="4587267" y="3857498"/>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15</a:t>
              </a:r>
              <a:endParaRPr sz="1800"/>
            </a:p>
          </p:txBody>
        </p:sp>
        <p:sp>
          <p:nvSpPr>
            <p:cNvPr id="749" name="Google Shape;749;p53"/>
            <p:cNvSpPr/>
            <p:nvPr/>
          </p:nvSpPr>
          <p:spPr>
            <a:xfrm>
              <a:off x="4220729" y="4401958"/>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14</a:t>
              </a:r>
              <a:endParaRPr sz="1800"/>
            </a:p>
          </p:txBody>
        </p:sp>
        <p:sp>
          <p:nvSpPr>
            <p:cNvPr id="750" name="Google Shape;750;p53"/>
            <p:cNvSpPr/>
            <p:nvPr/>
          </p:nvSpPr>
          <p:spPr>
            <a:xfrm>
              <a:off x="4935150" y="4401950"/>
              <a:ext cx="35373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16  17  18  19  20  21  22  23  24</a:t>
              </a:r>
              <a:endParaRPr sz="1800"/>
            </a:p>
          </p:txBody>
        </p:sp>
        <p:cxnSp>
          <p:nvCxnSpPr>
            <p:cNvPr id="751" name="Google Shape;751;p53"/>
            <p:cNvCxnSpPr>
              <a:stCxn id="749" idx="0"/>
              <a:endCxn id="748" idx="2"/>
            </p:cNvCxnSpPr>
            <p:nvPr/>
          </p:nvCxnSpPr>
          <p:spPr>
            <a:xfrm flipH="1" rot="10800000">
              <a:off x="4465979" y="4182358"/>
              <a:ext cx="366600" cy="219600"/>
            </a:xfrm>
            <a:prstGeom prst="straightConnector1">
              <a:avLst/>
            </a:prstGeom>
            <a:noFill/>
            <a:ln cap="flat" cmpd="sng" w="19050">
              <a:solidFill>
                <a:srgbClr val="666666"/>
              </a:solidFill>
              <a:prstDash val="solid"/>
              <a:round/>
              <a:headEnd len="med" w="med" type="none"/>
              <a:tailEnd len="med" w="med" type="none"/>
            </a:ln>
          </p:spPr>
        </p:cxnSp>
        <p:cxnSp>
          <p:nvCxnSpPr>
            <p:cNvPr id="752" name="Google Shape;752;p53"/>
            <p:cNvCxnSpPr>
              <a:stCxn id="750" idx="0"/>
              <a:endCxn id="748" idx="2"/>
            </p:cNvCxnSpPr>
            <p:nvPr/>
          </p:nvCxnSpPr>
          <p:spPr>
            <a:xfrm rot="10800000">
              <a:off x="4832400" y="4182350"/>
              <a:ext cx="1871400" cy="219600"/>
            </a:xfrm>
            <a:prstGeom prst="straightConnector1">
              <a:avLst/>
            </a:prstGeom>
            <a:noFill/>
            <a:ln cap="flat" cmpd="sng" w="19050">
              <a:solidFill>
                <a:srgbClr val="666666"/>
              </a:solidFill>
              <a:prstDash val="solid"/>
              <a:round/>
              <a:headEnd len="med" w="med" type="none"/>
              <a:tailEnd len="med" w="med" type="none"/>
            </a:ln>
          </p:spPr>
        </p:cxnSp>
        <p:sp>
          <p:nvSpPr>
            <p:cNvPr id="753" name="Google Shape;753;p53"/>
            <p:cNvSpPr/>
            <p:nvPr/>
          </p:nvSpPr>
          <p:spPr>
            <a:xfrm>
              <a:off x="3717858" y="326077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13</a:t>
              </a:r>
              <a:endParaRPr sz="1800"/>
            </a:p>
          </p:txBody>
        </p:sp>
        <p:cxnSp>
          <p:nvCxnSpPr>
            <p:cNvPr id="754" name="Google Shape;754;p53"/>
            <p:cNvCxnSpPr>
              <a:stCxn id="753" idx="2"/>
              <a:endCxn id="743" idx="0"/>
            </p:cNvCxnSpPr>
            <p:nvPr/>
          </p:nvCxnSpPr>
          <p:spPr>
            <a:xfrm flipH="1">
              <a:off x="3106308" y="3585675"/>
              <a:ext cx="856800" cy="271800"/>
            </a:xfrm>
            <a:prstGeom prst="straightConnector1">
              <a:avLst/>
            </a:prstGeom>
            <a:noFill/>
            <a:ln cap="flat" cmpd="sng" w="19050">
              <a:solidFill>
                <a:srgbClr val="666666"/>
              </a:solidFill>
              <a:prstDash val="solid"/>
              <a:round/>
              <a:headEnd len="med" w="med" type="none"/>
              <a:tailEnd len="med" w="med" type="none"/>
            </a:ln>
          </p:spPr>
        </p:cxnSp>
        <p:cxnSp>
          <p:nvCxnSpPr>
            <p:cNvPr id="755" name="Google Shape;755;p53"/>
            <p:cNvCxnSpPr>
              <a:stCxn id="753" idx="2"/>
              <a:endCxn id="748" idx="0"/>
            </p:cNvCxnSpPr>
            <p:nvPr/>
          </p:nvCxnSpPr>
          <p:spPr>
            <a:xfrm>
              <a:off x="3963108" y="3585675"/>
              <a:ext cx="869400" cy="271800"/>
            </a:xfrm>
            <a:prstGeom prst="straightConnector1">
              <a:avLst/>
            </a:prstGeom>
            <a:noFill/>
            <a:ln cap="flat" cmpd="sng" w="19050">
              <a:solidFill>
                <a:srgbClr val="666666"/>
              </a:solidFill>
              <a:prstDash val="solid"/>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8">
                                            <p:txEl>
                                              <p:pRg end="0" st="0"/>
                                            </p:txEl>
                                          </p:spTgt>
                                        </p:tgtEl>
                                        <p:attrNameLst>
                                          <p:attrName>style.visibility</p:attrName>
                                        </p:attrNameLst>
                                      </p:cBhvr>
                                      <p:to>
                                        <p:strVal val="visible"/>
                                      </p:to>
                                    </p:set>
                                    <p:animEffect filter="fade" transition="in">
                                      <p:cBhvr>
                                        <p:cTn dur="1"/>
                                        <p:tgtEl>
                                          <p:spTgt spid="72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8">
                                            <p:txEl>
                                              <p:pRg end="1" st="1"/>
                                            </p:txEl>
                                          </p:spTgt>
                                        </p:tgtEl>
                                        <p:attrNameLst>
                                          <p:attrName>style.visibility</p:attrName>
                                        </p:attrNameLst>
                                      </p:cBhvr>
                                      <p:to>
                                        <p:strVal val="visible"/>
                                      </p:to>
                                    </p:set>
                                    <p:animEffect filter="fade" transition="in">
                                      <p:cBhvr>
                                        <p:cTn dur="1"/>
                                        <p:tgtEl>
                                          <p:spTgt spid="72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8">
                                            <p:txEl>
                                              <p:pRg end="2" st="2"/>
                                            </p:txEl>
                                          </p:spTgt>
                                        </p:tgtEl>
                                        <p:attrNameLst>
                                          <p:attrName>style.visibility</p:attrName>
                                        </p:attrNameLst>
                                      </p:cBhvr>
                                      <p:to>
                                        <p:strVal val="visible"/>
                                      </p:to>
                                    </p:set>
                                    <p:animEffect filter="fade" transition="in">
                                      <p:cBhvr>
                                        <p:cTn dur="1"/>
                                        <p:tgtEl>
                                          <p:spTgt spid="72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8">
                                            <p:txEl>
                                              <p:pRg end="3" st="3"/>
                                            </p:txEl>
                                          </p:spTgt>
                                        </p:tgtEl>
                                        <p:attrNameLst>
                                          <p:attrName>style.visibility</p:attrName>
                                        </p:attrNameLst>
                                      </p:cBhvr>
                                      <p:to>
                                        <p:strVal val="visible"/>
                                      </p:to>
                                    </p:set>
                                    <p:animEffect filter="fade" transition="in">
                                      <p:cBhvr>
                                        <p:cTn dur="1"/>
                                        <p:tgtEl>
                                          <p:spTgt spid="72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8">
                                            <p:txEl>
                                              <p:pRg end="4" st="4"/>
                                            </p:txEl>
                                          </p:spTgt>
                                        </p:tgtEl>
                                        <p:attrNameLst>
                                          <p:attrName>style.visibility</p:attrName>
                                        </p:attrNameLst>
                                      </p:cBhvr>
                                      <p:to>
                                        <p:strVal val="visible"/>
                                      </p:to>
                                    </p:set>
                                    <p:animEffect filter="fade" transition="in">
                                      <p:cBhvr>
                                        <p:cTn dur="1"/>
                                        <p:tgtEl>
                                          <p:spTgt spid="72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8">
                                            <p:txEl>
                                              <p:pRg end="5" st="5"/>
                                            </p:txEl>
                                          </p:spTgt>
                                        </p:tgtEl>
                                        <p:attrNameLst>
                                          <p:attrName>style.visibility</p:attrName>
                                        </p:attrNameLst>
                                      </p:cBhvr>
                                      <p:to>
                                        <p:strVal val="visible"/>
                                      </p:to>
                                    </p:set>
                                    <p:animEffect filter="fade" transition="in">
                                      <p:cBhvr>
                                        <p:cTn dur="1"/>
                                        <p:tgtEl>
                                          <p:spTgt spid="72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8">
                                            <p:txEl>
                                              <p:pRg end="6" st="6"/>
                                            </p:txEl>
                                          </p:spTgt>
                                        </p:tgtEl>
                                        <p:attrNameLst>
                                          <p:attrName>style.visibility</p:attrName>
                                        </p:attrNameLst>
                                      </p:cBhvr>
                                      <p:to>
                                        <p:strVal val="visible"/>
                                      </p:to>
                                    </p:set>
                                    <p:animEffect filter="fade" transition="in">
                                      <p:cBhvr>
                                        <p:cTn dur="1"/>
                                        <p:tgtEl>
                                          <p:spTgt spid="72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8">
                                            <p:txEl>
                                              <p:pRg end="7" st="7"/>
                                            </p:txEl>
                                          </p:spTgt>
                                        </p:tgtEl>
                                        <p:attrNameLst>
                                          <p:attrName>style.visibility</p:attrName>
                                        </p:attrNameLst>
                                      </p:cBhvr>
                                      <p:to>
                                        <p:strVal val="visible"/>
                                      </p:to>
                                    </p:set>
                                    <p:animEffect filter="fade" transition="in">
                                      <p:cBhvr>
                                        <p:cTn dur="1"/>
                                        <p:tgtEl>
                                          <p:spTgt spid="72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2"/>
                                        </p:tgtEl>
                                        <p:attrNameLst>
                                          <p:attrName>style.visibility</p:attrName>
                                        </p:attrNameLst>
                                      </p:cBhvr>
                                      <p:to>
                                        <p:strVal val="visible"/>
                                      </p:to>
                                    </p:set>
                                    <p:animEffect filter="fade" transition="in">
                                      <p:cBhvr>
                                        <p:cTn dur="1"/>
                                        <p:tgtEl>
                                          <p:spTgt spid="7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p5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Revising Our Overstuffed Tree Approach</a:t>
            </a:r>
            <a:endParaRPr/>
          </a:p>
        </p:txBody>
      </p:sp>
      <p:sp>
        <p:nvSpPr>
          <p:cNvPr id="761" name="Google Shape;761;p5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Height is balanced, but we have a new problem:</a:t>
            </a:r>
            <a:endParaRPr/>
          </a:p>
          <a:p>
            <a:pPr indent="-342900" lvl="0" marL="457200" rtl="0" algn="l">
              <a:spcBef>
                <a:spcPts val="600"/>
              </a:spcBef>
              <a:spcAft>
                <a:spcPts val="0"/>
              </a:spcAft>
              <a:buSzPts val="1800"/>
              <a:buChar char="●"/>
            </a:pPr>
            <a:r>
              <a:rPr lang="en"/>
              <a:t>Leaf nodes can get too juicy.</a:t>
            </a:r>
            <a:endParaRPr/>
          </a:p>
        </p:txBody>
      </p:sp>
      <p:sp>
        <p:nvSpPr>
          <p:cNvPr id="762" name="Google Shape;762;p54"/>
          <p:cNvSpPr txBox="1"/>
          <p:nvPr>
            <p:ph idx="1" type="body"/>
          </p:nvPr>
        </p:nvSpPr>
        <p:spPr>
          <a:xfrm>
            <a:off x="243000" y="1699500"/>
            <a:ext cx="8443800" cy="2298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Solution?</a:t>
            </a:r>
            <a:endParaRPr/>
          </a:p>
        </p:txBody>
      </p:sp>
      <p:sp>
        <p:nvSpPr>
          <p:cNvPr id="763" name="Google Shape;763;p54"/>
          <p:cNvSpPr/>
          <p:nvPr/>
        </p:nvSpPr>
        <p:spPr>
          <a:xfrm>
            <a:off x="5493868" y="1945707"/>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5</a:t>
            </a:r>
            <a:endParaRPr sz="1800"/>
          </a:p>
        </p:txBody>
      </p:sp>
      <p:sp>
        <p:nvSpPr>
          <p:cNvPr id="764" name="Google Shape;764;p54"/>
          <p:cNvSpPr/>
          <p:nvPr/>
        </p:nvSpPr>
        <p:spPr>
          <a:xfrm>
            <a:off x="5079580" y="2490142"/>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a:t>
            </a:r>
            <a:endParaRPr sz="1800"/>
          </a:p>
        </p:txBody>
      </p:sp>
      <p:sp>
        <p:nvSpPr>
          <p:cNvPr id="765" name="Google Shape;765;p54"/>
          <p:cNvSpPr/>
          <p:nvPr/>
        </p:nvSpPr>
        <p:spPr>
          <a:xfrm>
            <a:off x="5909256" y="2490142"/>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7</a:t>
            </a:r>
            <a:endParaRPr sz="1800"/>
          </a:p>
        </p:txBody>
      </p:sp>
      <p:cxnSp>
        <p:nvCxnSpPr>
          <p:cNvPr id="766" name="Google Shape;766;p54"/>
          <p:cNvCxnSpPr>
            <a:stCxn id="764" idx="0"/>
            <a:endCxn id="763" idx="2"/>
          </p:cNvCxnSpPr>
          <p:nvPr/>
        </p:nvCxnSpPr>
        <p:spPr>
          <a:xfrm flipH="1" rot="10800000">
            <a:off x="5324830" y="2270542"/>
            <a:ext cx="414300" cy="219600"/>
          </a:xfrm>
          <a:prstGeom prst="straightConnector1">
            <a:avLst/>
          </a:prstGeom>
          <a:noFill/>
          <a:ln cap="flat" cmpd="sng" w="19050">
            <a:solidFill>
              <a:srgbClr val="666666"/>
            </a:solidFill>
            <a:prstDash val="solid"/>
            <a:round/>
            <a:headEnd len="med" w="med" type="none"/>
            <a:tailEnd len="med" w="med" type="none"/>
          </a:ln>
        </p:spPr>
      </p:cxnSp>
      <p:cxnSp>
        <p:nvCxnSpPr>
          <p:cNvPr id="767" name="Google Shape;767;p54"/>
          <p:cNvCxnSpPr>
            <a:stCxn id="765" idx="0"/>
            <a:endCxn id="763" idx="2"/>
          </p:cNvCxnSpPr>
          <p:nvPr/>
        </p:nvCxnSpPr>
        <p:spPr>
          <a:xfrm rot="10800000">
            <a:off x="5739006" y="2270542"/>
            <a:ext cx="415500" cy="219600"/>
          </a:xfrm>
          <a:prstGeom prst="straightConnector1">
            <a:avLst/>
          </a:prstGeom>
          <a:noFill/>
          <a:ln cap="flat" cmpd="sng" w="19050">
            <a:solidFill>
              <a:srgbClr val="666666"/>
            </a:solidFill>
            <a:prstDash val="solid"/>
            <a:round/>
            <a:headEnd len="med" w="med" type="none"/>
            <a:tailEnd len="med" w="med" type="none"/>
          </a:ln>
        </p:spPr>
      </p:cxnSp>
      <p:sp>
        <p:nvSpPr>
          <p:cNvPr id="768" name="Google Shape;768;p54"/>
          <p:cNvSpPr/>
          <p:nvPr/>
        </p:nvSpPr>
        <p:spPr>
          <a:xfrm>
            <a:off x="7220042" y="1945698"/>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15</a:t>
            </a:r>
            <a:endParaRPr sz="1800"/>
          </a:p>
        </p:txBody>
      </p:sp>
      <p:sp>
        <p:nvSpPr>
          <p:cNvPr id="769" name="Google Shape;769;p54"/>
          <p:cNvSpPr/>
          <p:nvPr/>
        </p:nvSpPr>
        <p:spPr>
          <a:xfrm>
            <a:off x="6777304" y="2490158"/>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14</a:t>
            </a:r>
            <a:endParaRPr sz="1800"/>
          </a:p>
        </p:txBody>
      </p:sp>
      <p:sp>
        <p:nvSpPr>
          <p:cNvPr id="770" name="Google Shape;770;p54"/>
          <p:cNvSpPr/>
          <p:nvPr/>
        </p:nvSpPr>
        <p:spPr>
          <a:xfrm>
            <a:off x="7442200" y="2490150"/>
            <a:ext cx="16170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16  17  18  19</a:t>
            </a:r>
            <a:endParaRPr sz="1800"/>
          </a:p>
        </p:txBody>
      </p:sp>
      <p:cxnSp>
        <p:nvCxnSpPr>
          <p:cNvPr id="771" name="Google Shape;771;p54"/>
          <p:cNvCxnSpPr>
            <a:stCxn id="769" idx="0"/>
            <a:endCxn id="768" idx="2"/>
          </p:cNvCxnSpPr>
          <p:nvPr/>
        </p:nvCxnSpPr>
        <p:spPr>
          <a:xfrm flipH="1" rot="10800000">
            <a:off x="7022554" y="2270558"/>
            <a:ext cx="442800" cy="219600"/>
          </a:xfrm>
          <a:prstGeom prst="straightConnector1">
            <a:avLst/>
          </a:prstGeom>
          <a:noFill/>
          <a:ln cap="flat" cmpd="sng" w="19050">
            <a:solidFill>
              <a:srgbClr val="666666"/>
            </a:solidFill>
            <a:prstDash val="solid"/>
            <a:round/>
            <a:headEnd len="med" w="med" type="none"/>
            <a:tailEnd len="med" w="med" type="none"/>
          </a:ln>
        </p:spPr>
      </p:cxnSp>
      <p:cxnSp>
        <p:nvCxnSpPr>
          <p:cNvPr id="772" name="Google Shape;772;p54"/>
          <p:cNvCxnSpPr>
            <a:stCxn id="770" idx="0"/>
            <a:endCxn id="768" idx="2"/>
          </p:cNvCxnSpPr>
          <p:nvPr/>
        </p:nvCxnSpPr>
        <p:spPr>
          <a:xfrm rot="10800000">
            <a:off x="7465300" y="2270550"/>
            <a:ext cx="785400" cy="219600"/>
          </a:xfrm>
          <a:prstGeom prst="straightConnector1">
            <a:avLst/>
          </a:prstGeom>
          <a:noFill/>
          <a:ln cap="flat" cmpd="sng" w="19050">
            <a:solidFill>
              <a:srgbClr val="666666"/>
            </a:solidFill>
            <a:prstDash val="solid"/>
            <a:round/>
            <a:headEnd len="med" w="med" type="none"/>
            <a:tailEnd len="med" w="med" type="none"/>
          </a:ln>
        </p:spPr>
      </p:cxnSp>
      <p:sp>
        <p:nvSpPr>
          <p:cNvPr id="773" name="Google Shape;773;p54"/>
          <p:cNvSpPr/>
          <p:nvPr/>
        </p:nvSpPr>
        <p:spPr>
          <a:xfrm>
            <a:off x="6350633" y="134897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13</a:t>
            </a:r>
            <a:endParaRPr sz="1800"/>
          </a:p>
        </p:txBody>
      </p:sp>
      <p:cxnSp>
        <p:nvCxnSpPr>
          <p:cNvPr id="774" name="Google Shape;774;p54"/>
          <p:cNvCxnSpPr>
            <a:stCxn id="773" idx="2"/>
            <a:endCxn id="763" idx="0"/>
          </p:cNvCxnSpPr>
          <p:nvPr/>
        </p:nvCxnSpPr>
        <p:spPr>
          <a:xfrm flipH="1">
            <a:off x="5739083" y="1673875"/>
            <a:ext cx="856800" cy="271800"/>
          </a:xfrm>
          <a:prstGeom prst="straightConnector1">
            <a:avLst/>
          </a:prstGeom>
          <a:noFill/>
          <a:ln cap="flat" cmpd="sng" w="19050">
            <a:solidFill>
              <a:srgbClr val="666666"/>
            </a:solidFill>
            <a:prstDash val="solid"/>
            <a:round/>
            <a:headEnd len="med" w="med" type="none"/>
            <a:tailEnd len="med" w="med" type="none"/>
          </a:ln>
        </p:spPr>
      </p:cxnSp>
      <p:cxnSp>
        <p:nvCxnSpPr>
          <p:cNvPr id="775" name="Google Shape;775;p54"/>
          <p:cNvCxnSpPr>
            <a:stCxn id="773" idx="2"/>
            <a:endCxn id="768" idx="0"/>
          </p:cNvCxnSpPr>
          <p:nvPr/>
        </p:nvCxnSpPr>
        <p:spPr>
          <a:xfrm>
            <a:off x="6595883" y="1673875"/>
            <a:ext cx="869400" cy="271800"/>
          </a:xfrm>
          <a:prstGeom prst="straightConnector1">
            <a:avLst/>
          </a:prstGeom>
          <a:noFill/>
          <a:ln cap="flat" cmpd="sng" w="19050">
            <a:solidFill>
              <a:srgbClr val="666666"/>
            </a:solidFill>
            <a:prstDash val="solid"/>
            <a:round/>
            <a:headEnd len="med" w="med" type="none"/>
            <a:tailEnd len="med" w="med" type="none"/>
          </a:ln>
        </p:spPr>
      </p:cxnSp>
      <p:pic>
        <p:nvPicPr>
          <p:cNvPr id="776" name="Google Shape;776;p54"/>
          <p:cNvPicPr preferRelativeResize="0"/>
          <p:nvPr/>
        </p:nvPicPr>
        <p:blipFill>
          <a:blip r:embed="rId3">
            <a:alphaModFix/>
          </a:blip>
          <a:stretch>
            <a:fillRect/>
          </a:stretch>
        </p:blipFill>
        <p:spPr>
          <a:xfrm>
            <a:off x="1282125" y="3033475"/>
            <a:ext cx="2753584" cy="1984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1">
                                            <p:txEl>
                                              <p:pRg end="0" st="0"/>
                                            </p:txEl>
                                          </p:spTgt>
                                        </p:tgtEl>
                                        <p:attrNameLst>
                                          <p:attrName>style.visibility</p:attrName>
                                        </p:attrNameLst>
                                      </p:cBhvr>
                                      <p:to>
                                        <p:strVal val="visible"/>
                                      </p:to>
                                    </p:set>
                                    <p:animEffect filter="fade" transition="in">
                                      <p:cBhvr>
                                        <p:cTn dur="1"/>
                                        <p:tgtEl>
                                          <p:spTgt spid="76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1">
                                            <p:txEl>
                                              <p:pRg end="1" st="1"/>
                                            </p:txEl>
                                          </p:spTgt>
                                        </p:tgtEl>
                                        <p:attrNameLst>
                                          <p:attrName>style.visibility</p:attrName>
                                        </p:attrNameLst>
                                      </p:cBhvr>
                                      <p:to>
                                        <p:strVal val="visible"/>
                                      </p:to>
                                    </p:set>
                                    <p:animEffect filter="fade" transition="in">
                                      <p:cBhvr>
                                        <p:cTn dur="1"/>
                                        <p:tgtEl>
                                          <p:spTgt spid="76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2">
                                            <p:txEl>
                                              <p:pRg end="0" st="0"/>
                                            </p:txEl>
                                          </p:spTgt>
                                        </p:tgtEl>
                                        <p:attrNameLst>
                                          <p:attrName>style.visibility</p:attrName>
                                        </p:attrNameLst>
                                      </p:cBhvr>
                                      <p:to>
                                        <p:strVal val="visible"/>
                                      </p:to>
                                    </p:set>
                                    <p:animEffect filter="fade" transition="in">
                                      <p:cBhvr>
                                        <p:cTn dur="1"/>
                                        <p:tgtEl>
                                          <p:spTgt spid="762">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5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Revising Our Overstuffed Tree Approach: Moving Items Up</a:t>
            </a:r>
            <a:endParaRPr/>
          </a:p>
        </p:txBody>
      </p:sp>
      <p:sp>
        <p:nvSpPr>
          <p:cNvPr id="782" name="Google Shape;782;p55"/>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Height is balanced, but we have a new problem:</a:t>
            </a:r>
            <a:endParaRPr/>
          </a:p>
          <a:p>
            <a:pPr indent="-342900" lvl="0" marL="457200" rtl="0" algn="l">
              <a:spcBef>
                <a:spcPts val="600"/>
              </a:spcBef>
              <a:spcAft>
                <a:spcPts val="0"/>
              </a:spcAft>
              <a:buSzPts val="1800"/>
              <a:buChar char="●"/>
            </a:pPr>
            <a:r>
              <a:rPr lang="en"/>
              <a:t>Leaf nodes can get too juicy.</a:t>
            </a:r>
            <a:endParaRPr/>
          </a:p>
          <a:p>
            <a:pPr indent="0" lvl="0" marL="0" rtl="0" algn="l">
              <a:spcBef>
                <a:spcPts val="600"/>
              </a:spcBef>
              <a:spcAft>
                <a:spcPts val="0"/>
              </a:spcAft>
              <a:buNone/>
            </a:pPr>
            <a:br>
              <a:rPr lang="en"/>
            </a:br>
            <a:endParaRPr/>
          </a:p>
          <a:p>
            <a:pPr indent="0" lvl="0" marL="0" rtl="0" algn="l">
              <a:spcBef>
                <a:spcPts val="600"/>
              </a:spcBef>
              <a:spcAft>
                <a:spcPts val="0"/>
              </a:spcAft>
              <a:buNone/>
            </a:pPr>
            <a:r>
              <a:rPr lang="en"/>
              <a:t>Solution?</a:t>
            </a:r>
            <a:endParaRPr/>
          </a:p>
          <a:p>
            <a:pPr indent="-342900" lvl="0" marL="457200" rtl="0" algn="l">
              <a:spcBef>
                <a:spcPts val="600"/>
              </a:spcBef>
              <a:spcAft>
                <a:spcPts val="0"/>
              </a:spcAft>
              <a:buSzPts val="1800"/>
              <a:buChar char="●"/>
            </a:pPr>
            <a:r>
              <a:rPr lang="en"/>
              <a:t>Set a limit L on the number of items, say L=3.</a:t>
            </a:r>
            <a:endParaRPr/>
          </a:p>
          <a:p>
            <a:pPr indent="-342900" lvl="0" marL="457200" rtl="0" algn="l">
              <a:spcBef>
                <a:spcPts val="0"/>
              </a:spcBef>
              <a:spcAft>
                <a:spcPts val="0"/>
              </a:spcAft>
              <a:buSzPts val="1800"/>
              <a:buChar char="●"/>
            </a:pPr>
            <a:r>
              <a:rPr lang="en"/>
              <a:t>If any node has more than L items, give an item to parent.</a:t>
            </a:r>
            <a:endParaRPr/>
          </a:p>
          <a:p>
            <a:pPr indent="-342900" lvl="1" marL="914400" rtl="0" algn="l">
              <a:spcBef>
                <a:spcPts val="0"/>
              </a:spcBef>
              <a:spcAft>
                <a:spcPts val="0"/>
              </a:spcAft>
              <a:buSzPts val="1800"/>
              <a:buChar char="○"/>
            </a:pPr>
            <a:r>
              <a:rPr lang="en"/>
              <a:t>Which one? Let’s say (arbitrarily) the left-middle.</a:t>
            </a:r>
            <a:endParaRPr/>
          </a:p>
        </p:txBody>
      </p:sp>
      <p:sp>
        <p:nvSpPr>
          <p:cNvPr id="783" name="Google Shape;783;p55"/>
          <p:cNvSpPr txBox="1"/>
          <p:nvPr/>
        </p:nvSpPr>
        <p:spPr>
          <a:xfrm>
            <a:off x="228600" y="3725075"/>
            <a:ext cx="6246600" cy="1217400"/>
          </a:xfrm>
          <a:prstGeom prst="rect">
            <a:avLst/>
          </a:prstGeom>
          <a:noFill/>
          <a:ln>
            <a:noFill/>
          </a:ln>
        </p:spPr>
        <p:txBody>
          <a:bodyPr anchorCtr="0" anchor="ctr" bIns="91425" lIns="91425" spcFirstLastPara="1" rIns="91425" wrap="square" tIns="91425">
            <a:noAutofit/>
          </a:bodyPr>
          <a:lstStyle/>
          <a:p>
            <a:pPr indent="0" lvl="0" marL="0" rtl="0" algn="l">
              <a:spcBef>
                <a:spcPts val="600"/>
              </a:spcBef>
              <a:spcAft>
                <a:spcPts val="0"/>
              </a:spcAft>
              <a:buNone/>
            </a:pPr>
            <a:r>
              <a:rPr lang="en" sz="2000">
                <a:solidFill>
                  <a:schemeClr val="dk1"/>
                </a:solidFill>
                <a:latin typeface="Calibri"/>
                <a:ea typeface="Calibri"/>
                <a:cs typeface="Calibri"/>
                <a:sym typeface="Calibri"/>
              </a:rPr>
              <a:t>Q: What’s the problem now?</a:t>
            </a:r>
            <a:endParaRPr sz="2000">
              <a:solidFill>
                <a:schemeClr val="dk1"/>
              </a:solidFill>
              <a:latin typeface="Calibri"/>
              <a:ea typeface="Calibri"/>
              <a:cs typeface="Calibri"/>
              <a:sym typeface="Calibri"/>
            </a:endParaRPr>
          </a:p>
          <a:p>
            <a:pPr indent="-355600" lvl="0" marL="457200" rtl="0" algn="l">
              <a:spcBef>
                <a:spcPts val="60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16 is to the right of 17.</a:t>
            </a:r>
            <a:endParaRPr sz="2000"/>
          </a:p>
        </p:txBody>
      </p:sp>
      <p:sp>
        <p:nvSpPr>
          <p:cNvPr id="784" name="Google Shape;784;p55"/>
          <p:cNvSpPr/>
          <p:nvPr/>
        </p:nvSpPr>
        <p:spPr>
          <a:xfrm>
            <a:off x="5493868" y="1336107"/>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5</a:t>
            </a:r>
            <a:endParaRPr sz="1800"/>
          </a:p>
        </p:txBody>
      </p:sp>
      <p:sp>
        <p:nvSpPr>
          <p:cNvPr id="785" name="Google Shape;785;p55"/>
          <p:cNvSpPr/>
          <p:nvPr/>
        </p:nvSpPr>
        <p:spPr>
          <a:xfrm>
            <a:off x="5079580" y="1880542"/>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a:t>
            </a:r>
            <a:endParaRPr sz="1800"/>
          </a:p>
        </p:txBody>
      </p:sp>
      <p:sp>
        <p:nvSpPr>
          <p:cNvPr id="786" name="Google Shape;786;p55"/>
          <p:cNvSpPr/>
          <p:nvPr/>
        </p:nvSpPr>
        <p:spPr>
          <a:xfrm>
            <a:off x="5909256" y="1880542"/>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7</a:t>
            </a:r>
            <a:endParaRPr sz="1800"/>
          </a:p>
        </p:txBody>
      </p:sp>
      <p:cxnSp>
        <p:nvCxnSpPr>
          <p:cNvPr id="787" name="Google Shape;787;p55"/>
          <p:cNvCxnSpPr>
            <a:stCxn id="785" idx="0"/>
            <a:endCxn id="784" idx="2"/>
          </p:cNvCxnSpPr>
          <p:nvPr/>
        </p:nvCxnSpPr>
        <p:spPr>
          <a:xfrm flipH="1" rot="10800000">
            <a:off x="5324830" y="1660942"/>
            <a:ext cx="414300" cy="219600"/>
          </a:xfrm>
          <a:prstGeom prst="straightConnector1">
            <a:avLst/>
          </a:prstGeom>
          <a:noFill/>
          <a:ln cap="flat" cmpd="sng" w="19050">
            <a:solidFill>
              <a:srgbClr val="666666"/>
            </a:solidFill>
            <a:prstDash val="solid"/>
            <a:round/>
            <a:headEnd len="med" w="med" type="none"/>
            <a:tailEnd len="med" w="med" type="none"/>
          </a:ln>
        </p:spPr>
      </p:cxnSp>
      <p:cxnSp>
        <p:nvCxnSpPr>
          <p:cNvPr id="788" name="Google Shape;788;p55"/>
          <p:cNvCxnSpPr>
            <a:stCxn id="786" idx="0"/>
            <a:endCxn id="784" idx="2"/>
          </p:cNvCxnSpPr>
          <p:nvPr/>
        </p:nvCxnSpPr>
        <p:spPr>
          <a:xfrm rot="10800000">
            <a:off x="5739006" y="1660942"/>
            <a:ext cx="415500" cy="219600"/>
          </a:xfrm>
          <a:prstGeom prst="straightConnector1">
            <a:avLst/>
          </a:prstGeom>
          <a:noFill/>
          <a:ln cap="flat" cmpd="sng" w="19050">
            <a:solidFill>
              <a:srgbClr val="666666"/>
            </a:solidFill>
            <a:prstDash val="solid"/>
            <a:round/>
            <a:headEnd len="med" w="med" type="none"/>
            <a:tailEnd len="med" w="med" type="none"/>
          </a:ln>
        </p:spPr>
      </p:cxnSp>
      <p:sp>
        <p:nvSpPr>
          <p:cNvPr id="789" name="Google Shape;789;p55"/>
          <p:cNvSpPr/>
          <p:nvPr/>
        </p:nvSpPr>
        <p:spPr>
          <a:xfrm>
            <a:off x="6991442" y="1336098"/>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15</a:t>
            </a:r>
            <a:endParaRPr sz="1800"/>
          </a:p>
        </p:txBody>
      </p:sp>
      <p:sp>
        <p:nvSpPr>
          <p:cNvPr id="790" name="Google Shape;790;p55"/>
          <p:cNvSpPr/>
          <p:nvPr/>
        </p:nvSpPr>
        <p:spPr>
          <a:xfrm>
            <a:off x="6624904" y="1880558"/>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14</a:t>
            </a:r>
            <a:endParaRPr sz="1800"/>
          </a:p>
        </p:txBody>
      </p:sp>
      <p:sp>
        <p:nvSpPr>
          <p:cNvPr id="791" name="Google Shape;791;p55"/>
          <p:cNvSpPr/>
          <p:nvPr/>
        </p:nvSpPr>
        <p:spPr>
          <a:xfrm>
            <a:off x="7344000" y="1880550"/>
            <a:ext cx="16884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16  17  18  19</a:t>
            </a:r>
            <a:endParaRPr sz="1800"/>
          </a:p>
        </p:txBody>
      </p:sp>
      <p:cxnSp>
        <p:nvCxnSpPr>
          <p:cNvPr id="792" name="Google Shape;792;p55"/>
          <p:cNvCxnSpPr>
            <a:stCxn id="790" idx="0"/>
            <a:endCxn id="789" idx="2"/>
          </p:cNvCxnSpPr>
          <p:nvPr/>
        </p:nvCxnSpPr>
        <p:spPr>
          <a:xfrm flipH="1" rot="10800000">
            <a:off x="6870154" y="1660958"/>
            <a:ext cx="366600" cy="219600"/>
          </a:xfrm>
          <a:prstGeom prst="straightConnector1">
            <a:avLst/>
          </a:prstGeom>
          <a:noFill/>
          <a:ln cap="flat" cmpd="sng" w="19050">
            <a:solidFill>
              <a:srgbClr val="666666"/>
            </a:solidFill>
            <a:prstDash val="solid"/>
            <a:round/>
            <a:headEnd len="med" w="med" type="none"/>
            <a:tailEnd len="med" w="med" type="none"/>
          </a:ln>
        </p:spPr>
      </p:cxnSp>
      <p:cxnSp>
        <p:nvCxnSpPr>
          <p:cNvPr id="793" name="Google Shape;793;p55"/>
          <p:cNvCxnSpPr>
            <a:stCxn id="791" idx="0"/>
            <a:endCxn id="789" idx="2"/>
          </p:cNvCxnSpPr>
          <p:nvPr/>
        </p:nvCxnSpPr>
        <p:spPr>
          <a:xfrm rot="10800000">
            <a:off x="7236600" y="1660950"/>
            <a:ext cx="951600" cy="219600"/>
          </a:xfrm>
          <a:prstGeom prst="straightConnector1">
            <a:avLst/>
          </a:prstGeom>
          <a:noFill/>
          <a:ln cap="flat" cmpd="sng" w="19050">
            <a:solidFill>
              <a:srgbClr val="666666"/>
            </a:solidFill>
            <a:prstDash val="solid"/>
            <a:round/>
            <a:headEnd len="med" w="med" type="none"/>
            <a:tailEnd len="med" w="med" type="none"/>
          </a:ln>
        </p:spPr>
      </p:cxnSp>
      <p:sp>
        <p:nvSpPr>
          <p:cNvPr id="794" name="Google Shape;794;p55"/>
          <p:cNvSpPr/>
          <p:nvPr/>
        </p:nvSpPr>
        <p:spPr>
          <a:xfrm>
            <a:off x="6350633" y="73937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13</a:t>
            </a:r>
            <a:endParaRPr sz="1800"/>
          </a:p>
        </p:txBody>
      </p:sp>
      <p:cxnSp>
        <p:nvCxnSpPr>
          <p:cNvPr id="795" name="Google Shape;795;p55"/>
          <p:cNvCxnSpPr>
            <a:stCxn id="794" idx="2"/>
            <a:endCxn id="784" idx="0"/>
          </p:cNvCxnSpPr>
          <p:nvPr/>
        </p:nvCxnSpPr>
        <p:spPr>
          <a:xfrm flipH="1">
            <a:off x="5739083" y="1064275"/>
            <a:ext cx="856800" cy="271800"/>
          </a:xfrm>
          <a:prstGeom prst="straightConnector1">
            <a:avLst/>
          </a:prstGeom>
          <a:noFill/>
          <a:ln cap="flat" cmpd="sng" w="19050">
            <a:solidFill>
              <a:srgbClr val="666666"/>
            </a:solidFill>
            <a:prstDash val="solid"/>
            <a:round/>
            <a:headEnd len="med" w="med" type="none"/>
            <a:tailEnd len="med" w="med" type="none"/>
          </a:ln>
        </p:spPr>
      </p:cxnSp>
      <p:cxnSp>
        <p:nvCxnSpPr>
          <p:cNvPr id="796" name="Google Shape;796;p55"/>
          <p:cNvCxnSpPr>
            <a:stCxn id="794" idx="2"/>
            <a:endCxn id="789" idx="0"/>
          </p:cNvCxnSpPr>
          <p:nvPr/>
        </p:nvCxnSpPr>
        <p:spPr>
          <a:xfrm>
            <a:off x="6595883" y="1064275"/>
            <a:ext cx="640800" cy="271800"/>
          </a:xfrm>
          <a:prstGeom prst="straightConnector1">
            <a:avLst/>
          </a:prstGeom>
          <a:noFill/>
          <a:ln cap="flat" cmpd="sng" w="19050">
            <a:solidFill>
              <a:srgbClr val="666666"/>
            </a:solidFill>
            <a:prstDash val="solid"/>
            <a:round/>
            <a:headEnd len="med" w="med" type="none"/>
            <a:tailEnd len="med" w="med" type="none"/>
          </a:ln>
        </p:spPr>
      </p:cxnSp>
      <p:grpSp>
        <p:nvGrpSpPr>
          <p:cNvPr id="797" name="Google Shape;797;p55"/>
          <p:cNvGrpSpPr/>
          <p:nvPr/>
        </p:nvGrpSpPr>
        <p:grpSpPr>
          <a:xfrm>
            <a:off x="5079580" y="3253975"/>
            <a:ext cx="3886645" cy="1466083"/>
            <a:chOff x="5079580" y="3253975"/>
            <a:chExt cx="3886645" cy="1466083"/>
          </a:xfrm>
        </p:grpSpPr>
        <p:sp>
          <p:nvSpPr>
            <p:cNvPr id="798" name="Google Shape;798;p55"/>
            <p:cNvSpPr/>
            <p:nvPr/>
          </p:nvSpPr>
          <p:spPr>
            <a:xfrm>
              <a:off x="5493868" y="3850707"/>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5</a:t>
              </a:r>
              <a:endParaRPr sz="1800"/>
            </a:p>
          </p:txBody>
        </p:sp>
        <p:sp>
          <p:nvSpPr>
            <p:cNvPr id="799" name="Google Shape;799;p55"/>
            <p:cNvSpPr/>
            <p:nvPr/>
          </p:nvSpPr>
          <p:spPr>
            <a:xfrm>
              <a:off x="5079580" y="4395142"/>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a:t>
              </a:r>
              <a:endParaRPr sz="1800"/>
            </a:p>
          </p:txBody>
        </p:sp>
        <p:sp>
          <p:nvSpPr>
            <p:cNvPr id="800" name="Google Shape;800;p55"/>
            <p:cNvSpPr/>
            <p:nvPr/>
          </p:nvSpPr>
          <p:spPr>
            <a:xfrm>
              <a:off x="5909256" y="4395142"/>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7</a:t>
              </a:r>
              <a:endParaRPr sz="1800"/>
            </a:p>
          </p:txBody>
        </p:sp>
        <p:cxnSp>
          <p:nvCxnSpPr>
            <p:cNvPr id="801" name="Google Shape;801;p55"/>
            <p:cNvCxnSpPr>
              <a:stCxn id="799" idx="0"/>
              <a:endCxn id="798" idx="2"/>
            </p:cNvCxnSpPr>
            <p:nvPr/>
          </p:nvCxnSpPr>
          <p:spPr>
            <a:xfrm flipH="1" rot="10800000">
              <a:off x="5324830" y="4175542"/>
              <a:ext cx="414300" cy="219600"/>
            </a:xfrm>
            <a:prstGeom prst="straightConnector1">
              <a:avLst/>
            </a:prstGeom>
            <a:noFill/>
            <a:ln cap="flat" cmpd="sng" w="19050">
              <a:solidFill>
                <a:srgbClr val="666666"/>
              </a:solidFill>
              <a:prstDash val="solid"/>
              <a:round/>
              <a:headEnd len="med" w="med" type="none"/>
              <a:tailEnd len="med" w="med" type="none"/>
            </a:ln>
          </p:spPr>
        </p:cxnSp>
        <p:cxnSp>
          <p:nvCxnSpPr>
            <p:cNvPr id="802" name="Google Shape;802;p55"/>
            <p:cNvCxnSpPr>
              <a:stCxn id="800" idx="0"/>
              <a:endCxn id="798" idx="2"/>
            </p:cNvCxnSpPr>
            <p:nvPr/>
          </p:nvCxnSpPr>
          <p:spPr>
            <a:xfrm rot="10800000">
              <a:off x="5739006" y="4175542"/>
              <a:ext cx="415500" cy="219600"/>
            </a:xfrm>
            <a:prstGeom prst="straightConnector1">
              <a:avLst/>
            </a:prstGeom>
            <a:noFill/>
            <a:ln cap="flat" cmpd="sng" w="19050">
              <a:solidFill>
                <a:srgbClr val="666666"/>
              </a:solidFill>
              <a:prstDash val="solid"/>
              <a:round/>
              <a:headEnd len="med" w="med" type="none"/>
              <a:tailEnd len="med" w="med" type="none"/>
            </a:ln>
          </p:spPr>
        </p:cxnSp>
        <p:sp>
          <p:nvSpPr>
            <p:cNvPr id="803" name="Google Shape;803;p55"/>
            <p:cNvSpPr/>
            <p:nvPr/>
          </p:nvSpPr>
          <p:spPr>
            <a:xfrm>
              <a:off x="7220056" y="3850700"/>
              <a:ext cx="8694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15  17</a:t>
              </a:r>
              <a:endParaRPr sz="1800"/>
            </a:p>
          </p:txBody>
        </p:sp>
        <p:sp>
          <p:nvSpPr>
            <p:cNvPr id="804" name="Google Shape;804;p55"/>
            <p:cNvSpPr/>
            <p:nvPr/>
          </p:nvSpPr>
          <p:spPr>
            <a:xfrm>
              <a:off x="6853504" y="4395158"/>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14</a:t>
              </a:r>
              <a:endParaRPr sz="1800"/>
            </a:p>
          </p:txBody>
        </p:sp>
        <p:sp>
          <p:nvSpPr>
            <p:cNvPr id="805" name="Google Shape;805;p55"/>
            <p:cNvSpPr/>
            <p:nvPr/>
          </p:nvSpPr>
          <p:spPr>
            <a:xfrm>
              <a:off x="7720325" y="4395150"/>
              <a:ext cx="12459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16  18  19</a:t>
              </a:r>
              <a:endParaRPr sz="1800"/>
            </a:p>
          </p:txBody>
        </p:sp>
        <p:cxnSp>
          <p:nvCxnSpPr>
            <p:cNvPr id="806" name="Google Shape;806;p55"/>
            <p:cNvCxnSpPr>
              <a:stCxn id="804" idx="0"/>
              <a:endCxn id="803" idx="2"/>
            </p:cNvCxnSpPr>
            <p:nvPr/>
          </p:nvCxnSpPr>
          <p:spPr>
            <a:xfrm flipH="1" rot="10800000">
              <a:off x="7098754" y="4175558"/>
              <a:ext cx="555900" cy="219600"/>
            </a:xfrm>
            <a:prstGeom prst="straightConnector1">
              <a:avLst/>
            </a:prstGeom>
            <a:noFill/>
            <a:ln cap="flat" cmpd="sng" w="19050">
              <a:solidFill>
                <a:srgbClr val="666666"/>
              </a:solidFill>
              <a:prstDash val="solid"/>
              <a:round/>
              <a:headEnd len="med" w="med" type="none"/>
              <a:tailEnd len="med" w="med" type="none"/>
            </a:ln>
          </p:spPr>
        </p:cxnSp>
        <p:cxnSp>
          <p:nvCxnSpPr>
            <p:cNvPr id="807" name="Google Shape;807;p55"/>
            <p:cNvCxnSpPr>
              <a:stCxn id="805" idx="0"/>
              <a:endCxn id="803" idx="2"/>
            </p:cNvCxnSpPr>
            <p:nvPr/>
          </p:nvCxnSpPr>
          <p:spPr>
            <a:xfrm rot="10800000">
              <a:off x="7654775" y="4175550"/>
              <a:ext cx="688500" cy="219600"/>
            </a:xfrm>
            <a:prstGeom prst="straightConnector1">
              <a:avLst/>
            </a:prstGeom>
            <a:noFill/>
            <a:ln cap="flat" cmpd="sng" w="19050">
              <a:solidFill>
                <a:srgbClr val="666666"/>
              </a:solidFill>
              <a:prstDash val="solid"/>
              <a:round/>
              <a:headEnd len="med" w="med" type="none"/>
              <a:tailEnd len="med" w="med" type="none"/>
            </a:ln>
          </p:spPr>
        </p:cxnSp>
        <p:sp>
          <p:nvSpPr>
            <p:cNvPr id="808" name="Google Shape;808;p55"/>
            <p:cNvSpPr/>
            <p:nvPr/>
          </p:nvSpPr>
          <p:spPr>
            <a:xfrm>
              <a:off x="6350633" y="325397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13</a:t>
              </a:r>
              <a:endParaRPr sz="1800"/>
            </a:p>
          </p:txBody>
        </p:sp>
        <p:cxnSp>
          <p:nvCxnSpPr>
            <p:cNvPr id="809" name="Google Shape;809;p55"/>
            <p:cNvCxnSpPr>
              <a:stCxn id="808" idx="2"/>
              <a:endCxn id="798" idx="0"/>
            </p:cNvCxnSpPr>
            <p:nvPr/>
          </p:nvCxnSpPr>
          <p:spPr>
            <a:xfrm flipH="1">
              <a:off x="5739083" y="3578875"/>
              <a:ext cx="856800" cy="271800"/>
            </a:xfrm>
            <a:prstGeom prst="straightConnector1">
              <a:avLst/>
            </a:prstGeom>
            <a:noFill/>
            <a:ln cap="flat" cmpd="sng" w="19050">
              <a:solidFill>
                <a:srgbClr val="666666"/>
              </a:solidFill>
              <a:prstDash val="solid"/>
              <a:round/>
              <a:headEnd len="med" w="med" type="none"/>
              <a:tailEnd len="med" w="med" type="none"/>
            </a:ln>
          </p:spPr>
        </p:cxnSp>
        <p:cxnSp>
          <p:nvCxnSpPr>
            <p:cNvPr id="810" name="Google Shape;810;p55"/>
            <p:cNvCxnSpPr>
              <a:stCxn id="808" idx="2"/>
              <a:endCxn id="803" idx="0"/>
            </p:cNvCxnSpPr>
            <p:nvPr/>
          </p:nvCxnSpPr>
          <p:spPr>
            <a:xfrm>
              <a:off x="6595883" y="3578875"/>
              <a:ext cx="1059000" cy="271800"/>
            </a:xfrm>
            <a:prstGeom prst="straightConnector1">
              <a:avLst/>
            </a:prstGeom>
            <a:noFill/>
            <a:ln cap="flat" cmpd="sng" w="19050">
              <a:solidFill>
                <a:srgbClr val="666666"/>
              </a:solidFill>
              <a:prstDash val="solid"/>
              <a:round/>
              <a:headEnd len="med" w="med" type="none"/>
              <a:tailEnd len="med" w="med" type="none"/>
            </a:ln>
          </p:spPr>
        </p:cxnSp>
      </p:grpSp>
      <p:grpSp>
        <p:nvGrpSpPr>
          <p:cNvPr id="811" name="Google Shape;811;p55"/>
          <p:cNvGrpSpPr/>
          <p:nvPr/>
        </p:nvGrpSpPr>
        <p:grpSpPr>
          <a:xfrm>
            <a:off x="7507345" y="2226490"/>
            <a:ext cx="1210500" cy="702085"/>
            <a:chOff x="7507345" y="2226490"/>
            <a:chExt cx="1210500" cy="702085"/>
          </a:xfrm>
        </p:grpSpPr>
        <p:cxnSp>
          <p:nvCxnSpPr>
            <p:cNvPr id="812" name="Google Shape;812;p55"/>
            <p:cNvCxnSpPr/>
            <p:nvPr/>
          </p:nvCxnSpPr>
          <p:spPr>
            <a:xfrm rot="10800000">
              <a:off x="8004324" y="2226490"/>
              <a:ext cx="0" cy="362100"/>
            </a:xfrm>
            <a:prstGeom prst="straightConnector1">
              <a:avLst/>
            </a:prstGeom>
            <a:noFill/>
            <a:ln cap="flat" cmpd="sng" w="9525">
              <a:solidFill>
                <a:schemeClr val="dk2"/>
              </a:solidFill>
              <a:prstDash val="solid"/>
              <a:round/>
              <a:headEnd len="med" w="med" type="none"/>
              <a:tailEnd len="med" w="med" type="triangle"/>
            </a:ln>
          </p:spPr>
        </p:cxnSp>
        <p:sp>
          <p:nvSpPr>
            <p:cNvPr id="813" name="Google Shape;813;p55"/>
            <p:cNvSpPr txBox="1"/>
            <p:nvPr/>
          </p:nvSpPr>
          <p:spPr>
            <a:xfrm>
              <a:off x="7507345" y="2535575"/>
              <a:ext cx="1210500" cy="39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move up</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1"/>
                                        </p:tgtEl>
                                        <p:attrNameLst>
                                          <p:attrName>style.visibility</p:attrName>
                                        </p:attrNameLst>
                                      </p:cBhvr>
                                      <p:to>
                                        <p:strVal val="visible"/>
                                      </p:to>
                                    </p:set>
                                    <p:animEffect filter="fade" transition="in">
                                      <p:cBhvr>
                                        <p:cTn dur="1"/>
                                        <p:tgtEl>
                                          <p:spTgt spid="8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7"/>
                                        </p:tgtEl>
                                        <p:attrNameLst>
                                          <p:attrName>style.visibility</p:attrName>
                                        </p:attrNameLst>
                                      </p:cBhvr>
                                      <p:to>
                                        <p:strVal val="visible"/>
                                      </p:to>
                                    </p:set>
                                    <p:animEffect filter="fade" transition="in">
                                      <p:cBhvr>
                                        <p:cTn dur="1"/>
                                        <p:tgtEl>
                                          <p:spTgt spid="7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3">
                                            <p:txEl>
                                              <p:pRg end="0" st="0"/>
                                            </p:txEl>
                                          </p:spTgt>
                                        </p:tgtEl>
                                        <p:attrNameLst>
                                          <p:attrName>style.visibility</p:attrName>
                                        </p:attrNameLst>
                                      </p:cBhvr>
                                      <p:to>
                                        <p:strVal val="visible"/>
                                      </p:to>
                                    </p:set>
                                    <p:animEffect filter="fade" transition="in">
                                      <p:cBhvr>
                                        <p:cTn dur="1"/>
                                        <p:tgtEl>
                                          <p:spTgt spid="78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3">
                                            <p:txEl>
                                              <p:pRg end="1" st="1"/>
                                            </p:txEl>
                                          </p:spTgt>
                                        </p:tgtEl>
                                        <p:attrNameLst>
                                          <p:attrName>style.visibility</p:attrName>
                                        </p:attrNameLst>
                                      </p:cBhvr>
                                      <p:to>
                                        <p:strVal val="visible"/>
                                      </p:to>
                                    </p:set>
                                    <p:animEffect filter="fade" transition="in">
                                      <p:cBhvr>
                                        <p:cTn dur="1"/>
                                        <p:tgtEl>
                                          <p:spTgt spid="783">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817" name="Shape 817"/>
        <p:cNvGrpSpPr/>
        <p:nvPr/>
      </p:nvGrpSpPr>
      <p:grpSpPr>
        <a:xfrm>
          <a:off x="0" y="0"/>
          <a:ext cx="0" cy="0"/>
          <a:chOff x="0" y="0"/>
          <a:chExt cx="0" cy="0"/>
        </a:xfrm>
      </p:grpSpPr>
      <p:sp>
        <p:nvSpPr>
          <p:cNvPr id="818" name="Google Shape;818;p5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Revising Our Overstuffed Tree Approach</a:t>
            </a:r>
            <a:endParaRPr/>
          </a:p>
        </p:txBody>
      </p:sp>
      <p:sp>
        <p:nvSpPr>
          <p:cNvPr id="819" name="Google Shape;819;p5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Height is balanced, but we have a new problem:</a:t>
            </a:r>
            <a:endParaRPr/>
          </a:p>
          <a:p>
            <a:pPr indent="-342900" lvl="0" marL="457200" rtl="0" algn="l">
              <a:spcBef>
                <a:spcPts val="600"/>
              </a:spcBef>
              <a:spcAft>
                <a:spcPts val="0"/>
              </a:spcAft>
              <a:buSzPts val="1800"/>
              <a:buChar char="●"/>
            </a:pPr>
            <a:r>
              <a:rPr lang="en"/>
              <a:t>Leaf nodes can get too juicy.</a:t>
            </a:r>
            <a:endParaRPr/>
          </a:p>
          <a:p>
            <a:pPr indent="0" lvl="0" marL="0" rtl="0" algn="l">
              <a:spcBef>
                <a:spcPts val="600"/>
              </a:spcBef>
              <a:spcAft>
                <a:spcPts val="0"/>
              </a:spcAft>
              <a:buNone/>
            </a:pPr>
            <a:br>
              <a:rPr lang="en"/>
            </a:br>
            <a:endParaRPr/>
          </a:p>
          <a:p>
            <a:pPr indent="0" lvl="0" marL="0" rtl="0" algn="l">
              <a:spcBef>
                <a:spcPts val="600"/>
              </a:spcBef>
              <a:spcAft>
                <a:spcPts val="0"/>
              </a:spcAft>
              <a:buNone/>
            </a:pPr>
            <a:r>
              <a:rPr lang="en"/>
              <a:t>Solution?</a:t>
            </a:r>
            <a:endParaRPr/>
          </a:p>
          <a:p>
            <a:pPr indent="-342900" lvl="0" marL="457200" rtl="0" algn="l">
              <a:spcBef>
                <a:spcPts val="600"/>
              </a:spcBef>
              <a:spcAft>
                <a:spcPts val="0"/>
              </a:spcAft>
              <a:buSzPts val="1800"/>
              <a:buChar char="●"/>
            </a:pPr>
            <a:r>
              <a:rPr lang="en"/>
              <a:t>Set a limit L on the number of items, say L=3.</a:t>
            </a:r>
            <a:endParaRPr/>
          </a:p>
          <a:p>
            <a:pPr indent="-342900" lvl="0" marL="457200" rtl="0" algn="l">
              <a:spcBef>
                <a:spcPts val="0"/>
              </a:spcBef>
              <a:spcAft>
                <a:spcPts val="0"/>
              </a:spcAft>
              <a:buSzPts val="1800"/>
              <a:buChar char="●"/>
            </a:pPr>
            <a:r>
              <a:rPr lang="en"/>
              <a:t>If any node has more than L items, give an item to parent.</a:t>
            </a:r>
            <a:endParaRPr/>
          </a:p>
          <a:p>
            <a:pPr indent="-342900" lvl="1" marL="914400" rtl="0" algn="l">
              <a:spcBef>
                <a:spcPts val="0"/>
              </a:spcBef>
              <a:spcAft>
                <a:spcPts val="0"/>
              </a:spcAft>
              <a:buSzPts val="1800"/>
              <a:buChar char="○"/>
            </a:pPr>
            <a:r>
              <a:rPr lang="en"/>
              <a:t>Which one? Let’s say (arbitrarily) the left-middle.</a:t>
            </a:r>
            <a:endParaRPr/>
          </a:p>
        </p:txBody>
      </p:sp>
      <p:sp>
        <p:nvSpPr>
          <p:cNvPr id="820" name="Google Shape;820;p56"/>
          <p:cNvSpPr txBox="1"/>
          <p:nvPr/>
        </p:nvSpPr>
        <p:spPr>
          <a:xfrm>
            <a:off x="228600" y="3725075"/>
            <a:ext cx="4849200" cy="1217400"/>
          </a:xfrm>
          <a:prstGeom prst="rect">
            <a:avLst/>
          </a:prstGeom>
          <a:noFill/>
          <a:ln>
            <a:noFill/>
          </a:ln>
        </p:spPr>
        <p:txBody>
          <a:bodyPr anchorCtr="0" anchor="ctr" bIns="91425" lIns="91425" spcFirstLastPara="1" rIns="91425" wrap="square" tIns="91425">
            <a:noAutofit/>
          </a:bodyPr>
          <a:lstStyle/>
          <a:p>
            <a:pPr indent="0" lvl="0" marL="0" rtl="0" algn="l">
              <a:spcBef>
                <a:spcPts val="600"/>
              </a:spcBef>
              <a:spcAft>
                <a:spcPts val="0"/>
              </a:spcAft>
              <a:buNone/>
            </a:pPr>
            <a:r>
              <a:rPr lang="en" sz="2000">
                <a:solidFill>
                  <a:schemeClr val="dk1"/>
                </a:solidFill>
                <a:latin typeface="Calibri"/>
                <a:ea typeface="Calibri"/>
                <a:cs typeface="Calibri"/>
                <a:sym typeface="Calibri"/>
              </a:rPr>
              <a:t>Challenge for you:</a:t>
            </a:r>
            <a:endParaRPr sz="2000">
              <a:solidFill>
                <a:schemeClr val="dk1"/>
              </a:solidFill>
              <a:latin typeface="Calibri"/>
              <a:ea typeface="Calibri"/>
              <a:cs typeface="Calibri"/>
              <a:sym typeface="Calibri"/>
            </a:endParaRPr>
          </a:p>
          <a:p>
            <a:pPr indent="-355600" lvl="0" marL="457200" rtl="0" algn="l">
              <a:spcBef>
                <a:spcPts val="60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How can we tweak this idea to make it work?</a:t>
            </a:r>
            <a:br>
              <a:rPr lang="en" sz="2000">
                <a:solidFill>
                  <a:schemeClr val="dk1"/>
                </a:solidFill>
                <a:latin typeface="Calibri"/>
                <a:ea typeface="Calibri"/>
                <a:cs typeface="Calibri"/>
                <a:sym typeface="Calibri"/>
              </a:rPr>
            </a:br>
            <a:endParaRPr sz="2000"/>
          </a:p>
        </p:txBody>
      </p:sp>
      <p:sp>
        <p:nvSpPr>
          <p:cNvPr id="821" name="Google Shape;821;p56"/>
          <p:cNvSpPr/>
          <p:nvPr/>
        </p:nvSpPr>
        <p:spPr>
          <a:xfrm>
            <a:off x="5493868" y="3850707"/>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5</a:t>
            </a:r>
            <a:endParaRPr sz="1800"/>
          </a:p>
        </p:txBody>
      </p:sp>
      <p:sp>
        <p:nvSpPr>
          <p:cNvPr id="822" name="Google Shape;822;p56"/>
          <p:cNvSpPr/>
          <p:nvPr/>
        </p:nvSpPr>
        <p:spPr>
          <a:xfrm>
            <a:off x="5079580" y="4395142"/>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a:t>
            </a:r>
            <a:endParaRPr sz="1800"/>
          </a:p>
        </p:txBody>
      </p:sp>
      <p:sp>
        <p:nvSpPr>
          <p:cNvPr id="823" name="Google Shape;823;p56"/>
          <p:cNvSpPr/>
          <p:nvPr/>
        </p:nvSpPr>
        <p:spPr>
          <a:xfrm>
            <a:off x="5909256" y="4395142"/>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7</a:t>
            </a:r>
            <a:endParaRPr sz="1800"/>
          </a:p>
        </p:txBody>
      </p:sp>
      <p:cxnSp>
        <p:nvCxnSpPr>
          <p:cNvPr id="824" name="Google Shape;824;p56"/>
          <p:cNvCxnSpPr>
            <a:stCxn id="822" idx="0"/>
            <a:endCxn id="821" idx="2"/>
          </p:cNvCxnSpPr>
          <p:nvPr/>
        </p:nvCxnSpPr>
        <p:spPr>
          <a:xfrm flipH="1" rot="10800000">
            <a:off x="5324830" y="4175542"/>
            <a:ext cx="414300" cy="219600"/>
          </a:xfrm>
          <a:prstGeom prst="straightConnector1">
            <a:avLst/>
          </a:prstGeom>
          <a:noFill/>
          <a:ln cap="flat" cmpd="sng" w="19050">
            <a:solidFill>
              <a:srgbClr val="666666"/>
            </a:solidFill>
            <a:prstDash val="solid"/>
            <a:round/>
            <a:headEnd len="med" w="med" type="none"/>
            <a:tailEnd len="med" w="med" type="none"/>
          </a:ln>
        </p:spPr>
      </p:cxnSp>
      <p:cxnSp>
        <p:nvCxnSpPr>
          <p:cNvPr id="825" name="Google Shape;825;p56"/>
          <p:cNvCxnSpPr>
            <a:stCxn id="823" idx="0"/>
            <a:endCxn id="821" idx="2"/>
          </p:cNvCxnSpPr>
          <p:nvPr/>
        </p:nvCxnSpPr>
        <p:spPr>
          <a:xfrm rot="10800000">
            <a:off x="5739006" y="4175542"/>
            <a:ext cx="415500" cy="219600"/>
          </a:xfrm>
          <a:prstGeom prst="straightConnector1">
            <a:avLst/>
          </a:prstGeom>
          <a:noFill/>
          <a:ln cap="flat" cmpd="sng" w="19050">
            <a:solidFill>
              <a:srgbClr val="666666"/>
            </a:solidFill>
            <a:prstDash val="solid"/>
            <a:round/>
            <a:headEnd len="med" w="med" type="none"/>
            <a:tailEnd len="med" w="med" type="none"/>
          </a:ln>
        </p:spPr>
      </p:cxnSp>
      <p:sp>
        <p:nvSpPr>
          <p:cNvPr id="826" name="Google Shape;826;p56"/>
          <p:cNvSpPr/>
          <p:nvPr/>
        </p:nvSpPr>
        <p:spPr>
          <a:xfrm>
            <a:off x="7220056" y="3850700"/>
            <a:ext cx="8694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15  17</a:t>
            </a:r>
            <a:endParaRPr sz="1800"/>
          </a:p>
        </p:txBody>
      </p:sp>
      <p:sp>
        <p:nvSpPr>
          <p:cNvPr id="827" name="Google Shape;827;p56"/>
          <p:cNvSpPr/>
          <p:nvPr/>
        </p:nvSpPr>
        <p:spPr>
          <a:xfrm>
            <a:off x="6853504" y="4395158"/>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14</a:t>
            </a:r>
            <a:endParaRPr sz="1800"/>
          </a:p>
        </p:txBody>
      </p:sp>
      <p:sp>
        <p:nvSpPr>
          <p:cNvPr id="828" name="Google Shape;828;p56"/>
          <p:cNvSpPr/>
          <p:nvPr/>
        </p:nvSpPr>
        <p:spPr>
          <a:xfrm>
            <a:off x="7720325" y="4395150"/>
            <a:ext cx="12459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16  18  19</a:t>
            </a:r>
            <a:endParaRPr sz="1800"/>
          </a:p>
        </p:txBody>
      </p:sp>
      <p:cxnSp>
        <p:nvCxnSpPr>
          <p:cNvPr id="829" name="Google Shape;829;p56"/>
          <p:cNvCxnSpPr>
            <a:stCxn id="827" idx="0"/>
            <a:endCxn id="826" idx="2"/>
          </p:cNvCxnSpPr>
          <p:nvPr/>
        </p:nvCxnSpPr>
        <p:spPr>
          <a:xfrm flipH="1" rot="10800000">
            <a:off x="7098754" y="4175558"/>
            <a:ext cx="555900" cy="219600"/>
          </a:xfrm>
          <a:prstGeom prst="straightConnector1">
            <a:avLst/>
          </a:prstGeom>
          <a:noFill/>
          <a:ln cap="flat" cmpd="sng" w="19050">
            <a:solidFill>
              <a:srgbClr val="666666"/>
            </a:solidFill>
            <a:prstDash val="solid"/>
            <a:round/>
            <a:headEnd len="med" w="med" type="none"/>
            <a:tailEnd len="med" w="med" type="none"/>
          </a:ln>
        </p:spPr>
      </p:cxnSp>
      <p:cxnSp>
        <p:nvCxnSpPr>
          <p:cNvPr id="830" name="Google Shape;830;p56"/>
          <p:cNvCxnSpPr>
            <a:stCxn id="828" idx="0"/>
            <a:endCxn id="826" idx="2"/>
          </p:cNvCxnSpPr>
          <p:nvPr/>
        </p:nvCxnSpPr>
        <p:spPr>
          <a:xfrm rot="10800000">
            <a:off x="7654775" y="4175550"/>
            <a:ext cx="688500" cy="219600"/>
          </a:xfrm>
          <a:prstGeom prst="straightConnector1">
            <a:avLst/>
          </a:prstGeom>
          <a:noFill/>
          <a:ln cap="flat" cmpd="sng" w="19050">
            <a:solidFill>
              <a:srgbClr val="666666"/>
            </a:solidFill>
            <a:prstDash val="solid"/>
            <a:round/>
            <a:headEnd len="med" w="med" type="none"/>
            <a:tailEnd len="med" w="med" type="none"/>
          </a:ln>
        </p:spPr>
      </p:cxnSp>
      <p:sp>
        <p:nvSpPr>
          <p:cNvPr id="831" name="Google Shape;831;p56"/>
          <p:cNvSpPr/>
          <p:nvPr/>
        </p:nvSpPr>
        <p:spPr>
          <a:xfrm>
            <a:off x="6350633" y="325397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13</a:t>
            </a:r>
            <a:endParaRPr sz="1800"/>
          </a:p>
        </p:txBody>
      </p:sp>
      <p:cxnSp>
        <p:nvCxnSpPr>
          <p:cNvPr id="832" name="Google Shape;832;p56"/>
          <p:cNvCxnSpPr>
            <a:stCxn id="831" idx="2"/>
            <a:endCxn id="821" idx="0"/>
          </p:cNvCxnSpPr>
          <p:nvPr/>
        </p:nvCxnSpPr>
        <p:spPr>
          <a:xfrm flipH="1">
            <a:off x="5739083" y="3578875"/>
            <a:ext cx="856800" cy="271800"/>
          </a:xfrm>
          <a:prstGeom prst="straightConnector1">
            <a:avLst/>
          </a:prstGeom>
          <a:noFill/>
          <a:ln cap="flat" cmpd="sng" w="19050">
            <a:solidFill>
              <a:srgbClr val="666666"/>
            </a:solidFill>
            <a:prstDash val="solid"/>
            <a:round/>
            <a:headEnd len="med" w="med" type="none"/>
            <a:tailEnd len="med" w="med" type="none"/>
          </a:ln>
        </p:spPr>
      </p:cxnSp>
      <p:cxnSp>
        <p:nvCxnSpPr>
          <p:cNvPr id="833" name="Google Shape;833;p56"/>
          <p:cNvCxnSpPr>
            <a:stCxn id="831" idx="2"/>
            <a:endCxn id="826" idx="0"/>
          </p:cNvCxnSpPr>
          <p:nvPr/>
        </p:nvCxnSpPr>
        <p:spPr>
          <a:xfrm>
            <a:off x="6595883" y="3578875"/>
            <a:ext cx="1059000" cy="271800"/>
          </a:xfrm>
          <a:prstGeom prst="straightConnector1">
            <a:avLst/>
          </a:prstGeom>
          <a:noFill/>
          <a:ln cap="flat" cmpd="sng" w="19050">
            <a:solidFill>
              <a:srgbClr val="666666"/>
            </a:solidFill>
            <a:prstDash val="solid"/>
            <a:round/>
            <a:headEnd len="med" w="med" type="none"/>
            <a:tailEnd len="med" w="med" type="none"/>
          </a:ln>
        </p:spPr>
      </p:cxnSp>
      <p:sp>
        <p:nvSpPr>
          <p:cNvPr id="834" name="Google Shape;834;p56"/>
          <p:cNvSpPr/>
          <p:nvPr/>
        </p:nvSpPr>
        <p:spPr>
          <a:xfrm>
            <a:off x="5493868" y="1336107"/>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5</a:t>
            </a:r>
            <a:endParaRPr sz="1800"/>
          </a:p>
        </p:txBody>
      </p:sp>
      <p:sp>
        <p:nvSpPr>
          <p:cNvPr id="835" name="Google Shape;835;p56"/>
          <p:cNvSpPr/>
          <p:nvPr/>
        </p:nvSpPr>
        <p:spPr>
          <a:xfrm>
            <a:off x="5079580" y="1880542"/>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a:t>
            </a:r>
            <a:endParaRPr sz="1800"/>
          </a:p>
        </p:txBody>
      </p:sp>
      <p:sp>
        <p:nvSpPr>
          <p:cNvPr id="836" name="Google Shape;836;p56"/>
          <p:cNvSpPr/>
          <p:nvPr/>
        </p:nvSpPr>
        <p:spPr>
          <a:xfrm>
            <a:off x="5909256" y="1880542"/>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7</a:t>
            </a:r>
            <a:endParaRPr sz="1800"/>
          </a:p>
        </p:txBody>
      </p:sp>
      <p:cxnSp>
        <p:nvCxnSpPr>
          <p:cNvPr id="837" name="Google Shape;837;p56"/>
          <p:cNvCxnSpPr>
            <a:stCxn id="835" idx="0"/>
            <a:endCxn id="834" idx="2"/>
          </p:cNvCxnSpPr>
          <p:nvPr/>
        </p:nvCxnSpPr>
        <p:spPr>
          <a:xfrm flipH="1" rot="10800000">
            <a:off x="5324830" y="1660942"/>
            <a:ext cx="414300" cy="219600"/>
          </a:xfrm>
          <a:prstGeom prst="straightConnector1">
            <a:avLst/>
          </a:prstGeom>
          <a:noFill/>
          <a:ln cap="flat" cmpd="sng" w="19050">
            <a:solidFill>
              <a:srgbClr val="666666"/>
            </a:solidFill>
            <a:prstDash val="solid"/>
            <a:round/>
            <a:headEnd len="med" w="med" type="none"/>
            <a:tailEnd len="med" w="med" type="none"/>
          </a:ln>
        </p:spPr>
      </p:cxnSp>
      <p:cxnSp>
        <p:nvCxnSpPr>
          <p:cNvPr id="838" name="Google Shape;838;p56"/>
          <p:cNvCxnSpPr>
            <a:stCxn id="836" idx="0"/>
            <a:endCxn id="834" idx="2"/>
          </p:cNvCxnSpPr>
          <p:nvPr/>
        </p:nvCxnSpPr>
        <p:spPr>
          <a:xfrm rot="10800000">
            <a:off x="5739006" y="1660942"/>
            <a:ext cx="415500" cy="219600"/>
          </a:xfrm>
          <a:prstGeom prst="straightConnector1">
            <a:avLst/>
          </a:prstGeom>
          <a:noFill/>
          <a:ln cap="flat" cmpd="sng" w="19050">
            <a:solidFill>
              <a:srgbClr val="666666"/>
            </a:solidFill>
            <a:prstDash val="solid"/>
            <a:round/>
            <a:headEnd len="med" w="med" type="none"/>
            <a:tailEnd len="med" w="med" type="none"/>
          </a:ln>
        </p:spPr>
      </p:cxnSp>
      <p:sp>
        <p:nvSpPr>
          <p:cNvPr id="839" name="Google Shape;839;p56"/>
          <p:cNvSpPr/>
          <p:nvPr/>
        </p:nvSpPr>
        <p:spPr>
          <a:xfrm>
            <a:off x="6991442" y="1336098"/>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15</a:t>
            </a:r>
            <a:endParaRPr sz="1800"/>
          </a:p>
        </p:txBody>
      </p:sp>
      <p:sp>
        <p:nvSpPr>
          <p:cNvPr id="840" name="Google Shape;840;p56"/>
          <p:cNvSpPr/>
          <p:nvPr/>
        </p:nvSpPr>
        <p:spPr>
          <a:xfrm>
            <a:off x="6624904" y="1880558"/>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14</a:t>
            </a:r>
            <a:endParaRPr sz="1800"/>
          </a:p>
        </p:txBody>
      </p:sp>
      <p:sp>
        <p:nvSpPr>
          <p:cNvPr id="841" name="Google Shape;841;p56"/>
          <p:cNvSpPr/>
          <p:nvPr/>
        </p:nvSpPr>
        <p:spPr>
          <a:xfrm>
            <a:off x="7344000" y="1880550"/>
            <a:ext cx="16884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16  17  18  19</a:t>
            </a:r>
            <a:endParaRPr sz="1800"/>
          </a:p>
        </p:txBody>
      </p:sp>
      <p:cxnSp>
        <p:nvCxnSpPr>
          <p:cNvPr id="842" name="Google Shape;842;p56"/>
          <p:cNvCxnSpPr>
            <a:stCxn id="840" idx="0"/>
            <a:endCxn id="839" idx="2"/>
          </p:cNvCxnSpPr>
          <p:nvPr/>
        </p:nvCxnSpPr>
        <p:spPr>
          <a:xfrm flipH="1" rot="10800000">
            <a:off x="6870154" y="1660958"/>
            <a:ext cx="366600" cy="219600"/>
          </a:xfrm>
          <a:prstGeom prst="straightConnector1">
            <a:avLst/>
          </a:prstGeom>
          <a:noFill/>
          <a:ln cap="flat" cmpd="sng" w="19050">
            <a:solidFill>
              <a:srgbClr val="666666"/>
            </a:solidFill>
            <a:prstDash val="solid"/>
            <a:round/>
            <a:headEnd len="med" w="med" type="none"/>
            <a:tailEnd len="med" w="med" type="none"/>
          </a:ln>
        </p:spPr>
      </p:cxnSp>
      <p:cxnSp>
        <p:nvCxnSpPr>
          <p:cNvPr id="843" name="Google Shape;843;p56"/>
          <p:cNvCxnSpPr>
            <a:stCxn id="841" idx="0"/>
            <a:endCxn id="839" idx="2"/>
          </p:cNvCxnSpPr>
          <p:nvPr/>
        </p:nvCxnSpPr>
        <p:spPr>
          <a:xfrm rot="10800000">
            <a:off x="7236600" y="1660950"/>
            <a:ext cx="951600" cy="219600"/>
          </a:xfrm>
          <a:prstGeom prst="straightConnector1">
            <a:avLst/>
          </a:prstGeom>
          <a:noFill/>
          <a:ln cap="flat" cmpd="sng" w="19050">
            <a:solidFill>
              <a:srgbClr val="666666"/>
            </a:solidFill>
            <a:prstDash val="solid"/>
            <a:round/>
            <a:headEnd len="med" w="med" type="none"/>
            <a:tailEnd len="med" w="med" type="none"/>
          </a:ln>
        </p:spPr>
      </p:cxnSp>
      <p:sp>
        <p:nvSpPr>
          <p:cNvPr id="844" name="Google Shape;844;p56"/>
          <p:cNvSpPr/>
          <p:nvPr/>
        </p:nvSpPr>
        <p:spPr>
          <a:xfrm>
            <a:off x="6350633" y="73937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13</a:t>
            </a:r>
            <a:endParaRPr sz="1800"/>
          </a:p>
        </p:txBody>
      </p:sp>
      <p:cxnSp>
        <p:nvCxnSpPr>
          <p:cNvPr id="845" name="Google Shape;845;p56"/>
          <p:cNvCxnSpPr>
            <a:stCxn id="844" idx="2"/>
            <a:endCxn id="834" idx="0"/>
          </p:cNvCxnSpPr>
          <p:nvPr/>
        </p:nvCxnSpPr>
        <p:spPr>
          <a:xfrm flipH="1">
            <a:off x="5739083" y="1064275"/>
            <a:ext cx="856800" cy="271800"/>
          </a:xfrm>
          <a:prstGeom prst="straightConnector1">
            <a:avLst/>
          </a:prstGeom>
          <a:noFill/>
          <a:ln cap="flat" cmpd="sng" w="19050">
            <a:solidFill>
              <a:srgbClr val="666666"/>
            </a:solidFill>
            <a:prstDash val="solid"/>
            <a:round/>
            <a:headEnd len="med" w="med" type="none"/>
            <a:tailEnd len="med" w="med" type="none"/>
          </a:ln>
        </p:spPr>
      </p:cxnSp>
      <p:cxnSp>
        <p:nvCxnSpPr>
          <p:cNvPr id="846" name="Google Shape;846;p56"/>
          <p:cNvCxnSpPr>
            <a:stCxn id="844" idx="2"/>
            <a:endCxn id="839" idx="0"/>
          </p:cNvCxnSpPr>
          <p:nvPr/>
        </p:nvCxnSpPr>
        <p:spPr>
          <a:xfrm>
            <a:off x="6595883" y="1064275"/>
            <a:ext cx="640800" cy="271800"/>
          </a:xfrm>
          <a:prstGeom prst="straightConnector1">
            <a:avLst/>
          </a:prstGeom>
          <a:noFill/>
          <a:ln cap="flat" cmpd="sng" w="19050">
            <a:solidFill>
              <a:srgbClr val="666666"/>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0">
                                            <p:txEl>
                                              <p:pRg end="0" st="0"/>
                                            </p:txEl>
                                          </p:spTgt>
                                        </p:tgtEl>
                                        <p:attrNameLst>
                                          <p:attrName>style.visibility</p:attrName>
                                        </p:attrNameLst>
                                      </p:cBhvr>
                                      <p:to>
                                        <p:strVal val="visible"/>
                                      </p:to>
                                    </p:set>
                                    <p:animEffect filter="fade" transition="in">
                                      <p:cBhvr>
                                        <p:cTn dur="1000"/>
                                        <p:tgtEl>
                                          <p:spTgt spid="82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0">
                                            <p:txEl>
                                              <p:pRg end="1" st="1"/>
                                            </p:txEl>
                                          </p:spTgt>
                                        </p:tgtEl>
                                        <p:attrNameLst>
                                          <p:attrName>style.visibility</p:attrName>
                                        </p:attrNameLst>
                                      </p:cBhvr>
                                      <p:to>
                                        <p:strVal val="visible"/>
                                      </p:to>
                                    </p:set>
                                    <p:animEffect filter="fade" transition="in">
                                      <p:cBhvr>
                                        <p:cTn dur="1000"/>
                                        <p:tgtEl>
                                          <p:spTgt spid="820">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50" name="Shape 850"/>
        <p:cNvGrpSpPr/>
        <p:nvPr/>
      </p:nvGrpSpPr>
      <p:grpSpPr>
        <a:xfrm>
          <a:off x="0" y="0"/>
          <a:ext cx="0" cy="0"/>
          <a:chOff x="0" y="0"/>
          <a:chExt cx="0" cy="0"/>
        </a:xfrm>
      </p:grpSpPr>
      <p:sp>
        <p:nvSpPr>
          <p:cNvPr id="851" name="Google Shape;851;p5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Revising Our Overstuffed Tree Approach: Node Splitting </a:t>
            </a:r>
            <a:endParaRPr/>
          </a:p>
        </p:txBody>
      </p:sp>
      <p:sp>
        <p:nvSpPr>
          <p:cNvPr id="852" name="Google Shape;852;p57"/>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Height is balanced, but we have a new problem:</a:t>
            </a:r>
            <a:endParaRPr/>
          </a:p>
          <a:p>
            <a:pPr indent="-342900" lvl="0" marL="457200" rtl="0" algn="l">
              <a:spcBef>
                <a:spcPts val="600"/>
              </a:spcBef>
              <a:spcAft>
                <a:spcPts val="0"/>
              </a:spcAft>
              <a:buSzPts val="1800"/>
              <a:buChar char="●"/>
            </a:pPr>
            <a:r>
              <a:rPr lang="en"/>
              <a:t>Leaf nodes can get too juicy.</a:t>
            </a:r>
            <a:endParaRPr/>
          </a:p>
          <a:p>
            <a:pPr indent="0" lvl="0" marL="0" rtl="0" algn="l">
              <a:spcBef>
                <a:spcPts val="600"/>
              </a:spcBef>
              <a:spcAft>
                <a:spcPts val="0"/>
              </a:spcAft>
              <a:buNone/>
            </a:pPr>
            <a:br>
              <a:rPr lang="en"/>
            </a:br>
            <a:endParaRPr/>
          </a:p>
          <a:p>
            <a:pPr indent="0" lvl="0" marL="0" rtl="0" algn="l">
              <a:spcBef>
                <a:spcPts val="600"/>
              </a:spcBef>
              <a:spcAft>
                <a:spcPts val="0"/>
              </a:spcAft>
              <a:buNone/>
            </a:pPr>
            <a:r>
              <a:rPr lang="en"/>
              <a:t>Solution?</a:t>
            </a:r>
            <a:endParaRPr/>
          </a:p>
          <a:p>
            <a:pPr indent="-342900" lvl="0" marL="457200" rtl="0" algn="l">
              <a:spcBef>
                <a:spcPts val="600"/>
              </a:spcBef>
              <a:spcAft>
                <a:spcPts val="0"/>
              </a:spcAft>
              <a:buSzPts val="1800"/>
              <a:buChar char="●"/>
            </a:pPr>
            <a:r>
              <a:rPr lang="en"/>
              <a:t>Set a limit L on the number of items, say L=3.</a:t>
            </a:r>
            <a:endParaRPr/>
          </a:p>
          <a:p>
            <a:pPr indent="-342900" lvl="0" marL="457200" rtl="0" algn="l">
              <a:spcBef>
                <a:spcPts val="0"/>
              </a:spcBef>
              <a:spcAft>
                <a:spcPts val="0"/>
              </a:spcAft>
              <a:buSzPts val="1800"/>
              <a:buChar char="●"/>
            </a:pPr>
            <a:r>
              <a:rPr lang="en"/>
              <a:t>If any node has more than L items, give an item to parent.</a:t>
            </a:r>
            <a:endParaRPr/>
          </a:p>
          <a:p>
            <a:pPr indent="-342900" lvl="1" marL="914400" rtl="0" algn="l">
              <a:spcBef>
                <a:spcPts val="0"/>
              </a:spcBef>
              <a:spcAft>
                <a:spcPts val="0"/>
              </a:spcAft>
              <a:buSzPts val="1800"/>
              <a:buChar char="○"/>
            </a:pPr>
            <a:r>
              <a:rPr lang="en"/>
              <a:t>Pulling item out of full node splits it into left and right.</a:t>
            </a:r>
            <a:endParaRPr/>
          </a:p>
          <a:p>
            <a:pPr indent="-342900" lvl="1" marL="914400" rtl="0" algn="l">
              <a:spcBef>
                <a:spcPts val="0"/>
              </a:spcBef>
              <a:spcAft>
                <a:spcPts val="0"/>
              </a:spcAft>
              <a:buSzPts val="1800"/>
              <a:buChar char="○"/>
            </a:pPr>
            <a:r>
              <a:rPr lang="en"/>
              <a:t>Parent node now has three children!</a:t>
            </a:r>
            <a:endParaRPr/>
          </a:p>
        </p:txBody>
      </p:sp>
      <p:sp>
        <p:nvSpPr>
          <p:cNvPr id="853" name="Google Shape;853;p57"/>
          <p:cNvSpPr/>
          <p:nvPr/>
        </p:nvSpPr>
        <p:spPr>
          <a:xfrm>
            <a:off x="5493868" y="3850707"/>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5</a:t>
            </a:r>
            <a:endParaRPr sz="1800"/>
          </a:p>
        </p:txBody>
      </p:sp>
      <p:sp>
        <p:nvSpPr>
          <p:cNvPr id="854" name="Google Shape;854;p57"/>
          <p:cNvSpPr/>
          <p:nvPr/>
        </p:nvSpPr>
        <p:spPr>
          <a:xfrm>
            <a:off x="5079580" y="4395142"/>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a:t>
            </a:r>
            <a:endParaRPr sz="1800"/>
          </a:p>
        </p:txBody>
      </p:sp>
      <p:sp>
        <p:nvSpPr>
          <p:cNvPr id="855" name="Google Shape;855;p57"/>
          <p:cNvSpPr/>
          <p:nvPr/>
        </p:nvSpPr>
        <p:spPr>
          <a:xfrm>
            <a:off x="5909256" y="4395142"/>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7</a:t>
            </a:r>
            <a:endParaRPr sz="1800"/>
          </a:p>
        </p:txBody>
      </p:sp>
      <p:cxnSp>
        <p:nvCxnSpPr>
          <p:cNvPr id="856" name="Google Shape;856;p57"/>
          <p:cNvCxnSpPr>
            <a:stCxn id="854" idx="0"/>
            <a:endCxn id="853" idx="2"/>
          </p:cNvCxnSpPr>
          <p:nvPr/>
        </p:nvCxnSpPr>
        <p:spPr>
          <a:xfrm flipH="1" rot="10800000">
            <a:off x="5324830" y="4175542"/>
            <a:ext cx="414300" cy="219600"/>
          </a:xfrm>
          <a:prstGeom prst="straightConnector1">
            <a:avLst/>
          </a:prstGeom>
          <a:noFill/>
          <a:ln cap="flat" cmpd="sng" w="19050">
            <a:solidFill>
              <a:srgbClr val="666666"/>
            </a:solidFill>
            <a:prstDash val="solid"/>
            <a:round/>
            <a:headEnd len="med" w="med" type="none"/>
            <a:tailEnd len="med" w="med" type="none"/>
          </a:ln>
        </p:spPr>
      </p:cxnSp>
      <p:cxnSp>
        <p:nvCxnSpPr>
          <p:cNvPr id="857" name="Google Shape;857;p57"/>
          <p:cNvCxnSpPr>
            <a:stCxn id="855" idx="0"/>
            <a:endCxn id="853" idx="2"/>
          </p:cNvCxnSpPr>
          <p:nvPr/>
        </p:nvCxnSpPr>
        <p:spPr>
          <a:xfrm rot="10800000">
            <a:off x="5739006" y="4175542"/>
            <a:ext cx="415500" cy="219600"/>
          </a:xfrm>
          <a:prstGeom prst="straightConnector1">
            <a:avLst/>
          </a:prstGeom>
          <a:noFill/>
          <a:ln cap="flat" cmpd="sng" w="19050">
            <a:solidFill>
              <a:srgbClr val="666666"/>
            </a:solidFill>
            <a:prstDash val="solid"/>
            <a:round/>
            <a:headEnd len="med" w="med" type="none"/>
            <a:tailEnd len="med" w="med" type="none"/>
          </a:ln>
        </p:spPr>
      </p:cxnSp>
      <p:sp>
        <p:nvSpPr>
          <p:cNvPr id="858" name="Google Shape;858;p57"/>
          <p:cNvSpPr/>
          <p:nvPr/>
        </p:nvSpPr>
        <p:spPr>
          <a:xfrm>
            <a:off x="7220056" y="3850700"/>
            <a:ext cx="8694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15  17</a:t>
            </a:r>
            <a:endParaRPr sz="1800"/>
          </a:p>
        </p:txBody>
      </p:sp>
      <p:sp>
        <p:nvSpPr>
          <p:cNvPr id="859" name="Google Shape;859;p57"/>
          <p:cNvSpPr/>
          <p:nvPr/>
        </p:nvSpPr>
        <p:spPr>
          <a:xfrm>
            <a:off x="6853504" y="4395158"/>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14</a:t>
            </a:r>
            <a:endParaRPr sz="1800"/>
          </a:p>
        </p:txBody>
      </p:sp>
      <p:sp>
        <p:nvSpPr>
          <p:cNvPr id="860" name="Google Shape;860;p57"/>
          <p:cNvSpPr/>
          <p:nvPr/>
        </p:nvSpPr>
        <p:spPr>
          <a:xfrm>
            <a:off x="8182450" y="4395150"/>
            <a:ext cx="8568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18  19</a:t>
            </a:r>
            <a:endParaRPr sz="1800"/>
          </a:p>
        </p:txBody>
      </p:sp>
      <p:cxnSp>
        <p:nvCxnSpPr>
          <p:cNvPr id="861" name="Google Shape;861;p57"/>
          <p:cNvCxnSpPr>
            <a:stCxn id="859" idx="0"/>
            <a:endCxn id="858" idx="2"/>
          </p:cNvCxnSpPr>
          <p:nvPr/>
        </p:nvCxnSpPr>
        <p:spPr>
          <a:xfrm flipH="1" rot="10800000">
            <a:off x="7098754" y="4175558"/>
            <a:ext cx="555900" cy="219600"/>
          </a:xfrm>
          <a:prstGeom prst="straightConnector1">
            <a:avLst/>
          </a:prstGeom>
          <a:noFill/>
          <a:ln cap="flat" cmpd="sng" w="19050">
            <a:solidFill>
              <a:srgbClr val="666666"/>
            </a:solidFill>
            <a:prstDash val="solid"/>
            <a:round/>
            <a:headEnd len="med" w="med" type="none"/>
            <a:tailEnd len="med" w="med" type="none"/>
          </a:ln>
        </p:spPr>
      </p:cxnSp>
      <p:cxnSp>
        <p:nvCxnSpPr>
          <p:cNvPr id="862" name="Google Shape;862;p57"/>
          <p:cNvCxnSpPr>
            <a:stCxn id="860" idx="0"/>
            <a:endCxn id="858" idx="2"/>
          </p:cNvCxnSpPr>
          <p:nvPr/>
        </p:nvCxnSpPr>
        <p:spPr>
          <a:xfrm rot="10800000">
            <a:off x="7654750" y="4175550"/>
            <a:ext cx="956100" cy="219600"/>
          </a:xfrm>
          <a:prstGeom prst="straightConnector1">
            <a:avLst/>
          </a:prstGeom>
          <a:noFill/>
          <a:ln cap="flat" cmpd="sng" w="19050">
            <a:solidFill>
              <a:srgbClr val="666666"/>
            </a:solidFill>
            <a:prstDash val="solid"/>
            <a:round/>
            <a:headEnd len="med" w="med" type="none"/>
            <a:tailEnd len="med" w="med" type="none"/>
          </a:ln>
        </p:spPr>
      </p:cxnSp>
      <p:sp>
        <p:nvSpPr>
          <p:cNvPr id="863" name="Google Shape;863;p57"/>
          <p:cNvSpPr/>
          <p:nvPr/>
        </p:nvSpPr>
        <p:spPr>
          <a:xfrm>
            <a:off x="6350633" y="325397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13</a:t>
            </a:r>
            <a:endParaRPr sz="1800"/>
          </a:p>
        </p:txBody>
      </p:sp>
      <p:cxnSp>
        <p:nvCxnSpPr>
          <p:cNvPr id="864" name="Google Shape;864;p57"/>
          <p:cNvCxnSpPr>
            <a:stCxn id="863" idx="2"/>
            <a:endCxn id="853" idx="0"/>
          </p:cNvCxnSpPr>
          <p:nvPr/>
        </p:nvCxnSpPr>
        <p:spPr>
          <a:xfrm flipH="1">
            <a:off x="5739083" y="3578875"/>
            <a:ext cx="856800" cy="271800"/>
          </a:xfrm>
          <a:prstGeom prst="straightConnector1">
            <a:avLst/>
          </a:prstGeom>
          <a:noFill/>
          <a:ln cap="flat" cmpd="sng" w="19050">
            <a:solidFill>
              <a:srgbClr val="666666"/>
            </a:solidFill>
            <a:prstDash val="solid"/>
            <a:round/>
            <a:headEnd len="med" w="med" type="none"/>
            <a:tailEnd len="med" w="med" type="none"/>
          </a:ln>
        </p:spPr>
      </p:cxnSp>
      <p:cxnSp>
        <p:nvCxnSpPr>
          <p:cNvPr id="865" name="Google Shape;865;p57"/>
          <p:cNvCxnSpPr>
            <a:stCxn id="863" idx="2"/>
            <a:endCxn id="858" idx="0"/>
          </p:cNvCxnSpPr>
          <p:nvPr/>
        </p:nvCxnSpPr>
        <p:spPr>
          <a:xfrm>
            <a:off x="6595883" y="3578875"/>
            <a:ext cx="1059000" cy="271800"/>
          </a:xfrm>
          <a:prstGeom prst="straightConnector1">
            <a:avLst/>
          </a:prstGeom>
          <a:noFill/>
          <a:ln cap="flat" cmpd="sng" w="19050">
            <a:solidFill>
              <a:srgbClr val="666666"/>
            </a:solidFill>
            <a:prstDash val="solid"/>
            <a:round/>
            <a:headEnd len="med" w="med" type="none"/>
            <a:tailEnd len="med" w="med" type="none"/>
          </a:ln>
        </p:spPr>
      </p:cxnSp>
      <p:sp>
        <p:nvSpPr>
          <p:cNvPr id="866" name="Google Shape;866;p57"/>
          <p:cNvSpPr/>
          <p:nvPr/>
        </p:nvSpPr>
        <p:spPr>
          <a:xfrm>
            <a:off x="7465279" y="4395158"/>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16</a:t>
            </a:r>
            <a:endParaRPr sz="1800"/>
          </a:p>
        </p:txBody>
      </p:sp>
      <p:cxnSp>
        <p:nvCxnSpPr>
          <p:cNvPr id="867" name="Google Shape;867;p57"/>
          <p:cNvCxnSpPr>
            <a:stCxn id="866" idx="0"/>
            <a:endCxn id="858" idx="2"/>
          </p:cNvCxnSpPr>
          <p:nvPr/>
        </p:nvCxnSpPr>
        <p:spPr>
          <a:xfrm rot="10800000">
            <a:off x="7654729" y="4175558"/>
            <a:ext cx="55800" cy="219600"/>
          </a:xfrm>
          <a:prstGeom prst="straightConnector1">
            <a:avLst/>
          </a:prstGeom>
          <a:noFill/>
          <a:ln cap="flat" cmpd="sng" w="19050">
            <a:solidFill>
              <a:srgbClr val="666666"/>
            </a:solidFill>
            <a:prstDash val="solid"/>
            <a:round/>
            <a:headEnd len="med" w="med" type="none"/>
            <a:tailEnd len="med" w="med" type="none"/>
          </a:ln>
        </p:spPr>
      </p:cxnSp>
      <p:sp>
        <p:nvSpPr>
          <p:cNvPr id="868" name="Google Shape;868;p57"/>
          <p:cNvSpPr/>
          <p:nvPr/>
        </p:nvSpPr>
        <p:spPr>
          <a:xfrm>
            <a:off x="5493868" y="1336107"/>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5</a:t>
            </a:r>
            <a:endParaRPr sz="1800"/>
          </a:p>
        </p:txBody>
      </p:sp>
      <p:sp>
        <p:nvSpPr>
          <p:cNvPr id="869" name="Google Shape;869;p57"/>
          <p:cNvSpPr/>
          <p:nvPr/>
        </p:nvSpPr>
        <p:spPr>
          <a:xfrm>
            <a:off x="5079580" y="1880542"/>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a:t>
            </a:r>
            <a:endParaRPr sz="1800"/>
          </a:p>
        </p:txBody>
      </p:sp>
      <p:sp>
        <p:nvSpPr>
          <p:cNvPr id="870" name="Google Shape;870;p57"/>
          <p:cNvSpPr/>
          <p:nvPr/>
        </p:nvSpPr>
        <p:spPr>
          <a:xfrm>
            <a:off x="5909256" y="1880542"/>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7</a:t>
            </a:r>
            <a:endParaRPr sz="1800"/>
          </a:p>
        </p:txBody>
      </p:sp>
      <p:cxnSp>
        <p:nvCxnSpPr>
          <p:cNvPr id="871" name="Google Shape;871;p57"/>
          <p:cNvCxnSpPr>
            <a:stCxn id="869" idx="0"/>
            <a:endCxn id="868" idx="2"/>
          </p:cNvCxnSpPr>
          <p:nvPr/>
        </p:nvCxnSpPr>
        <p:spPr>
          <a:xfrm flipH="1" rot="10800000">
            <a:off x="5324830" y="1660942"/>
            <a:ext cx="414300" cy="219600"/>
          </a:xfrm>
          <a:prstGeom prst="straightConnector1">
            <a:avLst/>
          </a:prstGeom>
          <a:noFill/>
          <a:ln cap="flat" cmpd="sng" w="19050">
            <a:solidFill>
              <a:srgbClr val="666666"/>
            </a:solidFill>
            <a:prstDash val="solid"/>
            <a:round/>
            <a:headEnd len="med" w="med" type="none"/>
            <a:tailEnd len="med" w="med" type="none"/>
          </a:ln>
        </p:spPr>
      </p:cxnSp>
      <p:cxnSp>
        <p:nvCxnSpPr>
          <p:cNvPr id="872" name="Google Shape;872;p57"/>
          <p:cNvCxnSpPr>
            <a:stCxn id="870" idx="0"/>
            <a:endCxn id="868" idx="2"/>
          </p:cNvCxnSpPr>
          <p:nvPr/>
        </p:nvCxnSpPr>
        <p:spPr>
          <a:xfrm rot="10800000">
            <a:off x="5739006" y="1660942"/>
            <a:ext cx="415500" cy="219600"/>
          </a:xfrm>
          <a:prstGeom prst="straightConnector1">
            <a:avLst/>
          </a:prstGeom>
          <a:noFill/>
          <a:ln cap="flat" cmpd="sng" w="19050">
            <a:solidFill>
              <a:srgbClr val="666666"/>
            </a:solidFill>
            <a:prstDash val="solid"/>
            <a:round/>
            <a:headEnd len="med" w="med" type="none"/>
            <a:tailEnd len="med" w="med" type="none"/>
          </a:ln>
        </p:spPr>
      </p:cxnSp>
      <p:sp>
        <p:nvSpPr>
          <p:cNvPr id="873" name="Google Shape;873;p57"/>
          <p:cNvSpPr/>
          <p:nvPr/>
        </p:nvSpPr>
        <p:spPr>
          <a:xfrm>
            <a:off x="6991442" y="1336098"/>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15</a:t>
            </a:r>
            <a:endParaRPr sz="1800"/>
          </a:p>
        </p:txBody>
      </p:sp>
      <p:sp>
        <p:nvSpPr>
          <p:cNvPr id="874" name="Google Shape;874;p57"/>
          <p:cNvSpPr/>
          <p:nvPr/>
        </p:nvSpPr>
        <p:spPr>
          <a:xfrm>
            <a:off x="6624904" y="1880558"/>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14</a:t>
            </a:r>
            <a:endParaRPr sz="1800"/>
          </a:p>
        </p:txBody>
      </p:sp>
      <p:sp>
        <p:nvSpPr>
          <p:cNvPr id="875" name="Google Shape;875;p57"/>
          <p:cNvSpPr/>
          <p:nvPr/>
        </p:nvSpPr>
        <p:spPr>
          <a:xfrm>
            <a:off x="7344000" y="1880550"/>
            <a:ext cx="16884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16 </a:t>
            </a:r>
            <a:r>
              <a:rPr lang="en" sz="1800"/>
              <a:t> 17  18  19</a:t>
            </a:r>
            <a:endParaRPr sz="1800"/>
          </a:p>
        </p:txBody>
      </p:sp>
      <p:cxnSp>
        <p:nvCxnSpPr>
          <p:cNvPr id="876" name="Google Shape;876;p57"/>
          <p:cNvCxnSpPr>
            <a:stCxn id="874" idx="0"/>
            <a:endCxn id="873" idx="2"/>
          </p:cNvCxnSpPr>
          <p:nvPr/>
        </p:nvCxnSpPr>
        <p:spPr>
          <a:xfrm flipH="1" rot="10800000">
            <a:off x="6870154" y="1660958"/>
            <a:ext cx="366600" cy="219600"/>
          </a:xfrm>
          <a:prstGeom prst="straightConnector1">
            <a:avLst/>
          </a:prstGeom>
          <a:noFill/>
          <a:ln cap="flat" cmpd="sng" w="19050">
            <a:solidFill>
              <a:srgbClr val="666666"/>
            </a:solidFill>
            <a:prstDash val="solid"/>
            <a:round/>
            <a:headEnd len="med" w="med" type="none"/>
            <a:tailEnd len="med" w="med" type="none"/>
          </a:ln>
        </p:spPr>
      </p:cxnSp>
      <p:cxnSp>
        <p:nvCxnSpPr>
          <p:cNvPr id="877" name="Google Shape;877;p57"/>
          <p:cNvCxnSpPr>
            <a:stCxn id="875" idx="0"/>
            <a:endCxn id="873" idx="2"/>
          </p:cNvCxnSpPr>
          <p:nvPr/>
        </p:nvCxnSpPr>
        <p:spPr>
          <a:xfrm rot="10800000">
            <a:off x="7236600" y="1660950"/>
            <a:ext cx="951600" cy="219600"/>
          </a:xfrm>
          <a:prstGeom prst="straightConnector1">
            <a:avLst/>
          </a:prstGeom>
          <a:noFill/>
          <a:ln cap="flat" cmpd="sng" w="19050">
            <a:solidFill>
              <a:srgbClr val="666666"/>
            </a:solidFill>
            <a:prstDash val="solid"/>
            <a:round/>
            <a:headEnd len="med" w="med" type="none"/>
            <a:tailEnd len="med" w="med" type="none"/>
          </a:ln>
        </p:spPr>
      </p:cxnSp>
      <p:sp>
        <p:nvSpPr>
          <p:cNvPr id="878" name="Google Shape;878;p57"/>
          <p:cNvSpPr/>
          <p:nvPr/>
        </p:nvSpPr>
        <p:spPr>
          <a:xfrm>
            <a:off x="6350633" y="73937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13</a:t>
            </a:r>
            <a:endParaRPr sz="1800"/>
          </a:p>
        </p:txBody>
      </p:sp>
      <p:cxnSp>
        <p:nvCxnSpPr>
          <p:cNvPr id="879" name="Google Shape;879;p57"/>
          <p:cNvCxnSpPr>
            <a:stCxn id="878" idx="2"/>
            <a:endCxn id="868" idx="0"/>
          </p:cNvCxnSpPr>
          <p:nvPr/>
        </p:nvCxnSpPr>
        <p:spPr>
          <a:xfrm flipH="1">
            <a:off x="5739083" y="1064275"/>
            <a:ext cx="856800" cy="271800"/>
          </a:xfrm>
          <a:prstGeom prst="straightConnector1">
            <a:avLst/>
          </a:prstGeom>
          <a:noFill/>
          <a:ln cap="flat" cmpd="sng" w="19050">
            <a:solidFill>
              <a:srgbClr val="666666"/>
            </a:solidFill>
            <a:prstDash val="solid"/>
            <a:round/>
            <a:headEnd len="med" w="med" type="none"/>
            <a:tailEnd len="med" w="med" type="none"/>
          </a:ln>
        </p:spPr>
      </p:cxnSp>
      <p:cxnSp>
        <p:nvCxnSpPr>
          <p:cNvPr id="880" name="Google Shape;880;p57"/>
          <p:cNvCxnSpPr>
            <a:stCxn id="878" idx="2"/>
            <a:endCxn id="873" idx="0"/>
          </p:cNvCxnSpPr>
          <p:nvPr/>
        </p:nvCxnSpPr>
        <p:spPr>
          <a:xfrm>
            <a:off x="6595883" y="1064275"/>
            <a:ext cx="640800" cy="271800"/>
          </a:xfrm>
          <a:prstGeom prst="straightConnector1">
            <a:avLst/>
          </a:prstGeom>
          <a:noFill/>
          <a:ln cap="flat" cmpd="sng" w="19050">
            <a:solidFill>
              <a:srgbClr val="666666"/>
            </a:solidFill>
            <a:prstDash val="solid"/>
            <a:round/>
            <a:headEnd len="med" w="med" type="none"/>
            <a:tailEnd len="med" w="med" type="none"/>
          </a:ln>
        </p:spPr>
      </p:cxn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4" name="Shape 884"/>
        <p:cNvGrpSpPr/>
        <p:nvPr/>
      </p:nvGrpSpPr>
      <p:grpSpPr>
        <a:xfrm>
          <a:off x="0" y="0"/>
          <a:ext cx="0" cy="0"/>
          <a:chOff x="0" y="0"/>
          <a:chExt cx="0" cy="0"/>
        </a:xfrm>
      </p:grpSpPr>
      <p:sp>
        <p:nvSpPr>
          <p:cNvPr id="885" name="Google Shape;885;p5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Revising Our Overstuffed Tree Approach: Node Splitting </a:t>
            </a:r>
            <a:endParaRPr/>
          </a:p>
        </p:txBody>
      </p:sp>
      <p:sp>
        <p:nvSpPr>
          <p:cNvPr id="886" name="Google Shape;886;p58"/>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This is a logically consistent and not so weird data structure.</a:t>
            </a:r>
            <a:endParaRPr/>
          </a:p>
          <a:p>
            <a:pPr indent="-342900" lvl="0" marL="457200" rtl="0" algn="l">
              <a:spcBef>
                <a:spcPts val="600"/>
              </a:spcBef>
              <a:spcAft>
                <a:spcPts val="0"/>
              </a:spcAft>
              <a:buSzPts val="1800"/>
              <a:buChar char="●"/>
            </a:pPr>
            <a:r>
              <a:rPr lang="en"/>
              <a:t>contains(18): </a:t>
            </a:r>
            <a:endParaRPr/>
          </a:p>
          <a:p>
            <a:pPr indent="-342900" lvl="1" marL="914400" rtl="0" algn="l">
              <a:spcBef>
                <a:spcPts val="0"/>
              </a:spcBef>
              <a:spcAft>
                <a:spcPts val="0"/>
              </a:spcAft>
              <a:buSzPts val="1800"/>
              <a:buChar char="○"/>
            </a:pPr>
            <a:r>
              <a:rPr lang="en"/>
              <a:t>18 &gt; 13, so go right</a:t>
            </a:r>
            <a:endParaRPr/>
          </a:p>
          <a:p>
            <a:pPr indent="-342900" lvl="1" marL="914400" rtl="0" algn="l">
              <a:spcBef>
                <a:spcPts val="0"/>
              </a:spcBef>
              <a:spcAft>
                <a:spcPts val="0"/>
              </a:spcAft>
              <a:buSzPts val="1800"/>
              <a:buChar char="○"/>
            </a:pPr>
            <a:r>
              <a:rPr lang="en"/>
              <a:t>18 &gt; 15, so compare vs. 17</a:t>
            </a:r>
            <a:endParaRPr/>
          </a:p>
          <a:p>
            <a:pPr indent="-342900" lvl="1" marL="914400" rtl="0" algn="l">
              <a:spcBef>
                <a:spcPts val="0"/>
              </a:spcBef>
              <a:spcAft>
                <a:spcPts val="0"/>
              </a:spcAft>
              <a:buSzPts val="1800"/>
              <a:buChar char="○"/>
            </a:pPr>
            <a:r>
              <a:rPr lang="en"/>
              <a:t>18 &gt; 17, so go right</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Examining a node costs us O(L) compares, but that’s OK since L is constant.</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What if a non-leaf node gets too full? Can we split that?</a:t>
            </a:r>
            <a:endParaRPr/>
          </a:p>
          <a:p>
            <a:pPr indent="-342900" lvl="0" marL="457200" rtl="0" algn="l">
              <a:spcBef>
                <a:spcPts val="600"/>
              </a:spcBef>
              <a:spcAft>
                <a:spcPts val="0"/>
              </a:spcAft>
              <a:buSzPts val="1800"/>
              <a:buChar char="●"/>
            </a:pPr>
            <a:r>
              <a:rPr lang="en"/>
              <a:t>Sure, we’ll do this in a few slides, but first...</a:t>
            </a:r>
            <a:endParaRPr/>
          </a:p>
        </p:txBody>
      </p:sp>
      <p:sp>
        <p:nvSpPr>
          <p:cNvPr id="887" name="Google Shape;887;p58"/>
          <p:cNvSpPr/>
          <p:nvPr/>
        </p:nvSpPr>
        <p:spPr>
          <a:xfrm>
            <a:off x="5493868" y="1717107"/>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5</a:t>
            </a:r>
            <a:endParaRPr sz="1800"/>
          </a:p>
        </p:txBody>
      </p:sp>
      <p:sp>
        <p:nvSpPr>
          <p:cNvPr id="888" name="Google Shape;888;p58"/>
          <p:cNvSpPr/>
          <p:nvPr/>
        </p:nvSpPr>
        <p:spPr>
          <a:xfrm>
            <a:off x="5079580" y="2261542"/>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a:t>
            </a:r>
            <a:endParaRPr sz="1800"/>
          </a:p>
        </p:txBody>
      </p:sp>
      <p:sp>
        <p:nvSpPr>
          <p:cNvPr id="889" name="Google Shape;889;p58"/>
          <p:cNvSpPr/>
          <p:nvPr/>
        </p:nvSpPr>
        <p:spPr>
          <a:xfrm>
            <a:off x="5909256" y="2261542"/>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7</a:t>
            </a:r>
            <a:endParaRPr sz="1800"/>
          </a:p>
        </p:txBody>
      </p:sp>
      <p:cxnSp>
        <p:nvCxnSpPr>
          <p:cNvPr id="890" name="Google Shape;890;p58"/>
          <p:cNvCxnSpPr>
            <a:stCxn id="888" idx="0"/>
            <a:endCxn id="887" idx="2"/>
          </p:cNvCxnSpPr>
          <p:nvPr/>
        </p:nvCxnSpPr>
        <p:spPr>
          <a:xfrm flipH="1" rot="10800000">
            <a:off x="5324830" y="2041942"/>
            <a:ext cx="414300" cy="219600"/>
          </a:xfrm>
          <a:prstGeom prst="straightConnector1">
            <a:avLst/>
          </a:prstGeom>
          <a:noFill/>
          <a:ln cap="flat" cmpd="sng" w="19050">
            <a:solidFill>
              <a:srgbClr val="666666"/>
            </a:solidFill>
            <a:prstDash val="solid"/>
            <a:round/>
            <a:headEnd len="med" w="med" type="none"/>
            <a:tailEnd len="med" w="med" type="none"/>
          </a:ln>
        </p:spPr>
      </p:cxnSp>
      <p:cxnSp>
        <p:nvCxnSpPr>
          <p:cNvPr id="891" name="Google Shape;891;p58"/>
          <p:cNvCxnSpPr>
            <a:stCxn id="889" idx="0"/>
            <a:endCxn id="887" idx="2"/>
          </p:cNvCxnSpPr>
          <p:nvPr/>
        </p:nvCxnSpPr>
        <p:spPr>
          <a:xfrm rot="10800000">
            <a:off x="5739006" y="2041942"/>
            <a:ext cx="415500" cy="219600"/>
          </a:xfrm>
          <a:prstGeom prst="straightConnector1">
            <a:avLst/>
          </a:prstGeom>
          <a:noFill/>
          <a:ln cap="flat" cmpd="sng" w="19050">
            <a:solidFill>
              <a:srgbClr val="666666"/>
            </a:solidFill>
            <a:prstDash val="solid"/>
            <a:round/>
            <a:headEnd len="med" w="med" type="none"/>
            <a:tailEnd len="med" w="med" type="none"/>
          </a:ln>
        </p:spPr>
      </p:cxnSp>
      <p:sp>
        <p:nvSpPr>
          <p:cNvPr id="892" name="Google Shape;892;p58"/>
          <p:cNvSpPr/>
          <p:nvPr/>
        </p:nvSpPr>
        <p:spPr>
          <a:xfrm>
            <a:off x="7220056" y="1717100"/>
            <a:ext cx="8694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15  17</a:t>
            </a:r>
            <a:endParaRPr sz="1800"/>
          </a:p>
        </p:txBody>
      </p:sp>
      <p:sp>
        <p:nvSpPr>
          <p:cNvPr id="893" name="Google Shape;893;p58"/>
          <p:cNvSpPr/>
          <p:nvPr/>
        </p:nvSpPr>
        <p:spPr>
          <a:xfrm>
            <a:off x="6853504" y="2261558"/>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14</a:t>
            </a:r>
            <a:endParaRPr sz="1800"/>
          </a:p>
        </p:txBody>
      </p:sp>
      <p:sp>
        <p:nvSpPr>
          <p:cNvPr id="894" name="Google Shape;894;p58"/>
          <p:cNvSpPr/>
          <p:nvPr/>
        </p:nvSpPr>
        <p:spPr>
          <a:xfrm>
            <a:off x="8182450" y="2261550"/>
            <a:ext cx="8568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18  19</a:t>
            </a:r>
            <a:endParaRPr sz="1800"/>
          </a:p>
        </p:txBody>
      </p:sp>
      <p:cxnSp>
        <p:nvCxnSpPr>
          <p:cNvPr id="895" name="Google Shape;895;p58"/>
          <p:cNvCxnSpPr>
            <a:stCxn id="893" idx="0"/>
            <a:endCxn id="892" idx="2"/>
          </p:cNvCxnSpPr>
          <p:nvPr/>
        </p:nvCxnSpPr>
        <p:spPr>
          <a:xfrm flipH="1" rot="10800000">
            <a:off x="7098754" y="2041958"/>
            <a:ext cx="555900" cy="219600"/>
          </a:xfrm>
          <a:prstGeom prst="straightConnector1">
            <a:avLst/>
          </a:prstGeom>
          <a:noFill/>
          <a:ln cap="flat" cmpd="sng" w="19050">
            <a:solidFill>
              <a:srgbClr val="666666"/>
            </a:solidFill>
            <a:prstDash val="solid"/>
            <a:round/>
            <a:headEnd len="med" w="med" type="none"/>
            <a:tailEnd len="med" w="med" type="none"/>
          </a:ln>
        </p:spPr>
      </p:cxnSp>
      <p:cxnSp>
        <p:nvCxnSpPr>
          <p:cNvPr id="896" name="Google Shape;896;p58"/>
          <p:cNvCxnSpPr>
            <a:stCxn id="894" idx="0"/>
            <a:endCxn id="892" idx="2"/>
          </p:cNvCxnSpPr>
          <p:nvPr/>
        </p:nvCxnSpPr>
        <p:spPr>
          <a:xfrm rot="10800000">
            <a:off x="7654750" y="2041950"/>
            <a:ext cx="956100" cy="219600"/>
          </a:xfrm>
          <a:prstGeom prst="straightConnector1">
            <a:avLst/>
          </a:prstGeom>
          <a:noFill/>
          <a:ln cap="flat" cmpd="sng" w="19050">
            <a:solidFill>
              <a:srgbClr val="666666"/>
            </a:solidFill>
            <a:prstDash val="solid"/>
            <a:round/>
            <a:headEnd len="med" w="med" type="none"/>
            <a:tailEnd len="med" w="med" type="none"/>
          </a:ln>
        </p:spPr>
      </p:cxnSp>
      <p:sp>
        <p:nvSpPr>
          <p:cNvPr id="897" name="Google Shape;897;p58"/>
          <p:cNvSpPr/>
          <p:nvPr/>
        </p:nvSpPr>
        <p:spPr>
          <a:xfrm>
            <a:off x="6350633" y="112037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13</a:t>
            </a:r>
            <a:endParaRPr sz="1800"/>
          </a:p>
        </p:txBody>
      </p:sp>
      <p:cxnSp>
        <p:nvCxnSpPr>
          <p:cNvPr id="898" name="Google Shape;898;p58"/>
          <p:cNvCxnSpPr>
            <a:stCxn id="897" idx="2"/>
            <a:endCxn id="887" idx="0"/>
          </p:cNvCxnSpPr>
          <p:nvPr/>
        </p:nvCxnSpPr>
        <p:spPr>
          <a:xfrm flipH="1">
            <a:off x="5739083" y="1445275"/>
            <a:ext cx="856800" cy="271800"/>
          </a:xfrm>
          <a:prstGeom prst="straightConnector1">
            <a:avLst/>
          </a:prstGeom>
          <a:noFill/>
          <a:ln cap="flat" cmpd="sng" w="19050">
            <a:solidFill>
              <a:srgbClr val="666666"/>
            </a:solidFill>
            <a:prstDash val="solid"/>
            <a:round/>
            <a:headEnd len="med" w="med" type="none"/>
            <a:tailEnd len="med" w="med" type="none"/>
          </a:ln>
        </p:spPr>
      </p:cxnSp>
      <p:cxnSp>
        <p:nvCxnSpPr>
          <p:cNvPr id="899" name="Google Shape;899;p58"/>
          <p:cNvCxnSpPr>
            <a:stCxn id="897" idx="2"/>
            <a:endCxn id="892" idx="0"/>
          </p:cNvCxnSpPr>
          <p:nvPr/>
        </p:nvCxnSpPr>
        <p:spPr>
          <a:xfrm>
            <a:off x="6595883" y="1445275"/>
            <a:ext cx="1059000" cy="271800"/>
          </a:xfrm>
          <a:prstGeom prst="straightConnector1">
            <a:avLst/>
          </a:prstGeom>
          <a:noFill/>
          <a:ln cap="flat" cmpd="sng" w="19050">
            <a:solidFill>
              <a:srgbClr val="666666"/>
            </a:solidFill>
            <a:prstDash val="solid"/>
            <a:round/>
            <a:headEnd len="med" w="med" type="none"/>
            <a:tailEnd len="med" w="med" type="none"/>
          </a:ln>
        </p:spPr>
      </p:cxnSp>
      <p:sp>
        <p:nvSpPr>
          <p:cNvPr id="900" name="Google Shape;900;p58"/>
          <p:cNvSpPr/>
          <p:nvPr/>
        </p:nvSpPr>
        <p:spPr>
          <a:xfrm>
            <a:off x="7465279" y="2261558"/>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16</a:t>
            </a:r>
            <a:endParaRPr sz="1800"/>
          </a:p>
        </p:txBody>
      </p:sp>
      <p:cxnSp>
        <p:nvCxnSpPr>
          <p:cNvPr id="901" name="Google Shape;901;p58"/>
          <p:cNvCxnSpPr>
            <a:stCxn id="900" idx="0"/>
            <a:endCxn id="892" idx="2"/>
          </p:cNvCxnSpPr>
          <p:nvPr/>
        </p:nvCxnSpPr>
        <p:spPr>
          <a:xfrm rot="10800000">
            <a:off x="7654729" y="2041958"/>
            <a:ext cx="55800" cy="219600"/>
          </a:xfrm>
          <a:prstGeom prst="straightConnector1">
            <a:avLst/>
          </a:prstGeom>
          <a:noFill/>
          <a:ln cap="flat" cmpd="sng" w="19050">
            <a:solidFill>
              <a:srgbClr val="666666"/>
            </a:solidFill>
            <a:prstDash val="solid"/>
            <a:round/>
            <a:headEnd len="med" w="med" type="none"/>
            <a:tailEnd len="med" w="med" type="none"/>
          </a:ln>
        </p:spPr>
      </p:cxn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905" name="Shape 905"/>
        <p:cNvGrpSpPr/>
        <p:nvPr/>
      </p:nvGrpSpPr>
      <p:grpSpPr>
        <a:xfrm>
          <a:off x="0" y="0"/>
          <a:ext cx="0" cy="0"/>
          <a:chOff x="0" y="0"/>
          <a:chExt cx="0" cy="0"/>
        </a:xfrm>
      </p:grpSpPr>
      <p:sp>
        <p:nvSpPr>
          <p:cNvPr id="906" name="Google Shape;906;p5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 Understanding Check</a:t>
            </a:r>
            <a:endParaRPr/>
          </a:p>
        </p:txBody>
      </p:sp>
      <p:sp>
        <p:nvSpPr>
          <p:cNvPr id="907" name="Google Shape;907;p59"/>
          <p:cNvSpPr/>
          <p:nvPr/>
        </p:nvSpPr>
        <p:spPr>
          <a:xfrm>
            <a:off x="809793" y="1874700"/>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5</a:t>
            </a:r>
            <a:endParaRPr sz="1800"/>
          </a:p>
        </p:txBody>
      </p:sp>
      <p:sp>
        <p:nvSpPr>
          <p:cNvPr id="908" name="Google Shape;908;p59"/>
          <p:cNvSpPr/>
          <p:nvPr/>
        </p:nvSpPr>
        <p:spPr>
          <a:xfrm>
            <a:off x="395505" y="241913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a:t>
            </a:r>
            <a:endParaRPr sz="1800"/>
          </a:p>
        </p:txBody>
      </p:sp>
      <p:sp>
        <p:nvSpPr>
          <p:cNvPr id="909" name="Google Shape;909;p59"/>
          <p:cNvSpPr/>
          <p:nvPr/>
        </p:nvSpPr>
        <p:spPr>
          <a:xfrm>
            <a:off x="1225181" y="241913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7</a:t>
            </a:r>
            <a:endParaRPr sz="1800"/>
          </a:p>
        </p:txBody>
      </p:sp>
      <p:cxnSp>
        <p:nvCxnSpPr>
          <p:cNvPr id="910" name="Google Shape;910;p59"/>
          <p:cNvCxnSpPr>
            <a:stCxn id="908" idx="0"/>
            <a:endCxn id="907" idx="2"/>
          </p:cNvCxnSpPr>
          <p:nvPr/>
        </p:nvCxnSpPr>
        <p:spPr>
          <a:xfrm flipH="1" rot="10800000">
            <a:off x="640755" y="2199535"/>
            <a:ext cx="414300" cy="219600"/>
          </a:xfrm>
          <a:prstGeom prst="straightConnector1">
            <a:avLst/>
          </a:prstGeom>
          <a:noFill/>
          <a:ln cap="flat" cmpd="sng" w="19050">
            <a:solidFill>
              <a:srgbClr val="666666"/>
            </a:solidFill>
            <a:prstDash val="solid"/>
            <a:round/>
            <a:headEnd len="med" w="med" type="none"/>
            <a:tailEnd len="med" w="med" type="none"/>
          </a:ln>
        </p:spPr>
      </p:cxnSp>
      <p:cxnSp>
        <p:nvCxnSpPr>
          <p:cNvPr id="911" name="Google Shape;911;p59"/>
          <p:cNvCxnSpPr>
            <a:stCxn id="909" idx="0"/>
            <a:endCxn id="907" idx="2"/>
          </p:cNvCxnSpPr>
          <p:nvPr/>
        </p:nvCxnSpPr>
        <p:spPr>
          <a:xfrm rot="10800000">
            <a:off x="1054931" y="2199535"/>
            <a:ext cx="415500" cy="219600"/>
          </a:xfrm>
          <a:prstGeom prst="straightConnector1">
            <a:avLst/>
          </a:prstGeom>
          <a:noFill/>
          <a:ln cap="flat" cmpd="sng" w="19050">
            <a:solidFill>
              <a:srgbClr val="666666"/>
            </a:solidFill>
            <a:prstDash val="solid"/>
            <a:round/>
            <a:headEnd len="med" w="med" type="none"/>
            <a:tailEnd len="med" w="med" type="none"/>
          </a:ln>
        </p:spPr>
      </p:cxnSp>
      <p:sp>
        <p:nvSpPr>
          <p:cNvPr id="912" name="Google Shape;912;p59"/>
          <p:cNvSpPr/>
          <p:nvPr/>
        </p:nvSpPr>
        <p:spPr>
          <a:xfrm>
            <a:off x="2416227" y="1874700"/>
            <a:ext cx="8559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15  17</a:t>
            </a:r>
            <a:endParaRPr sz="1800"/>
          </a:p>
        </p:txBody>
      </p:sp>
      <p:sp>
        <p:nvSpPr>
          <p:cNvPr id="913" name="Google Shape;913;p59"/>
          <p:cNvSpPr/>
          <p:nvPr/>
        </p:nvSpPr>
        <p:spPr>
          <a:xfrm>
            <a:off x="1666557" y="1277968"/>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13</a:t>
            </a:r>
            <a:endParaRPr sz="1800"/>
          </a:p>
        </p:txBody>
      </p:sp>
      <p:cxnSp>
        <p:nvCxnSpPr>
          <p:cNvPr id="914" name="Google Shape;914;p59"/>
          <p:cNvCxnSpPr>
            <a:stCxn id="913" idx="2"/>
            <a:endCxn id="907" idx="0"/>
          </p:cNvCxnSpPr>
          <p:nvPr/>
        </p:nvCxnSpPr>
        <p:spPr>
          <a:xfrm flipH="1">
            <a:off x="1055007" y="1602868"/>
            <a:ext cx="856800" cy="271800"/>
          </a:xfrm>
          <a:prstGeom prst="straightConnector1">
            <a:avLst/>
          </a:prstGeom>
          <a:noFill/>
          <a:ln cap="flat" cmpd="sng" w="19050">
            <a:solidFill>
              <a:srgbClr val="666666"/>
            </a:solidFill>
            <a:prstDash val="solid"/>
            <a:round/>
            <a:headEnd len="med" w="med" type="none"/>
            <a:tailEnd len="med" w="med" type="none"/>
          </a:ln>
        </p:spPr>
      </p:cxnSp>
      <p:cxnSp>
        <p:nvCxnSpPr>
          <p:cNvPr id="915" name="Google Shape;915;p59"/>
          <p:cNvCxnSpPr>
            <a:stCxn id="913" idx="2"/>
            <a:endCxn id="912" idx="0"/>
          </p:cNvCxnSpPr>
          <p:nvPr/>
        </p:nvCxnSpPr>
        <p:spPr>
          <a:xfrm>
            <a:off x="1911807" y="1602868"/>
            <a:ext cx="932400" cy="271800"/>
          </a:xfrm>
          <a:prstGeom prst="straightConnector1">
            <a:avLst/>
          </a:prstGeom>
          <a:noFill/>
          <a:ln cap="flat" cmpd="sng" w="19050">
            <a:solidFill>
              <a:srgbClr val="666666"/>
            </a:solidFill>
            <a:prstDash val="solid"/>
            <a:round/>
            <a:headEnd len="med" w="med" type="none"/>
            <a:tailEnd len="med" w="med" type="none"/>
          </a:ln>
        </p:spPr>
      </p:cxnSp>
      <p:sp>
        <p:nvSpPr>
          <p:cNvPr id="916" name="Google Shape;916;p59"/>
          <p:cNvSpPr/>
          <p:nvPr/>
        </p:nvSpPr>
        <p:spPr>
          <a:xfrm>
            <a:off x="5122868" y="1900838"/>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5</a:t>
            </a:r>
            <a:endParaRPr sz="1800"/>
          </a:p>
        </p:txBody>
      </p:sp>
      <p:sp>
        <p:nvSpPr>
          <p:cNvPr id="917" name="Google Shape;917;p59"/>
          <p:cNvSpPr/>
          <p:nvPr/>
        </p:nvSpPr>
        <p:spPr>
          <a:xfrm>
            <a:off x="4708580" y="2445273"/>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a:t>
            </a:r>
            <a:endParaRPr sz="1800"/>
          </a:p>
        </p:txBody>
      </p:sp>
      <p:sp>
        <p:nvSpPr>
          <p:cNvPr id="918" name="Google Shape;918;p59"/>
          <p:cNvSpPr/>
          <p:nvPr/>
        </p:nvSpPr>
        <p:spPr>
          <a:xfrm>
            <a:off x="5538256" y="2445273"/>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7</a:t>
            </a:r>
            <a:endParaRPr sz="1800"/>
          </a:p>
        </p:txBody>
      </p:sp>
      <p:cxnSp>
        <p:nvCxnSpPr>
          <p:cNvPr id="919" name="Google Shape;919;p59"/>
          <p:cNvCxnSpPr>
            <a:stCxn id="917" idx="0"/>
            <a:endCxn id="916" idx="2"/>
          </p:cNvCxnSpPr>
          <p:nvPr/>
        </p:nvCxnSpPr>
        <p:spPr>
          <a:xfrm flipH="1" rot="10800000">
            <a:off x="4953830" y="2225673"/>
            <a:ext cx="414300" cy="219600"/>
          </a:xfrm>
          <a:prstGeom prst="straightConnector1">
            <a:avLst/>
          </a:prstGeom>
          <a:noFill/>
          <a:ln cap="flat" cmpd="sng" w="19050">
            <a:solidFill>
              <a:srgbClr val="666666"/>
            </a:solidFill>
            <a:prstDash val="solid"/>
            <a:round/>
            <a:headEnd len="med" w="med" type="none"/>
            <a:tailEnd len="med" w="med" type="none"/>
          </a:ln>
        </p:spPr>
      </p:cxnSp>
      <p:cxnSp>
        <p:nvCxnSpPr>
          <p:cNvPr id="920" name="Google Shape;920;p59"/>
          <p:cNvCxnSpPr>
            <a:stCxn id="918" idx="0"/>
            <a:endCxn id="916" idx="2"/>
          </p:cNvCxnSpPr>
          <p:nvPr/>
        </p:nvCxnSpPr>
        <p:spPr>
          <a:xfrm rot="10800000">
            <a:off x="5368006" y="2225673"/>
            <a:ext cx="415500" cy="219600"/>
          </a:xfrm>
          <a:prstGeom prst="straightConnector1">
            <a:avLst/>
          </a:prstGeom>
          <a:noFill/>
          <a:ln cap="flat" cmpd="sng" w="19050">
            <a:solidFill>
              <a:srgbClr val="666666"/>
            </a:solidFill>
            <a:prstDash val="solid"/>
            <a:round/>
            <a:headEnd len="med" w="med" type="none"/>
            <a:tailEnd len="med" w="med" type="none"/>
          </a:ln>
        </p:spPr>
      </p:cxnSp>
      <p:sp>
        <p:nvSpPr>
          <p:cNvPr id="921" name="Google Shape;921;p59"/>
          <p:cNvSpPr/>
          <p:nvPr/>
        </p:nvSpPr>
        <p:spPr>
          <a:xfrm>
            <a:off x="6729300" y="1900850"/>
            <a:ext cx="8559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15  17</a:t>
            </a:r>
            <a:endParaRPr sz="1800"/>
          </a:p>
        </p:txBody>
      </p:sp>
      <p:sp>
        <p:nvSpPr>
          <p:cNvPr id="922" name="Google Shape;922;p59"/>
          <p:cNvSpPr/>
          <p:nvPr/>
        </p:nvSpPr>
        <p:spPr>
          <a:xfrm>
            <a:off x="5979632" y="130410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13</a:t>
            </a:r>
            <a:endParaRPr sz="1800"/>
          </a:p>
        </p:txBody>
      </p:sp>
      <p:cxnSp>
        <p:nvCxnSpPr>
          <p:cNvPr id="923" name="Google Shape;923;p59"/>
          <p:cNvCxnSpPr>
            <a:stCxn id="922" idx="2"/>
            <a:endCxn id="916" idx="0"/>
          </p:cNvCxnSpPr>
          <p:nvPr/>
        </p:nvCxnSpPr>
        <p:spPr>
          <a:xfrm flipH="1">
            <a:off x="5368082" y="1629005"/>
            <a:ext cx="856800" cy="271800"/>
          </a:xfrm>
          <a:prstGeom prst="straightConnector1">
            <a:avLst/>
          </a:prstGeom>
          <a:noFill/>
          <a:ln cap="flat" cmpd="sng" w="19050">
            <a:solidFill>
              <a:srgbClr val="666666"/>
            </a:solidFill>
            <a:prstDash val="solid"/>
            <a:round/>
            <a:headEnd len="med" w="med" type="none"/>
            <a:tailEnd len="med" w="med" type="none"/>
          </a:ln>
        </p:spPr>
      </p:cxnSp>
      <p:cxnSp>
        <p:nvCxnSpPr>
          <p:cNvPr id="924" name="Google Shape;924;p59"/>
          <p:cNvCxnSpPr>
            <a:stCxn id="922" idx="2"/>
            <a:endCxn id="921" idx="0"/>
          </p:cNvCxnSpPr>
          <p:nvPr/>
        </p:nvCxnSpPr>
        <p:spPr>
          <a:xfrm>
            <a:off x="6224882" y="1629005"/>
            <a:ext cx="932400" cy="271800"/>
          </a:xfrm>
          <a:prstGeom prst="straightConnector1">
            <a:avLst/>
          </a:prstGeom>
          <a:noFill/>
          <a:ln cap="flat" cmpd="sng" w="19050">
            <a:solidFill>
              <a:srgbClr val="666666"/>
            </a:solidFill>
            <a:prstDash val="solid"/>
            <a:round/>
            <a:headEnd len="med" w="med" type="none"/>
            <a:tailEnd len="med" w="med" type="none"/>
          </a:ln>
        </p:spPr>
      </p:cxnSp>
      <p:sp>
        <p:nvSpPr>
          <p:cNvPr id="925" name="Google Shape;925;p59"/>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lang="en"/>
              <a:t>Suppose we add 20, 21:</a:t>
            </a:r>
            <a:endParaRPr/>
          </a:p>
        </p:txBody>
      </p:sp>
      <p:sp>
        <p:nvSpPr>
          <p:cNvPr id="926" name="Google Shape;926;p59"/>
          <p:cNvSpPr/>
          <p:nvPr/>
        </p:nvSpPr>
        <p:spPr>
          <a:xfrm>
            <a:off x="2012313" y="2425474"/>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14</a:t>
            </a:r>
            <a:endParaRPr sz="1800"/>
          </a:p>
        </p:txBody>
      </p:sp>
      <p:sp>
        <p:nvSpPr>
          <p:cNvPr id="927" name="Google Shape;927;p59"/>
          <p:cNvSpPr/>
          <p:nvPr/>
        </p:nvSpPr>
        <p:spPr>
          <a:xfrm>
            <a:off x="3276675" y="2425475"/>
            <a:ext cx="8568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18  19</a:t>
            </a:r>
            <a:endParaRPr sz="1800"/>
          </a:p>
        </p:txBody>
      </p:sp>
      <p:cxnSp>
        <p:nvCxnSpPr>
          <p:cNvPr id="928" name="Google Shape;928;p59"/>
          <p:cNvCxnSpPr>
            <a:stCxn id="926" idx="0"/>
          </p:cNvCxnSpPr>
          <p:nvPr/>
        </p:nvCxnSpPr>
        <p:spPr>
          <a:xfrm flipH="1" rot="10800000">
            <a:off x="2257563" y="2198074"/>
            <a:ext cx="316800" cy="227400"/>
          </a:xfrm>
          <a:prstGeom prst="straightConnector1">
            <a:avLst/>
          </a:prstGeom>
          <a:noFill/>
          <a:ln cap="flat" cmpd="sng" w="19050">
            <a:solidFill>
              <a:srgbClr val="666666"/>
            </a:solidFill>
            <a:prstDash val="solid"/>
            <a:round/>
            <a:headEnd len="med" w="med" type="none"/>
            <a:tailEnd len="med" w="med" type="none"/>
          </a:ln>
        </p:spPr>
      </p:cxnSp>
      <p:cxnSp>
        <p:nvCxnSpPr>
          <p:cNvPr id="929" name="Google Shape;929;p59"/>
          <p:cNvCxnSpPr>
            <a:stCxn id="927" idx="0"/>
          </p:cNvCxnSpPr>
          <p:nvPr/>
        </p:nvCxnSpPr>
        <p:spPr>
          <a:xfrm rot="10800000">
            <a:off x="3239175" y="2205575"/>
            <a:ext cx="465900" cy="219900"/>
          </a:xfrm>
          <a:prstGeom prst="straightConnector1">
            <a:avLst/>
          </a:prstGeom>
          <a:noFill/>
          <a:ln cap="flat" cmpd="sng" w="19050">
            <a:solidFill>
              <a:srgbClr val="666666"/>
            </a:solidFill>
            <a:prstDash val="solid"/>
            <a:round/>
            <a:headEnd len="med" w="med" type="none"/>
            <a:tailEnd len="med" w="med" type="none"/>
          </a:ln>
        </p:spPr>
      </p:cxnSp>
      <p:sp>
        <p:nvSpPr>
          <p:cNvPr id="930" name="Google Shape;930;p59"/>
          <p:cNvSpPr/>
          <p:nvPr/>
        </p:nvSpPr>
        <p:spPr>
          <a:xfrm>
            <a:off x="2623752" y="242547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16</a:t>
            </a:r>
            <a:endParaRPr sz="1800"/>
          </a:p>
        </p:txBody>
      </p:sp>
      <p:cxnSp>
        <p:nvCxnSpPr>
          <p:cNvPr id="931" name="Google Shape;931;p59"/>
          <p:cNvCxnSpPr>
            <a:stCxn id="932" idx="2"/>
            <a:endCxn id="930" idx="0"/>
          </p:cNvCxnSpPr>
          <p:nvPr/>
        </p:nvCxnSpPr>
        <p:spPr>
          <a:xfrm>
            <a:off x="2867502" y="2205875"/>
            <a:ext cx="1500" cy="219600"/>
          </a:xfrm>
          <a:prstGeom prst="straightConnector1">
            <a:avLst/>
          </a:prstGeom>
          <a:noFill/>
          <a:ln cap="flat" cmpd="sng" w="19050">
            <a:solidFill>
              <a:srgbClr val="666666"/>
            </a:solidFill>
            <a:prstDash val="solid"/>
            <a:round/>
            <a:headEnd len="med" w="med" type="none"/>
            <a:tailEnd len="med" w="med" type="none"/>
          </a:ln>
        </p:spPr>
      </p:cxnSp>
      <p:sp>
        <p:nvSpPr>
          <p:cNvPr id="933" name="Google Shape;933;p59"/>
          <p:cNvSpPr/>
          <p:nvPr/>
        </p:nvSpPr>
        <p:spPr>
          <a:xfrm>
            <a:off x="6306696" y="2453201"/>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14</a:t>
            </a:r>
            <a:endParaRPr sz="1800"/>
          </a:p>
        </p:txBody>
      </p:sp>
      <p:sp>
        <p:nvSpPr>
          <p:cNvPr id="934" name="Google Shape;934;p59"/>
          <p:cNvSpPr/>
          <p:nvPr/>
        </p:nvSpPr>
        <p:spPr>
          <a:xfrm>
            <a:off x="7474225" y="2453200"/>
            <a:ext cx="15990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18  19  20  21 </a:t>
            </a:r>
            <a:endParaRPr sz="1800"/>
          </a:p>
        </p:txBody>
      </p:sp>
      <p:cxnSp>
        <p:nvCxnSpPr>
          <p:cNvPr id="935" name="Google Shape;935;p59"/>
          <p:cNvCxnSpPr>
            <a:stCxn id="933" idx="0"/>
          </p:cNvCxnSpPr>
          <p:nvPr/>
        </p:nvCxnSpPr>
        <p:spPr>
          <a:xfrm flipH="1" rot="10800000">
            <a:off x="6551946" y="2225801"/>
            <a:ext cx="316800" cy="227400"/>
          </a:xfrm>
          <a:prstGeom prst="straightConnector1">
            <a:avLst/>
          </a:prstGeom>
          <a:noFill/>
          <a:ln cap="flat" cmpd="sng" w="19050">
            <a:solidFill>
              <a:srgbClr val="666666"/>
            </a:solidFill>
            <a:prstDash val="solid"/>
            <a:round/>
            <a:headEnd len="med" w="med" type="none"/>
            <a:tailEnd len="med" w="med" type="none"/>
          </a:ln>
        </p:spPr>
      </p:cxnSp>
      <p:cxnSp>
        <p:nvCxnSpPr>
          <p:cNvPr id="936" name="Google Shape;936;p59"/>
          <p:cNvCxnSpPr>
            <a:stCxn id="934" idx="0"/>
          </p:cNvCxnSpPr>
          <p:nvPr/>
        </p:nvCxnSpPr>
        <p:spPr>
          <a:xfrm rot="10800000">
            <a:off x="7379725" y="2222500"/>
            <a:ext cx="894000" cy="230700"/>
          </a:xfrm>
          <a:prstGeom prst="straightConnector1">
            <a:avLst/>
          </a:prstGeom>
          <a:noFill/>
          <a:ln cap="flat" cmpd="sng" w="19050">
            <a:solidFill>
              <a:srgbClr val="666666"/>
            </a:solidFill>
            <a:prstDash val="solid"/>
            <a:round/>
            <a:headEnd len="med" w="med" type="none"/>
            <a:tailEnd len="med" w="med" type="none"/>
          </a:ln>
        </p:spPr>
      </p:cxnSp>
      <p:sp>
        <p:nvSpPr>
          <p:cNvPr id="937" name="Google Shape;937;p59"/>
          <p:cNvSpPr/>
          <p:nvPr/>
        </p:nvSpPr>
        <p:spPr>
          <a:xfrm>
            <a:off x="6875600" y="2453200"/>
            <a:ext cx="4659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16</a:t>
            </a:r>
            <a:endParaRPr sz="1800"/>
          </a:p>
        </p:txBody>
      </p:sp>
      <p:cxnSp>
        <p:nvCxnSpPr>
          <p:cNvPr id="938" name="Google Shape;938;p59"/>
          <p:cNvCxnSpPr>
            <a:stCxn id="939" idx="2"/>
            <a:endCxn id="937" idx="0"/>
          </p:cNvCxnSpPr>
          <p:nvPr/>
        </p:nvCxnSpPr>
        <p:spPr>
          <a:xfrm>
            <a:off x="7107050" y="2233600"/>
            <a:ext cx="1500" cy="219600"/>
          </a:xfrm>
          <a:prstGeom prst="straightConnector1">
            <a:avLst/>
          </a:prstGeom>
          <a:noFill/>
          <a:ln cap="flat" cmpd="sng" w="19050">
            <a:solidFill>
              <a:srgbClr val="666666"/>
            </a:solidFill>
            <a:prstDash val="solid"/>
            <a:round/>
            <a:headEnd len="med" w="med" type="none"/>
            <a:tailEnd len="med" w="med" type="none"/>
          </a:ln>
        </p:spPr>
      </p:cxnSp>
      <p:sp>
        <p:nvSpPr>
          <p:cNvPr id="940" name="Google Shape;940;p59"/>
          <p:cNvSpPr txBox="1"/>
          <p:nvPr>
            <p:ph idx="1" type="body"/>
          </p:nvPr>
        </p:nvSpPr>
        <p:spPr>
          <a:xfrm>
            <a:off x="270750" y="2889750"/>
            <a:ext cx="8602500" cy="6012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lang="en"/>
              <a:t>Q: If our cap is at most L=3 items per node, draw post-split tree:</a:t>
            </a:r>
            <a:endParaRPr/>
          </a:p>
        </p:txBody>
      </p:sp>
      <p:cxnSp>
        <p:nvCxnSpPr>
          <p:cNvPr id="941" name="Google Shape;941;p59"/>
          <p:cNvCxnSpPr/>
          <p:nvPr/>
        </p:nvCxnSpPr>
        <p:spPr>
          <a:xfrm>
            <a:off x="3956250" y="1985825"/>
            <a:ext cx="523500" cy="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45" name="Shape 945"/>
        <p:cNvGrpSpPr/>
        <p:nvPr/>
      </p:nvGrpSpPr>
      <p:grpSpPr>
        <a:xfrm>
          <a:off x="0" y="0"/>
          <a:ext cx="0" cy="0"/>
          <a:chOff x="0" y="0"/>
          <a:chExt cx="0" cy="0"/>
        </a:xfrm>
      </p:grpSpPr>
      <p:sp>
        <p:nvSpPr>
          <p:cNvPr id="946" name="Google Shape;946;p6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 Understanding Check</a:t>
            </a:r>
            <a:endParaRPr/>
          </a:p>
        </p:txBody>
      </p:sp>
      <p:sp>
        <p:nvSpPr>
          <p:cNvPr id="947" name="Google Shape;947;p60"/>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lang="en"/>
              <a:t>Suppose we add 20, 21:</a:t>
            </a:r>
            <a:endParaRPr/>
          </a:p>
        </p:txBody>
      </p:sp>
      <p:sp>
        <p:nvSpPr>
          <p:cNvPr id="948" name="Google Shape;948;p60"/>
          <p:cNvSpPr txBox="1"/>
          <p:nvPr>
            <p:ph idx="1" type="body"/>
          </p:nvPr>
        </p:nvSpPr>
        <p:spPr>
          <a:xfrm>
            <a:off x="270750" y="2889750"/>
            <a:ext cx="8602500" cy="6012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lang="en"/>
              <a:t>Q: If our cap is at most L=3 items per node, draw post-split tree:</a:t>
            </a:r>
            <a:endParaRPr/>
          </a:p>
        </p:txBody>
      </p:sp>
      <p:grpSp>
        <p:nvGrpSpPr>
          <p:cNvPr id="949" name="Google Shape;949;p60"/>
          <p:cNvGrpSpPr/>
          <p:nvPr/>
        </p:nvGrpSpPr>
        <p:grpSpPr>
          <a:xfrm>
            <a:off x="2418405" y="3602605"/>
            <a:ext cx="4690673" cy="1472074"/>
            <a:chOff x="395505" y="3334805"/>
            <a:chExt cx="4690673" cy="1472074"/>
          </a:xfrm>
        </p:grpSpPr>
        <p:sp>
          <p:nvSpPr>
            <p:cNvPr id="950" name="Google Shape;950;p60"/>
            <p:cNvSpPr/>
            <p:nvPr/>
          </p:nvSpPr>
          <p:spPr>
            <a:xfrm>
              <a:off x="809793" y="3931538"/>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5</a:t>
              </a:r>
              <a:endParaRPr sz="1800"/>
            </a:p>
          </p:txBody>
        </p:sp>
        <p:sp>
          <p:nvSpPr>
            <p:cNvPr id="951" name="Google Shape;951;p60"/>
            <p:cNvSpPr/>
            <p:nvPr/>
          </p:nvSpPr>
          <p:spPr>
            <a:xfrm>
              <a:off x="395505" y="4475973"/>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a:t>
              </a:r>
              <a:endParaRPr sz="1800"/>
            </a:p>
          </p:txBody>
        </p:sp>
        <p:sp>
          <p:nvSpPr>
            <p:cNvPr id="952" name="Google Shape;952;p60"/>
            <p:cNvSpPr/>
            <p:nvPr/>
          </p:nvSpPr>
          <p:spPr>
            <a:xfrm>
              <a:off x="1225181" y="4475973"/>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7</a:t>
              </a:r>
              <a:endParaRPr sz="1800"/>
            </a:p>
          </p:txBody>
        </p:sp>
        <p:cxnSp>
          <p:nvCxnSpPr>
            <p:cNvPr id="953" name="Google Shape;953;p60"/>
            <p:cNvCxnSpPr>
              <a:stCxn id="951" idx="0"/>
              <a:endCxn id="950" idx="2"/>
            </p:cNvCxnSpPr>
            <p:nvPr/>
          </p:nvCxnSpPr>
          <p:spPr>
            <a:xfrm flipH="1" rot="10800000">
              <a:off x="640755" y="4256373"/>
              <a:ext cx="414300" cy="219600"/>
            </a:xfrm>
            <a:prstGeom prst="straightConnector1">
              <a:avLst/>
            </a:prstGeom>
            <a:noFill/>
            <a:ln cap="flat" cmpd="sng" w="19050">
              <a:solidFill>
                <a:srgbClr val="666666"/>
              </a:solidFill>
              <a:prstDash val="solid"/>
              <a:round/>
              <a:headEnd len="med" w="med" type="none"/>
              <a:tailEnd len="med" w="med" type="none"/>
            </a:ln>
          </p:spPr>
        </p:cxnSp>
        <p:cxnSp>
          <p:nvCxnSpPr>
            <p:cNvPr id="954" name="Google Shape;954;p60"/>
            <p:cNvCxnSpPr>
              <a:stCxn id="952" idx="0"/>
              <a:endCxn id="950" idx="2"/>
            </p:cNvCxnSpPr>
            <p:nvPr/>
          </p:nvCxnSpPr>
          <p:spPr>
            <a:xfrm rot="10800000">
              <a:off x="1054931" y="4256373"/>
              <a:ext cx="415500" cy="219600"/>
            </a:xfrm>
            <a:prstGeom prst="straightConnector1">
              <a:avLst/>
            </a:prstGeom>
            <a:noFill/>
            <a:ln cap="flat" cmpd="sng" w="19050">
              <a:solidFill>
                <a:srgbClr val="666666"/>
              </a:solidFill>
              <a:prstDash val="solid"/>
              <a:round/>
              <a:headEnd len="med" w="med" type="none"/>
              <a:tailEnd len="med" w="med" type="none"/>
            </a:ln>
          </p:spPr>
        </p:cxnSp>
        <p:sp>
          <p:nvSpPr>
            <p:cNvPr id="955" name="Google Shape;955;p60"/>
            <p:cNvSpPr/>
            <p:nvPr/>
          </p:nvSpPr>
          <p:spPr>
            <a:xfrm>
              <a:off x="2817549" y="3931550"/>
              <a:ext cx="12114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15  17  19</a:t>
              </a:r>
              <a:endParaRPr sz="1800"/>
            </a:p>
          </p:txBody>
        </p:sp>
        <p:sp>
          <p:nvSpPr>
            <p:cNvPr id="956" name="Google Shape;956;p60"/>
            <p:cNvSpPr/>
            <p:nvPr/>
          </p:nvSpPr>
          <p:spPr>
            <a:xfrm>
              <a:off x="1666557" y="333480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13</a:t>
              </a:r>
              <a:endParaRPr sz="1800"/>
            </a:p>
          </p:txBody>
        </p:sp>
        <p:cxnSp>
          <p:nvCxnSpPr>
            <p:cNvPr id="957" name="Google Shape;957;p60"/>
            <p:cNvCxnSpPr>
              <a:stCxn id="956" idx="2"/>
              <a:endCxn id="950" idx="0"/>
            </p:cNvCxnSpPr>
            <p:nvPr/>
          </p:nvCxnSpPr>
          <p:spPr>
            <a:xfrm flipH="1">
              <a:off x="1055007" y="3659705"/>
              <a:ext cx="856800" cy="271800"/>
            </a:xfrm>
            <a:prstGeom prst="straightConnector1">
              <a:avLst/>
            </a:prstGeom>
            <a:noFill/>
            <a:ln cap="flat" cmpd="sng" w="19050">
              <a:solidFill>
                <a:srgbClr val="666666"/>
              </a:solidFill>
              <a:prstDash val="solid"/>
              <a:round/>
              <a:headEnd len="med" w="med" type="none"/>
              <a:tailEnd len="med" w="med" type="none"/>
            </a:ln>
          </p:spPr>
        </p:cxnSp>
        <p:cxnSp>
          <p:nvCxnSpPr>
            <p:cNvPr id="958" name="Google Shape;958;p60"/>
            <p:cNvCxnSpPr>
              <a:stCxn id="956" idx="2"/>
              <a:endCxn id="955" idx="0"/>
            </p:cNvCxnSpPr>
            <p:nvPr/>
          </p:nvCxnSpPr>
          <p:spPr>
            <a:xfrm>
              <a:off x="1911807" y="3659705"/>
              <a:ext cx="1511400" cy="271800"/>
            </a:xfrm>
            <a:prstGeom prst="straightConnector1">
              <a:avLst/>
            </a:prstGeom>
            <a:noFill/>
            <a:ln cap="flat" cmpd="sng" w="19050">
              <a:solidFill>
                <a:srgbClr val="666666"/>
              </a:solidFill>
              <a:prstDash val="solid"/>
              <a:round/>
              <a:headEnd len="med" w="med" type="none"/>
              <a:tailEnd len="med" w="med" type="none"/>
            </a:ln>
          </p:spPr>
        </p:cxnSp>
        <p:sp>
          <p:nvSpPr>
            <p:cNvPr id="959" name="Google Shape;959;p60"/>
            <p:cNvSpPr/>
            <p:nvPr/>
          </p:nvSpPr>
          <p:spPr>
            <a:xfrm>
              <a:off x="2093575" y="4481975"/>
              <a:ext cx="4659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14</a:t>
              </a:r>
              <a:endParaRPr sz="1800"/>
            </a:p>
          </p:txBody>
        </p:sp>
        <p:sp>
          <p:nvSpPr>
            <p:cNvPr id="960" name="Google Shape;960;p60"/>
            <p:cNvSpPr/>
            <p:nvPr/>
          </p:nvSpPr>
          <p:spPr>
            <a:xfrm>
              <a:off x="3479666" y="4481975"/>
              <a:ext cx="5010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18</a:t>
              </a:r>
              <a:endParaRPr sz="1800"/>
            </a:p>
          </p:txBody>
        </p:sp>
        <p:cxnSp>
          <p:nvCxnSpPr>
            <p:cNvPr id="961" name="Google Shape;961;p60"/>
            <p:cNvCxnSpPr>
              <a:stCxn id="959" idx="0"/>
            </p:cNvCxnSpPr>
            <p:nvPr/>
          </p:nvCxnSpPr>
          <p:spPr>
            <a:xfrm flipH="1" rot="10800000">
              <a:off x="2326525" y="4264475"/>
              <a:ext cx="606900" cy="217500"/>
            </a:xfrm>
            <a:prstGeom prst="straightConnector1">
              <a:avLst/>
            </a:prstGeom>
            <a:noFill/>
            <a:ln cap="flat" cmpd="sng" w="19050">
              <a:solidFill>
                <a:srgbClr val="666666"/>
              </a:solidFill>
              <a:prstDash val="solid"/>
              <a:round/>
              <a:headEnd len="med" w="med" type="none"/>
              <a:tailEnd len="med" w="med" type="none"/>
            </a:ln>
          </p:spPr>
        </p:cxnSp>
        <p:cxnSp>
          <p:nvCxnSpPr>
            <p:cNvPr id="962" name="Google Shape;962;p60"/>
            <p:cNvCxnSpPr>
              <a:stCxn id="960" idx="0"/>
            </p:cNvCxnSpPr>
            <p:nvPr/>
          </p:nvCxnSpPr>
          <p:spPr>
            <a:xfrm rot="10800000">
              <a:off x="3622466" y="4255475"/>
              <a:ext cx="107700" cy="226500"/>
            </a:xfrm>
            <a:prstGeom prst="straightConnector1">
              <a:avLst/>
            </a:prstGeom>
            <a:noFill/>
            <a:ln cap="flat" cmpd="sng" w="19050">
              <a:solidFill>
                <a:srgbClr val="666666"/>
              </a:solidFill>
              <a:prstDash val="solid"/>
              <a:round/>
              <a:headEnd len="med" w="med" type="none"/>
              <a:tailEnd len="med" w="med" type="none"/>
            </a:ln>
          </p:spPr>
        </p:cxnSp>
        <p:sp>
          <p:nvSpPr>
            <p:cNvPr id="963" name="Google Shape;963;p60"/>
            <p:cNvSpPr/>
            <p:nvPr/>
          </p:nvSpPr>
          <p:spPr>
            <a:xfrm>
              <a:off x="2737665" y="4481980"/>
              <a:ext cx="5010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16</a:t>
              </a:r>
              <a:endParaRPr sz="1800"/>
            </a:p>
          </p:txBody>
        </p:sp>
        <p:cxnSp>
          <p:nvCxnSpPr>
            <p:cNvPr id="964" name="Google Shape;964;p60"/>
            <p:cNvCxnSpPr>
              <a:endCxn id="963" idx="0"/>
            </p:cNvCxnSpPr>
            <p:nvPr/>
          </p:nvCxnSpPr>
          <p:spPr>
            <a:xfrm flipH="1">
              <a:off x="2988165" y="4255480"/>
              <a:ext cx="210300" cy="226500"/>
            </a:xfrm>
            <a:prstGeom prst="straightConnector1">
              <a:avLst/>
            </a:prstGeom>
            <a:noFill/>
            <a:ln cap="flat" cmpd="sng" w="19050">
              <a:solidFill>
                <a:srgbClr val="666666"/>
              </a:solidFill>
              <a:prstDash val="solid"/>
              <a:round/>
              <a:headEnd len="med" w="med" type="none"/>
              <a:tailEnd len="med" w="med" type="none"/>
            </a:ln>
          </p:spPr>
        </p:cxnSp>
        <p:sp>
          <p:nvSpPr>
            <p:cNvPr id="965" name="Google Shape;965;p60"/>
            <p:cNvSpPr/>
            <p:nvPr/>
          </p:nvSpPr>
          <p:spPr>
            <a:xfrm>
              <a:off x="4241078" y="4481975"/>
              <a:ext cx="8451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20  21</a:t>
              </a:r>
              <a:endParaRPr sz="1800"/>
            </a:p>
          </p:txBody>
        </p:sp>
        <p:cxnSp>
          <p:nvCxnSpPr>
            <p:cNvPr id="966" name="Google Shape;966;p60"/>
            <p:cNvCxnSpPr>
              <a:stCxn id="965" idx="0"/>
            </p:cNvCxnSpPr>
            <p:nvPr/>
          </p:nvCxnSpPr>
          <p:spPr>
            <a:xfrm rot="10800000">
              <a:off x="4027628" y="4247975"/>
              <a:ext cx="636000" cy="234000"/>
            </a:xfrm>
            <a:prstGeom prst="straightConnector1">
              <a:avLst/>
            </a:prstGeom>
            <a:noFill/>
            <a:ln cap="flat" cmpd="sng" w="19050">
              <a:solidFill>
                <a:schemeClr val="dk2"/>
              </a:solidFill>
              <a:prstDash val="solid"/>
              <a:round/>
              <a:headEnd len="med" w="med" type="none"/>
              <a:tailEnd len="med" w="med" type="none"/>
            </a:ln>
          </p:spPr>
        </p:cxnSp>
      </p:grpSp>
      <p:sp>
        <p:nvSpPr>
          <p:cNvPr id="967" name="Google Shape;967;p60"/>
          <p:cNvSpPr/>
          <p:nvPr/>
        </p:nvSpPr>
        <p:spPr>
          <a:xfrm>
            <a:off x="809793" y="1874700"/>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5</a:t>
            </a:r>
            <a:endParaRPr sz="1800"/>
          </a:p>
        </p:txBody>
      </p:sp>
      <p:sp>
        <p:nvSpPr>
          <p:cNvPr id="968" name="Google Shape;968;p60"/>
          <p:cNvSpPr/>
          <p:nvPr/>
        </p:nvSpPr>
        <p:spPr>
          <a:xfrm>
            <a:off x="395505" y="241913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a:t>
            </a:r>
            <a:endParaRPr sz="1800"/>
          </a:p>
        </p:txBody>
      </p:sp>
      <p:sp>
        <p:nvSpPr>
          <p:cNvPr id="969" name="Google Shape;969;p60"/>
          <p:cNvSpPr/>
          <p:nvPr/>
        </p:nvSpPr>
        <p:spPr>
          <a:xfrm>
            <a:off x="1225181" y="241913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7</a:t>
            </a:r>
            <a:endParaRPr sz="1800"/>
          </a:p>
        </p:txBody>
      </p:sp>
      <p:cxnSp>
        <p:nvCxnSpPr>
          <p:cNvPr id="970" name="Google Shape;970;p60"/>
          <p:cNvCxnSpPr>
            <a:stCxn id="968" idx="0"/>
            <a:endCxn id="967" idx="2"/>
          </p:cNvCxnSpPr>
          <p:nvPr/>
        </p:nvCxnSpPr>
        <p:spPr>
          <a:xfrm flipH="1" rot="10800000">
            <a:off x="640755" y="2199535"/>
            <a:ext cx="414300" cy="219600"/>
          </a:xfrm>
          <a:prstGeom prst="straightConnector1">
            <a:avLst/>
          </a:prstGeom>
          <a:noFill/>
          <a:ln cap="flat" cmpd="sng" w="19050">
            <a:solidFill>
              <a:srgbClr val="666666"/>
            </a:solidFill>
            <a:prstDash val="solid"/>
            <a:round/>
            <a:headEnd len="med" w="med" type="none"/>
            <a:tailEnd len="med" w="med" type="none"/>
          </a:ln>
        </p:spPr>
      </p:cxnSp>
      <p:cxnSp>
        <p:nvCxnSpPr>
          <p:cNvPr id="971" name="Google Shape;971;p60"/>
          <p:cNvCxnSpPr>
            <a:stCxn id="969" idx="0"/>
            <a:endCxn id="967" idx="2"/>
          </p:cNvCxnSpPr>
          <p:nvPr/>
        </p:nvCxnSpPr>
        <p:spPr>
          <a:xfrm rot="10800000">
            <a:off x="1054931" y="2199535"/>
            <a:ext cx="415500" cy="219600"/>
          </a:xfrm>
          <a:prstGeom prst="straightConnector1">
            <a:avLst/>
          </a:prstGeom>
          <a:noFill/>
          <a:ln cap="flat" cmpd="sng" w="19050">
            <a:solidFill>
              <a:srgbClr val="666666"/>
            </a:solidFill>
            <a:prstDash val="solid"/>
            <a:round/>
            <a:headEnd len="med" w="med" type="none"/>
            <a:tailEnd len="med" w="med" type="none"/>
          </a:ln>
        </p:spPr>
      </p:cxnSp>
      <p:sp>
        <p:nvSpPr>
          <p:cNvPr id="972" name="Google Shape;972;p60"/>
          <p:cNvSpPr/>
          <p:nvPr/>
        </p:nvSpPr>
        <p:spPr>
          <a:xfrm>
            <a:off x="2416227" y="1874700"/>
            <a:ext cx="8559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15  17</a:t>
            </a:r>
            <a:endParaRPr sz="1800"/>
          </a:p>
        </p:txBody>
      </p:sp>
      <p:sp>
        <p:nvSpPr>
          <p:cNvPr id="973" name="Google Shape;973;p60"/>
          <p:cNvSpPr/>
          <p:nvPr/>
        </p:nvSpPr>
        <p:spPr>
          <a:xfrm>
            <a:off x="1666557" y="1277968"/>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13</a:t>
            </a:r>
            <a:endParaRPr sz="1800"/>
          </a:p>
        </p:txBody>
      </p:sp>
      <p:cxnSp>
        <p:nvCxnSpPr>
          <p:cNvPr id="974" name="Google Shape;974;p60"/>
          <p:cNvCxnSpPr>
            <a:stCxn id="973" idx="2"/>
            <a:endCxn id="967" idx="0"/>
          </p:cNvCxnSpPr>
          <p:nvPr/>
        </p:nvCxnSpPr>
        <p:spPr>
          <a:xfrm flipH="1">
            <a:off x="1055007" y="1602868"/>
            <a:ext cx="856800" cy="271800"/>
          </a:xfrm>
          <a:prstGeom prst="straightConnector1">
            <a:avLst/>
          </a:prstGeom>
          <a:noFill/>
          <a:ln cap="flat" cmpd="sng" w="19050">
            <a:solidFill>
              <a:srgbClr val="666666"/>
            </a:solidFill>
            <a:prstDash val="solid"/>
            <a:round/>
            <a:headEnd len="med" w="med" type="none"/>
            <a:tailEnd len="med" w="med" type="none"/>
          </a:ln>
        </p:spPr>
      </p:cxnSp>
      <p:cxnSp>
        <p:nvCxnSpPr>
          <p:cNvPr id="975" name="Google Shape;975;p60"/>
          <p:cNvCxnSpPr>
            <a:stCxn id="973" idx="2"/>
            <a:endCxn id="972" idx="0"/>
          </p:cNvCxnSpPr>
          <p:nvPr/>
        </p:nvCxnSpPr>
        <p:spPr>
          <a:xfrm>
            <a:off x="1911807" y="1602868"/>
            <a:ext cx="932400" cy="271800"/>
          </a:xfrm>
          <a:prstGeom prst="straightConnector1">
            <a:avLst/>
          </a:prstGeom>
          <a:noFill/>
          <a:ln cap="flat" cmpd="sng" w="19050">
            <a:solidFill>
              <a:srgbClr val="666666"/>
            </a:solidFill>
            <a:prstDash val="solid"/>
            <a:round/>
            <a:headEnd len="med" w="med" type="none"/>
            <a:tailEnd len="med" w="med" type="none"/>
          </a:ln>
        </p:spPr>
      </p:cxnSp>
      <p:sp>
        <p:nvSpPr>
          <p:cNvPr id="976" name="Google Shape;976;p60"/>
          <p:cNvSpPr/>
          <p:nvPr/>
        </p:nvSpPr>
        <p:spPr>
          <a:xfrm>
            <a:off x="5122868" y="1900838"/>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5</a:t>
            </a:r>
            <a:endParaRPr sz="1800"/>
          </a:p>
        </p:txBody>
      </p:sp>
      <p:sp>
        <p:nvSpPr>
          <p:cNvPr id="977" name="Google Shape;977;p60"/>
          <p:cNvSpPr/>
          <p:nvPr/>
        </p:nvSpPr>
        <p:spPr>
          <a:xfrm>
            <a:off x="4708580" y="2445273"/>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a:t>
            </a:r>
            <a:endParaRPr sz="1800"/>
          </a:p>
        </p:txBody>
      </p:sp>
      <p:sp>
        <p:nvSpPr>
          <p:cNvPr id="978" name="Google Shape;978;p60"/>
          <p:cNvSpPr/>
          <p:nvPr/>
        </p:nvSpPr>
        <p:spPr>
          <a:xfrm>
            <a:off x="5538256" y="2445273"/>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7</a:t>
            </a:r>
            <a:endParaRPr sz="1800"/>
          </a:p>
        </p:txBody>
      </p:sp>
      <p:cxnSp>
        <p:nvCxnSpPr>
          <p:cNvPr id="979" name="Google Shape;979;p60"/>
          <p:cNvCxnSpPr>
            <a:stCxn id="977" idx="0"/>
            <a:endCxn id="976" idx="2"/>
          </p:cNvCxnSpPr>
          <p:nvPr/>
        </p:nvCxnSpPr>
        <p:spPr>
          <a:xfrm flipH="1" rot="10800000">
            <a:off x="4953830" y="2225673"/>
            <a:ext cx="414300" cy="219600"/>
          </a:xfrm>
          <a:prstGeom prst="straightConnector1">
            <a:avLst/>
          </a:prstGeom>
          <a:noFill/>
          <a:ln cap="flat" cmpd="sng" w="19050">
            <a:solidFill>
              <a:srgbClr val="666666"/>
            </a:solidFill>
            <a:prstDash val="solid"/>
            <a:round/>
            <a:headEnd len="med" w="med" type="none"/>
            <a:tailEnd len="med" w="med" type="none"/>
          </a:ln>
        </p:spPr>
      </p:cxnSp>
      <p:cxnSp>
        <p:nvCxnSpPr>
          <p:cNvPr id="980" name="Google Shape;980;p60"/>
          <p:cNvCxnSpPr>
            <a:stCxn id="978" idx="0"/>
            <a:endCxn id="976" idx="2"/>
          </p:cNvCxnSpPr>
          <p:nvPr/>
        </p:nvCxnSpPr>
        <p:spPr>
          <a:xfrm rot="10800000">
            <a:off x="5368006" y="2225673"/>
            <a:ext cx="415500" cy="219600"/>
          </a:xfrm>
          <a:prstGeom prst="straightConnector1">
            <a:avLst/>
          </a:prstGeom>
          <a:noFill/>
          <a:ln cap="flat" cmpd="sng" w="19050">
            <a:solidFill>
              <a:srgbClr val="666666"/>
            </a:solidFill>
            <a:prstDash val="solid"/>
            <a:round/>
            <a:headEnd len="med" w="med" type="none"/>
            <a:tailEnd len="med" w="med" type="none"/>
          </a:ln>
        </p:spPr>
      </p:cxnSp>
      <p:sp>
        <p:nvSpPr>
          <p:cNvPr id="981" name="Google Shape;981;p60"/>
          <p:cNvSpPr/>
          <p:nvPr/>
        </p:nvSpPr>
        <p:spPr>
          <a:xfrm>
            <a:off x="6729300" y="1900850"/>
            <a:ext cx="8559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15  17</a:t>
            </a:r>
            <a:endParaRPr sz="1800"/>
          </a:p>
        </p:txBody>
      </p:sp>
      <p:sp>
        <p:nvSpPr>
          <p:cNvPr id="982" name="Google Shape;982;p60"/>
          <p:cNvSpPr/>
          <p:nvPr/>
        </p:nvSpPr>
        <p:spPr>
          <a:xfrm>
            <a:off x="5979632" y="130410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13</a:t>
            </a:r>
            <a:endParaRPr sz="1800"/>
          </a:p>
        </p:txBody>
      </p:sp>
      <p:cxnSp>
        <p:nvCxnSpPr>
          <p:cNvPr id="983" name="Google Shape;983;p60"/>
          <p:cNvCxnSpPr>
            <a:stCxn id="982" idx="2"/>
            <a:endCxn id="976" idx="0"/>
          </p:cNvCxnSpPr>
          <p:nvPr/>
        </p:nvCxnSpPr>
        <p:spPr>
          <a:xfrm flipH="1">
            <a:off x="5368082" y="1629005"/>
            <a:ext cx="856800" cy="271800"/>
          </a:xfrm>
          <a:prstGeom prst="straightConnector1">
            <a:avLst/>
          </a:prstGeom>
          <a:noFill/>
          <a:ln cap="flat" cmpd="sng" w="19050">
            <a:solidFill>
              <a:srgbClr val="666666"/>
            </a:solidFill>
            <a:prstDash val="solid"/>
            <a:round/>
            <a:headEnd len="med" w="med" type="none"/>
            <a:tailEnd len="med" w="med" type="none"/>
          </a:ln>
        </p:spPr>
      </p:cxnSp>
      <p:cxnSp>
        <p:nvCxnSpPr>
          <p:cNvPr id="984" name="Google Shape;984;p60"/>
          <p:cNvCxnSpPr>
            <a:stCxn id="982" idx="2"/>
            <a:endCxn id="981" idx="0"/>
          </p:cNvCxnSpPr>
          <p:nvPr/>
        </p:nvCxnSpPr>
        <p:spPr>
          <a:xfrm>
            <a:off x="6224882" y="1629005"/>
            <a:ext cx="932400" cy="271800"/>
          </a:xfrm>
          <a:prstGeom prst="straightConnector1">
            <a:avLst/>
          </a:prstGeom>
          <a:noFill/>
          <a:ln cap="flat" cmpd="sng" w="19050">
            <a:solidFill>
              <a:srgbClr val="666666"/>
            </a:solidFill>
            <a:prstDash val="solid"/>
            <a:round/>
            <a:headEnd len="med" w="med" type="none"/>
            <a:tailEnd len="med" w="med" type="none"/>
          </a:ln>
        </p:spPr>
      </p:cxnSp>
      <p:sp>
        <p:nvSpPr>
          <p:cNvPr id="985" name="Google Shape;985;p60"/>
          <p:cNvSpPr/>
          <p:nvPr/>
        </p:nvSpPr>
        <p:spPr>
          <a:xfrm>
            <a:off x="2012313" y="2425474"/>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14</a:t>
            </a:r>
            <a:endParaRPr sz="1800"/>
          </a:p>
        </p:txBody>
      </p:sp>
      <p:sp>
        <p:nvSpPr>
          <p:cNvPr id="986" name="Google Shape;986;p60"/>
          <p:cNvSpPr/>
          <p:nvPr/>
        </p:nvSpPr>
        <p:spPr>
          <a:xfrm>
            <a:off x="3276675" y="2425475"/>
            <a:ext cx="8568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18  19</a:t>
            </a:r>
            <a:endParaRPr sz="1800"/>
          </a:p>
        </p:txBody>
      </p:sp>
      <p:cxnSp>
        <p:nvCxnSpPr>
          <p:cNvPr id="987" name="Google Shape;987;p60"/>
          <p:cNvCxnSpPr>
            <a:stCxn id="985" idx="0"/>
          </p:cNvCxnSpPr>
          <p:nvPr/>
        </p:nvCxnSpPr>
        <p:spPr>
          <a:xfrm flipH="1" rot="10800000">
            <a:off x="2257563" y="2198074"/>
            <a:ext cx="316800" cy="227400"/>
          </a:xfrm>
          <a:prstGeom prst="straightConnector1">
            <a:avLst/>
          </a:prstGeom>
          <a:noFill/>
          <a:ln cap="flat" cmpd="sng" w="19050">
            <a:solidFill>
              <a:srgbClr val="666666"/>
            </a:solidFill>
            <a:prstDash val="solid"/>
            <a:round/>
            <a:headEnd len="med" w="med" type="none"/>
            <a:tailEnd len="med" w="med" type="none"/>
          </a:ln>
        </p:spPr>
      </p:cxnSp>
      <p:cxnSp>
        <p:nvCxnSpPr>
          <p:cNvPr id="988" name="Google Shape;988;p60"/>
          <p:cNvCxnSpPr>
            <a:stCxn id="986" idx="0"/>
          </p:cNvCxnSpPr>
          <p:nvPr/>
        </p:nvCxnSpPr>
        <p:spPr>
          <a:xfrm rot="10800000">
            <a:off x="3239175" y="2205575"/>
            <a:ext cx="465900" cy="219900"/>
          </a:xfrm>
          <a:prstGeom prst="straightConnector1">
            <a:avLst/>
          </a:prstGeom>
          <a:noFill/>
          <a:ln cap="flat" cmpd="sng" w="19050">
            <a:solidFill>
              <a:srgbClr val="666666"/>
            </a:solidFill>
            <a:prstDash val="solid"/>
            <a:round/>
            <a:headEnd len="med" w="med" type="none"/>
            <a:tailEnd len="med" w="med" type="none"/>
          </a:ln>
        </p:spPr>
      </p:cxnSp>
      <p:sp>
        <p:nvSpPr>
          <p:cNvPr id="989" name="Google Shape;989;p60"/>
          <p:cNvSpPr/>
          <p:nvPr/>
        </p:nvSpPr>
        <p:spPr>
          <a:xfrm>
            <a:off x="2623752" y="242547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16</a:t>
            </a:r>
            <a:endParaRPr sz="1800"/>
          </a:p>
        </p:txBody>
      </p:sp>
      <p:cxnSp>
        <p:nvCxnSpPr>
          <p:cNvPr id="990" name="Google Shape;990;p60"/>
          <p:cNvCxnSpPr>
            <a:endCxn id="989" idx="0"/>
          </p:cNvCxnSpPr>
          <p:nvPr/>
        </p:nvCxnSpPr>
        <p:spPr>
          <a:xfrm>
            <a:off x="2867502" y="2205875"/>
            <a:ext cx="1500" cy="219600"/>
          </a:xfrm>
          <a:prstGeom prst="straightConnector1">
            <a:avLst/>
          </a:prstGeom>
          <a:noFill/>
          <a:ln cap="flat" cmpd="sng" w="19050">
            <a:solidFill>
              <a:srgbClr val="666666"/>
            </a:solidFill>
            <a:prstDash val="solid"/>
            <a:round/>
            <a:headEnd len="med" w="med" type="none"/>
            <a:tailEnd len="med" w="med" type="none"/>
          </a:ln>
        </p:spPr>
      </p:cxnSp>
      <p:sp>
        <p:nvSpPr>
          <p:cNvPr id="991" name="Google Shape;991;p60"/>
          <p:cNvSpPr/>
          <p:nvPr/>
        </p:nvSpPr>
        <p:spPr>
          <a:xfrm>
            <a:off x="6306696" y="2453201"/>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14</a:t>
            </a:r>
            <a:endParaRPr sz="1800"/>
          </a:p>
        </p:txBody>
      </p:sp>
      <p:sp>
        <p:nvSpPr>
          <p:cNvPr id="992" name="Google Shape;992;p60"/>
          <p:cNvSpPr/>
          <p:nvPr/>
        </p:nvSpPr>
        <p:spPr>
          <a:xfrm>
            <a:off x="7474225" y="2453200"/>
            <a:ext cx="15990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18  19  20  21 </a:t>
            </a:r>
            <a:endParaRPr sz="1800"/>
          </a:p>
        </p:txBody>
      </p:sp>
      <p:cxnSp>
        <p:nvCxnSpPr>
          <p:cNvPr id="993" name="Google Shape;993;p60"/>
          <p:cNvCxnSpPr>
            <a:stCxn id="991" idx="0"/>
          </p:cNvCxnSpPr>
          <p:nvPr/>
        </p:nvCxnSpPr>
        <p:spPr>
          <a:xfrm flipH="1" rot="10800000">
            <a:off x="6551946" y="2225801"/>
            <a:ext cx="316800" cy="227400"/>
          </a:xfrm>
          <a:prstGeom prst="straightConnector1">
            <a:avLst/>
          </a:prstGeom>
          <a:noFill/>
          <a:ln cap="flat" cmpd="sng" w="19050">
            <a:solidFill>
              <a:srgbClr val="666666"/>
            </a:solidFill>
            <a:prstDash val="solid"/>
            <a:round/>
            <a:headEnd len="med" w="med" type="none"/>
            <a:tailEnd len="med" w="med" type="none"/>
          </a:ln>
        </p:spPr>
      </p:cxnSp>
      <p:cxnSp>
        <p:nvCxnSpPr>
          <p:cNvPr id="994" name="Google Shape;994;p60"/>
          <p:cNvCxnSpPr>
            <a:stCxn id="992" idx="0"/>
          </p:cNvCxnSpPr>
          <p:nvPr/>
        </p:nvCxnSpPr>
        <p:spPr>
          <a:xfrm rot="10800000">
            <a:off x="7379725" y="2222500"/>
            <a:ext cx="894000" cy="230700"/>
          </a:xfrm>
          <a:prstGeom prst="straightConnector1">
            <a:avLst/>
          </a:prstGeom>
          <a:noFill/>
          <a:ln cap="flat" cmpd="sng" w="19050">
            <a:solidFill>
              <a:srgbClr val="666666"/>
            </a:solidFill>
            <a:prstDash val="solid"/>
            <a:round/>
            <a:headEnd len="med" w="med" type="none"/>
            <a:tailEnd len="med" w="med" type="none"/>
          </a:ln>
        </p:spPr>
      </p:cxnSp>
      <p:sp>
        <p:nvSpPr>
          <p:cNvPr id="995" name="Google Shape;995;p60"/>
          <p:cNvSpPr/>
          <p:nvPr/>
        </p:nvSpPr>
        <p:spPr>
          <a:xfrm>
            <a:off x="6875600" y="2453200"/>
            <a:ext cx="4659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16</a:t>
            </a:r>
            <a:endParaRPr sz="1800"/>
          </a:p>
        </p:txBody>
      </p:sp>
      <p:cxnSp>
        <p:nvCxnSpPr>
          <p:cNvPr id="996" name="Google Shape;996;p60"/>
          <p:cNvCxnSpPr>
            <a:endCxn id="995" idx="0"/>
          </p:cNvCxnSpPr>
          <p:nvPr/>
        </p:nvCxnSpPr>
        <p:spPr>
          <a:xfrm>
            <a:off x="7107050" y="2233600"/>
            <a:ext cx="1500" cy="219600"/>
          </a:xfrm>
          <a:prstGeom prst="straightConnector1">
            <a:avLst/>
          </a:prstGeom>
          <a:noFill/>
          <a:ln cap="flat" cmpd="sng" w="19050">
            <a:solidFill>
              <a:srgbClr val="666666"/>
            </a:solidFill>
            <a:prstDash val="solid"/>
            <a:round/>
            <a:headEnd len="med" w="med" type="none"/>
            <a:tailEnd len="med" w="med" type="none"/>
          </a:ln>
        </p:spPr>
      </p:cxnSp>
      <p:cxnSp>
        <p:nvCxnSpPr>
          <p:cNvPr id="997" name="Google Shape;997;p60"/>
          <p:cNvCxnSpPr/>
          <p:nvPr/>
        </p:nvCxnSpPr>
        <p:spPr>
          <a:xfrm>
            <a:off x="3956250" y="1985825"/>
            <a:ext cx="523500" cy="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9"/>
                                        </p:tgtEl>
                                        <p:attrNameLst>
                                          <p:attrName>style.visibility</p:attrName>
                                        </p:attrNameLst>
                                      </p:cBhvr>
                                      <p:to>
                                        <p:strVal val="visible"/>
                                      </p:to>
                                    </p:set>
                                    <p:animEffect filter="fade" transition="in">
                                      <p:cBhvr>
                                        <p:cTn dur="1"/>
                                        <p:tgtEl>
                                          <p:spTgt spid="9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61"/>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Binary Search Trees</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BST Height, Big O vs. Worst Case Big Theta</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Worst Case Performance</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B-Trees</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Splitting Juicy Nodes</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Chain Reaction Splitting</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B-Tree Terminology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Invariants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Worst Case Performance</a:t>
            </a:r>
            <a:endParaRPr>
              <a:solidFill>
                <a:schemeClr val="dk2"/>
              </a:solidFill>
            </a:endParaRPr>
          </a:p>
        </p:txBody>
      </p:sp>
      <p:sp>
        <p:nvSpPr>
          <p:cNvPr id="1003" name="Google Shape;1003;p61"/>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Chain Reaction Splitting</a:t>
            </a:r>
            <a:endParaRPr/>
          </a:p>
        </p:txBody>
      </p:sp>
      <p:sp>
        <p:nvSpPr>
          <p:cNvPr id="1004" name="Google Shape;1004;p61"/>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17, CS61B, Fall 2023</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8" name="Shape 1008"/>
        <p:cNvGrpSpPr/>
        <p:nvPr/>
      </p:nvGrpSpPr>
      <p:grpSpPr>
        <a:xfrm>
          <a:off x="0" y="0"/>
          <a:ext cx="0" cy="0"/>
          <a:chOff x="0" y="0"/>
          <a:chExt cx="0" cy="0"/>
        </a:xfrm>
      </p:grpSpPr>
      <p:sp>
        <p:nvSpPr>
          <p:cNvPr id="1009" name="Google Shape;1009;p6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 Chain Reaction</a:t>
            </a:r>
            <a:endParaRPr/>
          </a:p>
        </p:txBody>
      </p:sp>
      <p:sp>
        <p:nvSpPr>
          <p:cNvPr id="1010" name="Google Shape;1010;p62"/>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Suppose we add 25, 26:</a:t>
            </a:r>
            <a:endParaRPr/>
          </a:p>
        </p:txBody>
      </p:sp>
      <p:cxnSp>
        <p:nvCxnSpPr>
          <p:cNvPr id="1011" name="Google Shape;1011;p62"/>
          <p:cNvCxnSpPr/>
          <p:nvPr/>
        </p:nvCxnSpPr>
        <p:spPr>
          <a:xfrm>
            <a:off x="4108650" y="1985825"/>
            <a:ext cx="523500" cy="0"/>
          </a:xfrm>
          <a:prstGeom prst="straightConnector1">
            <a:avLst/>
          </a:prstGeom>
          <a:noFill/>
          <a:ln cap="flat" cmpd="sng" w="19050">
            <a:solidFill>
              <a:schemeClr val="dk2"/>
            </a:solidFill>
            <a:prstDash val="solid"/>
            <a:round/>
            <a:headEnd len="med" w="med" type="none"/>
            <a:tailEnd len="med" w="med" type="triangle"/>
          </a:ln>
        </p:spPr>
      </p:cxnSp>
      <p:grpSp>
        <p:nvGrpSpPr>
          <p:cNvPr id="1012" name="Google Shape;1012;p62"/>
          <p:cNvGrpSpPr/>
          <p:nvPr/>
        </p:nvGrpSpPr>
        <p:grpSpPr>
          <a:xfrm>
            <a:off x="166805" y="1354418"/>
            <a:ext cx="4004873" cy="1472074"/>
            <a:chOff x="395505" y="3334805"/>
            <a:chExt cx="4004873" cy="1472074"/>
          </a:xfrm>
        </p:grpSpPr>
        <p:sp>
          <p:nvSpPr>
            <p:cNvPr id="1013" name="Google Shape;1013;p62"/>
            <p:cNvSpPr/>
            <p:nvPr/>
          </p:nvSpPr>
          <p:spPr>
            <a:xfrm>
              <a:off x="733593" y="3931538"/>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5</a:t>
              </a:r>
              <a:endParaRPr sz="1800"/>
            </a:p>
          </p:txBody>
        </p:sp>
        <p:sp>
          <p:nvSpPr>
            <p:cNvPr id="1014" name="Google Shape;1014;p62"/>
            <p:cNvSpPr/>
            <p:nvPr/>
          </p:nvSpPr>
          <p:spPr>
            <a:xfrm>
              <a:off x="395505" y="4475973"/>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a:t>
              </a:r>
              <a:endParaRPr sz="1800"/>
            </a:p>
          </p:txBody>
        </p:sp>
        <p:sp>
          <p:nvSpPr>
            <p:cNvPr id="1015" name="Google Shape;1015;p62"/>
            <p:cNvSpPr/>
            <p:nvPr/>
          </p:nvSpPr>
          <p:spPr>
            <a:xfrm>
              <a:off x="1072781" y="4475973"/>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7</a:t>
              </a:r>
              <a:endParaRPr sz="1800"/>
            </a:p>
          </p:txBody>
        </p:sp>
        <p:cxnSp>
          <p:nvCxnSpPr>
            <p:cNvPr id="1016" name="Google Shape;1016;p62"/>
            <p:cNvCxnSpPr>
              <a:stCxn id="1014" idx="0"/>
              <a:endCxn id="1013" idx="2"/>
            </p:cNvCxnSpPr>
            <p:nvPr/>
          </p:nvCxnSpPr>
          <p:spPr>
            <a:xfrm flipH="1" rot="10800000">
              <a:off x="640755" y="4256373"/>
              <a:ext cx="338100" cy="219600"/>
            </a:xfrm>
            <a:prstGeom prst="straightConnector1">
              <a:avLst/>
            </a:prstGeom>
            <a:noFill/>
            <a:ln cap="flat" cmpd="sng" w="19050">
              <a:solidFill>
                <a:srgbClr val="666666"/>
              </a:solidFill>
              <a:prstDash val="solid"/>
              <a:round/>
              <a:headEnd len="med" w="med" type="none"/>
              <a:tailEnd len="med" w="med" type="none"/>
            </a:ln>
          </p:spPr>
        </p:cxnSp>
        <p:cxnSp>
          <p:nvCxnSpPr>
            <p:cNvPr id="1017" name="Google Shape;1017;p62"/>
            <p:cNvCxnSpPr>
              <a:stCxn id="1015" idx="0"/>
              <a:endCxn id="1013" idx="2"/>
            </p:cNvCxnSpPr>
            <p:nvPr/>
          </p:nvCxnSpPr>
          <p:spPr>
            <a:xfrm rot="10800000">
              <a:off x="978731" y="4256373"/>
              <a:ext cx="339300" cy="219600"/>
            </a:xfrm>
            <a:prstGeom prst="straightConnector1">
              <a:avLst/>
            </a:prstGeom>
            <a:noFill/>
            <a:ln cap="flat" cmpd="sng" w="19050">
              <a:solidFill>
                <a:srgbClr val="666666"/>
              </a:solidFill>
              <a:prstDash val="solid"/>
              <a:round/>
              <a:headEnd len="med" w="med" type="none"/>
              <a:tailEnd len="med" w="med" type="none"/>
            </a:ln>
          </p:spPr>
        </p:cxnSp>
        <p:sp>
          <p:nvSpPr>
            <p:cNvPr id="1018" name="Google Shape;1018;p62"/>
            <p:cNvSpPr/>
            <p:nvPr/>
          </p:nvSpPr>
          <p:spPr>
            <a:xfrm>
              <a:off x="2055549" y="3931550"/>
              <a:ext cx="12114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15  17  19</a:t>
              </a:r>
              <a:endParaRPr sz="1800"/>
            </a:p>
          </p:txBody>
        </p:sp>
        <p:sp>
          <p:nvSpPr>
            <p:cNvPr id="1019" name="Google Shape;1019;p62"/>
            <p:cNvSpPr/>
            <p:nvPr/>
          </p:nvSpPr>
          <p:spPr>
            <a:xfrm>
              <a:off x="1666557" y="333480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13</a:t>
              </a:r>
              <a:endParaRPr sz="1800"/>
            </a:p>
          </p:txBody>
        </p:sp>
        <p:cxnSp>
          <p:nvCxnSpPr>
            <p:cNvPr id="1020" name="Google Shape;1020;p62"/>
            <p:cNvCxnSpPr>
              <a:stCxn id="1019" idx="2"/>
              <a:endCxn id="1013" idx="0"/>
            </p:cNvCxnSpPr>
            <p:nvPr/>
          </p:nvCxnSpPr>
          <p:spPr>
            <a:xfrm flipH="1">
              <a:off x="978807" y="3659705"/>
              <a:ext cx="933000" cy="271800"/>
            </a:xfrm>
            <a:prstGeom prst="straightConnector1">
              <a:avLst/>
            </a:prstGeom>
            <a:noFill/>
            <a:ln cap="flat" cmpd="sng" w="19050">
              <a:solidFill>
                <a:srgbClr val="666666"/>
              </a:solidFill>
              <a:prstDash val="solid"/>
              <a:round/>
              <a:headEnd len="med" w="med" type="none"/>
              <a:tailEnd len="med" w="med" type="none"/>
            </a:ln>
          </p:spPr>
        </p:cxnSp>
        <p:cxnSp>
          <p:nvCxnSpPr>
            <p:cNvPr id="1021" name="Google Shape;1021;p62"/>
            <p:cNvCxnSpPr>
              <a:stCxn id="1019" idx="2"/>
              <a:endCxn id="1018" idx="0"/>
            </p:cNvCxnSpPr>
            <p:nvPr/>
          </p:nvCxnSpPr>
          <p:spPr>
            <a:xfrm>
              <a:off x="1911807" y="3659705"/>
              <a:ext cx="749400" cy="271800"/>
            </a:xfrm>
            <a:prstGeom prst="straightConnector1">
              <a:avLst/>
            </a:prstGeom>
            <a:noFill/>
            <a:ln cap="flat" cmpd="sng" w="19050">
              <a:solidFill>
                <a:srgbClr val="666666"/>
              </a:solidFill>
              <a:prstDash val="solid"/>
              <a:round/>
              <a:headEnd len="med" w="med" type="none"/>
              <a:tailEnd len="med" w="med" type="none"/>
            </a:ln>
          </p:spPr>
        </p:cxnSp>
        <p:sp>
          <p:nvSpPr>
            <p:cNvPr id="1022" name="Google Shape;1022;p62"/>
            <p:cNvSpPr/>
            <p:nvPr/>
          </p:nvSpPr>
          <p:spPr>
            <a:xfrm>
              <a:off x="1712575" y="4481975"/>
              <a:ext cx="4659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14</a:t>
              </a:r>
              <a:endParaRPr sz="1800"/>
            </a:p>
          </p:txBody>
        </p:sp>
        <p:sp>
          <p:nvSpPr>
            <p:cNvPr id="1023" name="Google Shape;1023;p62"/>
            <p:cNvSpPr/>
            <p:nvPr/>
          </p:nvSpPr>
          <p:spPr>
            <a:xfrm>
              <a:off x="2946266" y="4481975"/>
              <a:ext cx="5010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18</a:t>
              </a:r>
              <a:endParaRPr sz="1800"/>
            </a:p>
          </p:txBody>
        </p:sp>
        <p:cxnSp>
          <p:nvCxnSpPr>
            <p:cNvPr id="1024" name="Google Shape;1024;p62"/>
            <p:cNvCxnSpPr>
              <a:stCxn id="1022" idx="0"/>
            </p:cNvCxnSpPr>
            <p:nvPr/>
          </p:nvCxnSpPr>
          <p:spPr>
            <a:xfrm flipH="1" rot="10800000">
              <a:off x="1945525" y="4268675"/>
              <a:ext cx="198000" cy="213300"/>
            </a:xfrm>
            <a:prstGeom prst="straightConnector1">
              <a:avLst/>
            </a:prstGeom>
            <a:noFill/>
            <a:ln cap="flat" cmpd="sng" w="19050">
              <a:solidFill>
                <a:srgbClr val="666666"/>
              </a:solidFill>
              <a:prstDash val="solid"/>
              <a:round/>
              <a:headEnd len="med" w="med" type="none"/>
              <a:tailEnd len="med" w="med" type="none"/>
            </a:ln>
          </p:spPr>
        </p:cxnSp>
        <p:cxnSp>
          <p:nvCxnSpPr>
            <p:cNvPr id="1025" name="Google Shape;1025;p62"/>
            <p:cNvCxnSpPr>
              <a:stCxn id="1023" idx="0"/>
            </p:cNvCxnSpPr>
            <p:nvPr/>
          </p:nvCxnSpPr>
          <p:spPr>
            <a:xfrm rot="10800000">
              <a:off x="2867966" y="4268675"/>
              <a:ext cx="328800" cy="213300"/>
            </a:xfrm>
            <a:prstGeom prst="straightConnector1">
              <a:avLst/>
            </a:prstGeom>
            <a:noFill/>
            <a:ln cap="flat" cmpd="sng" w="19050">
              <a:solidFill>
                <a:srgbClr val="666666"/>
              </a:solidFill>
              <a:prstDash val="solid"/>
              <a:round/>
              <a:headEnd len="med" w="med" type="none"/>
              <a:tailEnd len="med" w="med" type="none"/>
            </a:ln>
          </p:spPr>
        </p:cxnSp>
        <p:sp>
          <p:nvSpPr>
            <p:cNvPr id="1026" name="Google Shape;1026;p62"/>
            <p:cNvSpPr/>
            <p:nvPr/>
          </p:nvSpPr>
          <p:spPr>
            <a:xfrm>
              <a:off x="2356665" y="4481980"/>
              <a:ext cx="5010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16</a:t>
              </a:r>
              <a:endParaRPr sz="1800"/>
            </a:p>
          </p:txBody>
        </p:sp>
        <p:cxnSp>
          <p:nvCxnSpPr>
            <p:cNvPr id="1027" name="Google Shape;1027;p62"/>
            <p:cNvCxnSpPr>
              <a:endCxn id="1026" idx="0"/>
            </p:cNvCxnSpPr>
            <p:nvPr/>
          </p:nvCxnSpPr>
          <p:spPr>
            <a:xfrm>
              <a:off x="2567565" y="4259680"/>
              <a:ext cx="39600" cy="222300"/>
            </a:xfrm>
            <a:prstGeom prst="straightConnector1">
              <a:avLst/>
            </a:prstGeom>
            <a:noFill/>
            <a:ln cap="flat" cmpd="sng" w="19050">
              <a:solidFill>
                <a:srgbClr val="666666"/>
              </a:solidFill>
              <a:prstDash val="solid"/>
              <a:round/>
              <a:headEnd len="med" w="med" type="none"/>
              <a:tailEnd len="med" w="med" type="none"/>
            </a:ln>
          </p:spPr>
        </p:cxnSp>
        <p:sp>
          <p:nvSpPr>
            <p:cNvPr id="1028" name="Google Shape;1028;p62"/>
            <p:cNvSpPr/>
            <p:nvPr/>
          </p:nvSpPr>
          <p:spPr>
            <a:xfrm>
              <a:off x="3555278" y="4481975"/>
              <a:ext cx="8451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20  21</a:t>
              </a:r>
              <a:endParaRPr sz="1800"/>
            </a:p>
          </p:txBody>
        </p:sp>
        <p:cxnSp>
          <p:nvCxnSpPr>
            <p:cNvPr id="1029" name="Google Shape;1029;p62"/>
            <p:cNvCxnSpPr>
              <a:stCxn id="1028" idx="0"/>
            </p:cNvCxnSpPr>
            <p:nvPr/>
          </p:nvCxnSpPr>
          <p:spPr>
            <a:xfrm rot="10800000">
              <a:off x="3177428" y="4259675"/>
              <a:ext cx="800400" cy="222300"/>
            </a:xfrm>
            <a:prstGeom prst="straightConnector1">
              <a:avLst/>
            </a:prstGeom>
            <a:noFill/>
            <a:ln cap="flat" cmpd="sng" w="19050">
              <a:solidFill>
                <a:schemeClr val="dk2"/>
              </a:solidFill>
              <a:prstDash val="solid"/>
              <a:round/>
              <a:headEnd len="med" w="med" type="none"/>
              <a:tailEnd len="med" w="med" type="none"/>
            </a:ln>
          </p:spPr>
        </p:cxnSp>
      </p:grpSp>
      <p:grpSp>
        <p:nvGrpSpPr>
          <p:cNvPr id="1030" name="Google Shape;1030;p62"/>
          <p:cNvGrpSpPr/>
          <p:nvPr/>
        </p:nvGrpSpPr>
        <p:grpSpPr>
          <a:xfrm>
            <a:off x="4517930" y="1354418"/>
            <a:ext cx="4597235" cy="1472082"/>
            <a:chOff x="-61695" y="3334805"/>
            <a:chExt cx="4597235" cy="1472082"/>
          </a:xfrm>
        </p:grpSpPr>
        <p:sp>
          <p:nvSpPr>
            <p:cNvPr id="1031" name="Google Shape;1031;p62"/>
            <p:cNvSpPr/>
            <p:nvPr/>
          </p:nvSpPr>
          <p:spPr>
            <a:xfrm>
              <a:off x="276393" y="3931538"/>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5</a:t>
              </a:r>
              <a:endParaRPr sz="1800"/>
            </a:p>
          </p:txBody>
        </p:sp>
        <p:sp>
          <p:nvSpPr>
            <p:cNvPr id="1032" name="Google Shape;1032;p62"/>
            <p:cNvSpPr/>
            <p:nvPr/>
          </p:nvSpPr>
          <p:spPr>
            <a:xfrm>
              <a:off x="-61695" y="4481988"/>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a:t>
              </a:r>
              <a:endParaRPr sz="1800"/>
            </a:p>
          </p:txBody>
        </p:sp>
        <p:sp>
          <p:nvSpPr>
            <p:cNvPr id="1033" name="Google Shape;1033;p62"/>
            <p:cNvSpPr/>
            <p:nvPr/>
          </p:nvSpPr>
          <p:spPr>
            <a:xfrm>
              <a:off x="615581" y="4481988"/>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7</a:t>
              </a:r>
              <a:endParaRPr sz="1800"/>
            </a:p>
          </p:txBody>
        </p:sp>
        <p:cxnSp>
          <p:nvCxnSpPr>
            <p:cNvPr id="1034" name="Google Shape;1034;p62"/>
            <p:cNvCxnSpPr>
              <a:stCxn id="1032" idx="0"/>
              <a:endCxn id="1031" idx="2"/>
            </p:cNvCxnSpPr>
            <p:nvPr/>
          </p:nvCxnSpPr>
          <p:spPr>
            <a:xfrm flipH="1" rot="10800000">
              <a:off x="183555" y="4256388"/>
              <a:ext cx="338100" cy="225600"/>
            </a:xfrm>
            <a:prstGeom prst="straightConnector1">
              <a:avLst/>
            </a:prstGeom>
            <a:noFill/>
            <a:ln cap="flat" cmpd="sng" w="19050">
              <a:solidFill>
                <a:srgbClr val="666666"/>
              </a:solidFill>
              <a:prstDash val="solid"/>
              <a:round/>
              <a:headEnd len="med" w="med" type="none"/>
              <a:tailEnd len="med" w="med" type="none"/>
            </a:ln>
          </p:spPr>
        </p:cxnSp>
        <p:cxnSp>
          <p:nvCxnSpPr>
            <p:cNvPr id="1035" name="Google Shape;1035;p62"/>
            <p:cNvCxnSpPr>
              <a:stCxn id="1033" idx="0"/>
              <a:endCxn id="1031" idx="2"/>
            </p:cNvCxnSpPr>
            <p:nvPr/>
          </p:nvCxnSpPr>
          <p:spPr>
            <a:xfrm rot="10800000">
              <a:off x="521531" y="4256388"/>
              <a:ext cx="339300" cy="225600"/>
            </a:xfrm>
            <a:prstGeom prst="straightConnector1">
              <a:avLst/>
            </a:prstGeom>
            <a:noFill/>
            <a:ln cap="flat" cmpd="sng" w="19050">
              <a:solidFill>
                <a:srgbClr val="666666"/>
              </a:solidFill>
              <a:prstDash val="solid"/>
              <a:round/>
              <a:headEnd len="med" w="med" type="none"/>
              <a:tailEnd len="med" w="med" type="none"/>
            </a:ln>
          </p:spPr>
        </p:cxnSp>
        <p:sp>
          <p:nvSpPr>
            <p:cNvPr id="1036" name="Google Shape;1036;p62"/>
            <p:cNvSpPr/>
            <p:nvPr/>
          </p:nvSpPr>
          <p:spPr>
            <a:xfrm>
              <a:off x="1580680" y="3931550"/>
              <a:ext cx="12114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15  17  19</a:t>
              </a:r>
              <a:endParaRPr sz="1800"/>
            </a:p>
          </p:txBody>
        </p:sp>
        <p:sp>
          <p:nvSpPr>
            <p:cNvPr id="1037" name="Google Shape;1037;p62"/>
            <p:cNvSpPr/>
            <p:nvPr/>
          </p:nvSpPr>
          <p:spPr>
            <a:xfrm>
              <a:off x="1666557" y="333480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13</a:t>
              </a:r>
              <a:endParaRPr sz="1800"/>
            </a:p>
          </p:txBody>
        </p:sp>
        <p:cxnSp>
          <p:nvCxnSpPr>
            <p:cNvPr id="1038" name="Google Shape;1038;p62"/>
            <p:cNvCxnSpPr>
              <a:stCxn id="1037" idx="2"/>
              <a:endCxn id="1031" idx="0"/>
            </p:cNvCxnSpPr>
            <p:nvPr/>
          </p:nvCxnSpPr>
          <p:spPr>
            <a:xfrm flipH="1">
              <a:off x="521607" y="3659705"/>
              <a:ext cx="1390200" cy="271800"/>
            </a:xfrm>
            <a:prstGeom prst="straightConnector1">
              <a:avLst/>
            </a:prstGeom>
            <a:noFill/>
            <a:ln cap="flat" cmpd="sng" w="19050">
              <a:solidFill>
                <a:srgbClr val="666666"/>
              </a:solidFill>
              <a:prstDash val="solid"/>
              <a:round/>
              <a:headEnd len="med" w="med" type="none"/>
              <a:tailEnd len="med" w="med" type="none"/>
            </a:ln>
          </p:spPr>
        </p:cxnSp>
        <p:cxnSp>
          <p:nvCxnSpPr>
            <p:cNvPr id="1039" name="Google Shape;1039;p62"/>
            <p:cNvCxnSpPr>
              <a:stCxn id="1037" idx="2"/>
              <a:endCxn id="1036" idx="0"/>
            </p:cNvCxnSpPr>
            <p:nvPr/>
          </p:nvCxnSpPr>
          <p:spPr>
            <a:xfrm>
              <a:off x="1911807" y="3659705"/>
              <a:ext cx="274500" cy="271800"/>
            </a:xfrm>
            <a:prstGeom prst="straightConnector1">
              <a:avLst/>
            </a:prstGeom>
            <a:noFill/>
            <a:ln cap="flat" cmpd="sng" w="19050">
              <a:solidFill>
                <a:srgbClr val="666666"/>
              </a:solidFill>
              <a:prstDash val="solid"/>
              <a:round/>
              <a:headEnd len="med" w="med" type="none"/>
              <a:tailEnd len="med" w="med" type="none"/>
            </a:ln>
          </p:spPr>
        </p:cxnSp>
        <p:sp>
          <p:nvSpPr>
            <p:cNvPr id="1040" name="Google Shape;1040;p62"/>
            <p:cNvSpPr/>
            <p:nvPr/>
          </p:nvSpPr>
          <p:spPr>
            <a:xfrm>
              <a:off x="1196845" y="4481988"/>
              <a:ext cx="4659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14</a:t>
              </a:r>
              <a:endParaRPr sz="1800"/>
            </a:p>
          </p:txBody>
        </p:sp>
        <p:sp>
          <p:nvSpPr>
            <p:cNvPr id="1041" name="Google Shape;1041;p62"/>
            <p:cNvSpPr/>
            <p:nvPr/>
          </p:nvSpPr>
          <p:spPr>
            <a:xfrm>
              <a:off x="2283658" y="4481988"/>
              <a:ext cx="5010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18</a:t>
              </a:r>
              <a:endParaRPr sz="1800"/>
            </a:p>
          </p:txBody>
        </p:sp>
        <p:cxnSp>
          <p:nvCxnSpPr>
            <p:cNvPr id="1042" name="Google Shape;1042;p62"/>
            <p:cNvCxnSpPr>
              <a:stCxn id="1040" idx="0"/>
            </p:cNvCxnSpPr>
            <p:nvPr/>
          </p:nvCxnSpPr>
          <p:spPr>
            <a:xfrm flipH="1" rot="10800000">
              <a:off x="1429795" y="4268688"/>
              <a:ext cx="198000" cy="213300"/>
            </a:xfrm>
            <a:prstGeom prst="straightConnector1">
              <a:avLst/>
            </a:prstGeom>
            <a:noFill/>
            <a:ln cap="flat" cmpd="sng" w="19050">
              <a:solidFill>
                <a:srgbClr val="666666"/>
              </a:solidFill>
              <a:prstDash val="solid"/>
              <a:round/>
              <a:headEnd len="med" w="med" type="none"/>
              <a:tailEnd len="med" w="med" type="none"/>
            </a:ln>
          </p:spPr>
        </p:cxnSp>
        <p:cxnSp>
          <p:nvCxnSpPr>
            <p:cNvPr id="1043" name="Google Shape;1043;p62"/>
            <p:cNvCxnSpPr>
              <a:stCxn id="1041" idx="0"/>
            </p:cNvCxnSpPr>
            <p:nvPr/>
          </p:nvCxnSpPr>
          <p:spPr>
            <a:xfrm rot="10800000">
              <a:off x="2205358" y="4268688"/>
              <a:ext cx="328800" cy="213300"/>
            </a:xfrm>
            <a:prstGeom prst="straightConnector1">
              <a:avLst/>
            </a:prstGeom>
            <a:noFill/>
            <a:ln cap="flat" cmpd="sng" w="19050">
              <a:solidFill>
                <a:srgbClr val="666666"/>
              </a:solidFill>
              <a:prstDash val="solid"/>
              <a:round/>
              <a:headEnd len="med" w="med" type="none"/>
              <a:tailEnd len="med" w="med" type="none"/>
            </a:ln>
          </p:spPr>
        </p:cxnSp>
        <p:sp>
          <p:nvSpPr>
            <p:cNvPr id="1044" name="Google Shape;1044;p62"/>
            <p:cNvSpPr/>
            <p:nvPr/>
          </p:nvSpPr>
          <p:spPr>
            <a:xfrm>
              <a:off x="1720561" y="4481988"/>
              <a:ext cx="5010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16</a:t>
              </a:r>
              <a:endParaRPr sz="1800"/>
            </a:p>
          </p:txBody>
        </p:sp>
        <p:cxnSp>
          <p:nvCxnSpPr>
            <p:cNvPr id="1045" name="Google Shape;1045;p62"/>
            <p:cNvCxnSpPr>
              <a:endCxn id="1044" idx="0"/>
            </p:cNvCxnSpPr>
            <p:nvPr/>
          </p:nvCxnSpPr>
          <p:spPr>
            <a:xfrm>
              <a:off x="1931461" y="4259688"/>
              <a:ext cx="39600" cy="222300"/>
            </a:xfrm>
            <a:prstGeom prst="straightConnector1">
              <a:avLst/>
            </a:prstGeom>
            <a:noFill/>
            <a:ln cap="flat" cmpd="sng" w="19050">
              <a:solidFill>
                <a:srgbClr val="666666"/>
              </a:solidFill>
              <a:prstDash val="solid"/>
              <a:round/>
              <a:headEnd len="med" w="med" type="none"/>
              <a:tailEnd len="med" w="med" type="none"/>
            </a:ln>
          </p:spPr>
        </p:cxnSp>
        <p:sp>
          <p:nvSpPr>
            <p:cNvPr id="1046" name="Google Shape;1046;p62"/>
            <p:cNvSpPr/>
            <p:nvPr/>
          </p:nvSpPr>
          <p:spPr>
            <a:xfrm>
              <a:off x="2828840" y="4481988"/>
              <a:ext cx="17067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20  21  25  26</a:t>
              </a:r>
              <a:endParaRPr sz="1800"/>
            </a:p>
          </p:txBody>
        </p:sp>
        <p:cxnSp>
          <p:nvCxnSpPr>
            <p:cNvPr id="1047" name="Google Shape;1047;p62"/>
            <p:cNvCxnSpPr>
              <a:stCxn id="1046" idx="0"/>
            </p:cNvCxnSpPr>
            <p:nvPr/>
          </p:nvCxnSpPr>
          <p:spPr>
            <a:xfrm rot="10800000">
              <a:off x="2744390" y="4259688"/>
              <a:ext cx="937800" cy="222300"/>
            </a:xfrm>
            <a:prstGeom prst="straightConnector1">
              <a:avLst/>
            </a:prstGeom>
            <a:noFill/>
            <a:ln cap="flat" cmpd="sng" w="19050">
              <a:solidFill>
                <a:schemeClr val="dk2"/>
              </a:solidFill>
              <a:prstDash val="solid"/>
              <a:round/>
              <a:headEnd len="med" w="med" type="none"/>
              <a:tailEnd len="med" w="med" type="none"/>
            </a:ln>
          </p:spPr>
        </p:cxnSp>
      </p:grpSp>
      <p:grpSp>
        <p:nvGrpSpPr>
          <p:cNvPr id="1048" name="Google Shape;1048;p62"/>
          <p:cNvGrpSpPr/>
          <p:nvPr/>
        </p:nvGrpSpPr>
        <p:grpSpPr>
          <a:xfrm>
            <a:off x="98330" y="3455992"/>
            <a:ext cx="4414246" cy="1472083"/>
            <a:chOff x="98330" y="3455992"/>
            <a:chExt cx="4414246" cy="1472083"/>
          </a:xfrm>
        </p:grpSpPr>
        <p:grpSp>
          <p:nvGrpSpPr>
            <p:cNvPr id="1049" name="Google Shape;1049;p62"/>
            <p:cNvGrpSpPr/>
            <p:nvPr/>
          </p:nvGrpSpPr>
          <p:grpSpPr>
            <a:xfrm>
              <a:off x="98330" y="3455992"/>
              <a:ext cx="4414246" cy="1472083"/>
              <a:chOff x="-61695" y="3334805"/>
              <a:chExt cx="4414246" cy="1472083"/>
            </a:xfrm>
          </p:grpSpPr>
          <p:sp>
            <p:nvSpPr>
              <p:cNvPr id="1050" name="Google Shape;1050;p62"/>
              <p:cNvSpPr/>
              <p:nvPr/>
            </p:nvSpPr>
            <p:spPr>
              <a:xfrm>
                <a:off x="276393" y="3931538"/>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5</a:t>
                </a:r>
                <a:endParaRPr sz="1800"/>
              </a:p>
            </p:txBody>
          </p:sp>
          <p:sp>
            <p:nvSpPr>
              <p:cNvPr id="1051" name="Google Shape;1051;p62"/>
              <p:cNvSpPr/>
              <p:nvPr/>
            </p:nvSpPr>
            <p:spPr>
              <a:xfrm>
                <a:off x="-61695" y="4481988"/>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a:t>
                </a:r>
                <a:endParaRPr sz="1800"/>
              </a:p>
            </p:txBody>
          </p:sp>
          <p:sp>
            <p:nvSpPr>
              <p:cNvPr id="1052" name="Google Shape;1052;p62"/>
              <p:cNvSpPr/>
              <p:nvPr/>
            </p:nvSpPr>
            <p:spPr>
              <a:xfrm>
                <a:off x="615581" y="4481988"/>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7</a:t>
                </a:r>
                <a:endParaRPr sz="1800"/>
              </a:p>
            </p:txBody>
          </p:sp>
          <p:cxnSp>
            <p:nvCxnSpPr>
              <p:cNvPr id="1053" name="Google Shape;1053;p62"/>
              <p:cNvCxnSpPr>
                <a:stCxn id="1051" idx="0"/>
                <a:endCxn id="1050" idx="2"/>
              </p:cNvCxnSpPr>
              <p:nvPr/>
            </p:nvCxnSpPr>
            <p:spPr>
              <a:xfrm flipH="1" rot="10800000">
                <a:off x="183555" y="4256388"/>
                <a:ext cx="338100" cy="225600"/>
              </a:xfrm>
              <a:prstGeom prst="straightConnector1">
                <a:avLst/>
              </a:prstGeom>
              <a:noFill/>
              <a:ln cap="flat" cmpd="sng" w="19050">
                <a:solidFill>
                  <a:srgbClr val="666666"/>
                </a:solidFill>
                <a:prstDash val="solid"/>
                <a:round/>
                <a:headEnd len="med" w="med" type="none"/>
                <a:tailEnd len="med" w="med" type="none"/>
              </a:ln>
            </p:spPr>
          </p:cxnSp>
          <p:cxnSp>
            <p:nvCxnSpPr>
              <p:cNvPr id="1054" name="Google Shape;1054;p62"/>
              <p:cNvCxnSpPr>
                <a:stCxn id="1052" idx="0"/>
                <a:endCxn id="1050" idx="2"/>
              </p:cNvCxnSpPr>
              <p:nvPr/>
            </p:nvCxnSpPr>
            <p:spPr>
              <a:xfrm rot="10800000">
                <a:off x="521531" y="4256388"/>
                <a:ext cx="339300" cy="225600"/>
              </a:xfrm>
              <a:prstGeom prst="straightConnector1">
                <a:avLst/>
              </a:prstGeom>
              <a:noFill/>
              <a:ln cap="flat" cmpd="sng" w="19050">
                <a:solidFill>
                  <a:srgbClr val="666666"/>
                </a:solidFill>
                <a:prstDash val="solid"/>
                <a:round/>
                <a:headEnd len="med" w="med" type="none"/>
                <a:tailEnd len="med" w="med" type="none"/>
              </a:ln>
            </p:spPr>
          </p:cxnSp>
          <p:sp>
            <p:nvSpPr>
              <p:cNvPr id="1055" name="Google Shape;1055;p62"/>
              <p:cNvSpPr/>
              <p:nvPr/>
            </p:nvSpPr>
            <p:spPr>
              <a:xfrm>
                <a:off x="1580675" y="3931539"/>
                <a:ext cx="15990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15  17  19  21</a:t>
                </a:r>
                <a:endParaRPr sz="1800"/>
              </a:p>
            </p:txBody>
          </p:sp>
          <p:sp>
            <p:nvSpPr>
              <p:cNvPr id="1056" name="Google Shape;1056;p62"/>
              <p:cNvSpPr/>
              <p:nvPr/>
            </p:nvSpPr>
            <p:spPr>
              <a:xfrm>
                <a:off x="1666557" y="333480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13</a:t>
                </a:r>
                <a:endParaRPr sz="1800"/>
              </a:p>
            </p:txBody>
          </p:sp>
          <p:cxnSp>
            <p:nvCxnSpPr>
              <p:cNvPr id="1057" name="Google Shape;1057;p62"/>
              <p:cNvCxnSpPr>
                <a:stCxn id="1056" idx="2"/>
                <a:endCxn id="1050" idx="0"/>
              </p:cNvCxnSpPr>
              <p:nvPr/>
            </p:nvCxnSpPr>
            <p:spPr>
              <a:xfrm flipH="1">
                <a:off x="521607" y="3659705"/>
                <a:ext cx="1390200" cy="271800"/>
              </a:xfrm>
              <a:prstGeom prst="straightConnector1">
                <a:avLst/>
              </a:prstGeom>
              <a:noFill/>
              <a:ln cap="flat" cmpd="sng" w="19050">
                <a:solidFill>
                  <a:srgbClr val="666666"/>
                </a:solidFill>
                <a:prstDash val="solid"/>
                <a:round/>
                <a:headEnd len="med" w="med" type="none"/>
                <a:tailEnd len="med" w="med" type="none"/>
              </a:ln>
            </p:spPr>
          </p:cxnSp>
          <p:cxnSp>
            <p:nvCxnSpPr>
              <p:cNvPr id="1058" name="Google Shape;1058;p62"/>
              <p:cNvCxnSpPr>
                <a:stCxn id="1056" idx="2"/>
                <a:endCxn id="1055" idx="0"/>
              </p:cNvCxnSpPr>
              <p:nvPr/>
            </p:nvCxnSpPr>
            <p:spPr>
              <a:xfrm>
                <a:off x="1911807" y="3659705"/>
                <a:ext cx="468300" cy="271800"/>
              </a:xfrm>
              <a:prstGeom prst="straightConnector1">
                <a:avLst/>
              </a:prstGeom>
              <a:noFill/>
              <a:ln cap="flat" cmpd="sng" w="19050">
                <a:solidFill>
                  <a:srgbClr val="666666"/>
                </a:solidFill>
                <a:prstDash val="solid"/>
                <a:round/>
                <a:headEnd len="med" w="med" type="none"/>
                <a:tailEnd len="med" w="med" type="none"/>
              </a:ln>
            </p:spPr>
          </p:cxnSp>
          <p:sp>
            <p:nvSpPr>
              <p:cNvPr id="1059" name="Google Shape;1059;p62"/>
              <p:cNvSpPr/>
              <p:nvPr/>
            </p:nvSpPr>
            <p:spPr>
              <a:xfrm>
                <a:off x="1196845" y="4481988"/>
                <a:ext cx="4659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14</a:t>
                </a:r>
                <a:endParaRPr sz="1800"/>
              </a:p>
            </p:txBody>
          </p:sp>
          <p:sp>
            <p:nvSpPr>
              <p:cNvPr id="1060" name="Google Shape;1060;p62"/>
              <p:cNvSpPr/>
              <p:nvPr/>
            </p:nvSpPr>
            <p:spPr>
              <a:xfrm>
                <a:off x="2283658" y="4481988"/>
                <a:ext cx="5010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18</a:t>
                </a:r>
                <a:endParaRPr sz="1800"/>
              </a:p>
            </p:txBody>
          </p:sp>
          <p:cxnSp>
            <p:nvCxnSpPr>
              <p:cNvPr id="1061" name="Google Shape;1061;p62"/>
              <p:cNvCxnSpPr>
                <a:stCxn id="1059" idx="0"/>
              </p:cNvCxnSpPr>
              <p:nvPr/>
            </p:nvCxnSpPr>
            <p:spPr>
              <a:xfrm flipH="1" rot="10800000">
                <a:off x="1429795" y="4268688"/>
                <a:ext cx="198000" cy="213300"/>
              </a:xfrm>
              <a:prstGeom prst="straightConnector1">
                <a:avLst/>
              </a:prstGeom>
              <a:noFill/>
              <a:ln cap="flat" cmpd="sng" w="19050">
                <a:solidFill>
                  <a:srgbClr val="666666"/>
                </a:solidFill>
                <a:prstDash val="solid"/>
                <a:round/>
                <a:headEnd len="med" w="med" type="none"/>
                <a:tailEnd len="med" w="med" type="none"/>
              </a:ln>
            </p:spPr>
          </p:cxnSp>
          <p:cxnSp>
            <p:nvCxnSpPr>
              <p:cNvPr id="1062" name="Google Shape;1062;p62"/>
              <p:cNvCxnSpPr>
                <a:stCxn id="1060" idx="0"/>
              </p:cNvCxnSpPr>
              <p:nvPr/>
            </p:nvCxnSpPr>
            <p:spPr>
              <a:xfrm rot="10800000">
                <a:off x="2410858" y="4269588"/>
                <a:ext cx="123300" cy="212400"/>
              </a:xfrm>
              <a:prstGeom prst="straightConnector1">
                <a:avLst/>
              </a:prstGeom>
              <a:noFill/>
              <a:ln cap="flat" cmpd="sng" w="19050">
                <a:solidFill>
                  <a:srgbClr val="666666"/>
                </a:solidFill>
                <a:prstDash val="solid"/>
                <a:round/>
                <a:headEnd len="med" w="med" type="none"/>
                <a:tailEnd len="med" w="med" type="none"/>
              </a:ln>
            </p:spPr>
          </p:cxnSp>
          <p:sp>
            <p:nvSpPr>
              <p:cNvPr id="1063" name="Google Shape;1063;p62"/>
              <p:cNvSpPr/>
              <p:nvPr/>
            </p:nvSpPr>
            <p:spPr>
              <a:xfrm>
                <a:off x="1720561" y="4481988"/>
                <a:ext cx="5010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16</a:t>
                </a:r>
                <a:endParaRPr sz="1800"/>
              </a:p>
            </p:txBody>
          </p:sp>
          <p:cxnSp>
            <p:nvCxnSpPr>
              <p:cNvPr id="1064" name="Google Shape;1064;p62"/>
              <p:cNvCxnSpPr>
                <a:endCxn id="1063" idx="0"/>
              </p:cNvCxnSpPr>
              <p:nvPr/>
            </p:nvCxnSpPr>
            <p:spPr>
              <a:xfrm>
                <a:off x="1931461" y="4259688"/>
                <a:ext cx="39600" cy="222300"/>
              </a:xfrm>
              <a:prstGeom prst="straightConnector1">
                <a:avLst/>
              </a:prstGeom>
              <a:noFill/>
              <a:ln cap="flat" cmpd="sng" w="19050">
                <a:solidFill>
                  <a:srgbClr val="666666"/>
                </a:solidFill>
                <a:prstDash val="solid"/>
                <a:round/>
                <a:headEnd len="med" w="med" type="none"/>
                <a:tailEnd len="med" w="med" type="none"/>
              </a:ln>
            </p:spPr>
          </p:cxnSp>
          <p:sp>
            <p:nvSpPr>
              <p:cNvPr id="1065" name="Google Shape;1065;p62"/>
              <p:cNvSpPr/>
              <p:nvPr/>
            </p:nvSpPr>
            <p:spPr>
              <a:xfrm>
                <a:off x="3514651" y="4481989"/>
                <a:ext cx="8379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25  26</a:t>
                </a:r>
                <a:endParaRPr sz="1800"/>
              </a:p>
            </p:txBody>
          </p:sp>
          <p:cxnSp>
            <p:nvCxnSpPr>
              <p:cNvPr id="1066" name="Google Shape;1066;p62"/>
              <p:cNvCxnSpPr>
                <a:stCxn id="1065" idx="0"/>
              </p:cNvCxnSpPr>
              <p:nvPr/>
            </p:nvCxnSpPr>
            <p:spPr>
              <a:xfrm rot="10800000">
                <a:off x="2995801" y="4259689"/>
                <a:ext cx="937800" cy="222300"/>
              </a:xfrm>
              <a:prstGeom prst="straightConnector1">
                <a:avLst/>
              </a:prstGeom>
              <a:noFill/>
              <a:ln cap="flat" cmpd="sng" w="19050">
                <a:solidFill>
                  <a:schemeClr val="dk2"/>
                </a:solidFill>
                <a:prstDash val="solid"/>
                <a:round/>
                <a:headEnd len="med" w="med" type="none"/>
                <a:tailEnd len="med" w="med" type="none"/>
              </a:ln>
            </p:spPr>
          </p:cxnSp>
        </p:grpSp>
        <p:sp>
          <p:nvSpPr>
            <p:cNvPr id="1067" name="Google Shape;1067;p62"/>
            <p:cNvSpPr/>
            <p:nvPr/>
          </p:nvSpPr>
          <p:spPr>
            <a:xfrm>
              <a:off x="3037833" y="4603174"/>
              <a:ext cx="5010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20</a:t>
              </a:r>
              <a:endParaRPr sz="1800"/>
            </a:p>
          </p:txBody>
        </p:sp>
        <p:cxnSp>
          <p:nvCxnSpPr>
            <p:cNvPr id="1068" name="Google Shape;1068;p62"/>
            <p:cNvCxnSpPr>
              <a:endCxn id="1067" idx="0"/>
            </p:cNvCxnSpPr>
            <p:nvPr/>
          </p:nvCxnSpPr>
          <p:spPr>
            <a:xfrm>
              <a:off x="2941833" y="4382074"/>
              <a:ext cx="346500" cy="221100"/>
            </a:xfrm>
            <a:prstGeom prst="straightConnector1">
              <a:avLst/>
            </a:prstGeom>
            <a:noFill/>
            <a:ln cap="flat" cmpd="sng" w="19050">
              <a:solidFill>
                <a:srgbClr val="666666"/>
              </a:solidFill>
              <a:prstDash val="solid"/>
              <a:round/>
              <a:headEnd len="med" w="med" type="none"/>
              <a:tailEnd len="med" w="med" type="none"/>
            </a:ln>
          </p:spPr>
        </p:cxnSp>
      </p:grpSp>
      <p:grpSp>
        <p:nvGrpSpPr>
          <p:cNvPr id="1069" name="Google Shape;1069;p62"/>
          <p:cNvGrpSpPr/>
          <p:nvPr/>
        </p:nvGrpSpPr>
        <p:grpSpPr>
          <a:xfrm>
            <a:off x="4661495" y="3456000"/>
            <a:ext cx="2843647" cy="1472074"/>
            <a:chOff x="4661495" y="3456000"/>
            <a:chExt cx="2843647" cy="1472074"/>
          </a:xfrm>
        </p:grpSpPr>
        <p:sp>
          <p:nvSpPr>
            <p:cNvPr id="1070" name="Google Shape;1070;p62"/>
            <p:cNvSpPr/>
            <p:nvPr/>
          </p:nvSpPr>
          <p:spPr>
            <a:xfrm>
              <a:off x="4999583" y="4052724"/>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5</a:t>
              </a:r>
              <a:endParaRPr sz="1800"/>
            </a:p>
          </p:txBody>
        </p:sp>
        <p:sp>
          <p:nvSpPr>
            <p:cNvPr id="1071" name="Google Shape;1071;p62"/>
            <p:cNvSpPr/>
            <p:nvPr/>
          </p:nvSpPr>
          <p:spPr>
            <a:xfrm>
              <a:off x="4661495" y="4603174"/>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a:t>
              </a:r>
              <a:endParaRPr sz="1800"/>
            </a:p>
          </p:txBody>
        </p:sp>
        <p:sp>
          <p:nvSpPr>
            <p:cNvPr id="1072" name="Google Shape;1072;p62"/>
            <p:cNvSpPr/>
            <p:nvPr/>
          </p:nvSpPr>
          <p:spPr>
            <a:xfrm>
              <a:off x="5338772" y="4603174"/>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7</a:t>
              </a:r>
              <a:endParaRPr sz="1800"/>
            </a:p>
          </p:txBody>
        </p:sp>
        <p:cxnSp>
          <p:nvCxnSpPr>
            <p:cNvPr id="1073" name="Google Shape;1073;p62"/>
            <p:cNvCxnSpPr>
              <a:stCxn id="1071" idx="0"/>
              <a:endCxn id="1070" idx="2"/>
            </p:cNvCxnSpPr>
            <p:nvPr/>
          </p:nvCxnSpPr>
          <p:spPr>
            <a:xfrm flipH="1" rot="10800000">
              <a:off x="4906745" y="4377574"/>
              <a:ext cx="338100" cy="225600"/>
            </a:xfrm>
            <a:prstGeom prst="straightConnector1">
              <a:avLst/>
            </a:prstGeom>
            <a:noFill/>
            <a:ln cap="flat" cmpd="sng" w="19050">
              <a:solidFill>
                <a:srgbClr val="666666"/>
              </a:solidFill>
              <a:prstDash val="solid"/>
              <a:round/>
              <a:headEnd len="med" w="med" type="none"/>
              <a:tailEnd len="med" w="med" type="none"/>
            </a:ln>
          </p:spPr>
        </p:cxnSp>
        <p:cxnSp>
          <p:nvCxnSpPr>
            <p:cNvPr id="1074" name="Google Shape;1074;p62"/>
            <p:cNvCxnSpPr>
              <a:stCxn id="1072" idx="0"/>
              <a:endCxn id="1070" idx="2"/>
            </p:cNvCxnSpPr>
            <p:nvPr/>
          </p:nvCxnSpPr>
          <p:spPr>
            <a:xfrm rot="10800000">
              <a:off x="5244722" y="4377574"/>
              <a:ext cx="339300" cy="225600"/>
            </a:xfrm>
            <a:prstGeom prst="straightConnector1">
              <a:avLst/>
            </a:prstGeom>
            <a:noFill/>
            <a:ln cap="flat" cmpd="sng" w="19050">
              <a:solidFill>
                <a:srgbClr val="666666"/>
              </a:solidFill>
              <a:prstDash val="solid"/>
              <a:round/>
              <a:headEnd len="med" w="med" type="none"/>
              <a:tailEnd len="med" w="med" type="none"/>
            </a:ln>
          </p:spPr>
        </p:cxnSp>
        <p:sp>
          <p:nvSpPr>
            <p:cNvPr id="1075" name="Google Shape;1075;p62"/>
            <p:cNvSpPr/>
            <p:nvPr/>
          </p:nvSpPr>
          <p:spPr>
            <a:xfrm>
              <a:off x="6389742" y="3456000"/>
              <a:ext cx="11154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13  17</a:t>
              </a:r>
              <a:endParaRPr sz="1800"/>
            </a:p>
          </p:txBody>
        </p:sp>
        <p:cxnSp>
          <p:nvCxnSpPr>
            <p:cNvPr id="1076" name="Google Shape;1076;p62"/>
            <p:cNvCxnSpPr>
              <a:stCxn id="1075" idx="2"/>
              <a:endCxn id="1070" idx="0"/>
            </p:cNvCxnSpPr>
            <p:nvPr/>
          </p:nvCxnSpPr>
          <p:spPr>
            <a:xfrm flipH="1">
              <a:off x="5244942" y="3780900"/>
              <a:ext cx="1702500" cy="271800"/>
            </a:xfrm>
            <a:prstGeom prst="straightConnector1">
              <a:avLst/>
            </a:prstGeom>
            <a:noFill/>
            <a:ln cap="flat" cmpd="sng" w="19050">
              <a:solidFill>
                <a:srgbClr val="666666"/>
              </a:solidFill>
              <a:prstDash val="solid"/>
              <a:round/>
              <a:headEnd len="med" w="med" type="none"/>
              <a:tailEnd len="med" w="med" type="none"/>
            </a:ln>
          </p:spPr>
        </p:cxnSp>
      </p:grpSp>
      <p:grpSp>
        <p:nvGrpSpPr>
          <p:cNvPr id="1077" name="Google Shape;1077;p62"/>
          <p:cNvGrpSpPr/>
          <p:nvPr/>
        </p:nvGrpSpPr>
        <p:grpSpPr>
          <a:xfrm>
            <a:off x="6947442" y="3780900"/>
            <a:ext cx="2128299" cy="1147175"/>
            <a:chOff x="6947442" y="3780900"/>
            <a:chExt cx="2128299" cy="1147175"/>
          </a:xfrm>
        </p:grpSpPr>
        <p:sp>
          <p:nvSpPr>
            <p:cNvPr id="1078" name="Google Shape;1078;p62"/>
            <p:cNvSpPr/>
            <p:nvPr/>
          </p:nvSpPr>
          <p:spPr>
            <a:xfrm>
              <a:off x="7065040" y="4052725"/>
              <a:ext cx="8379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19  21</a:t>
              </a:r>
              <a:endParaRPr sz="1800"/>
            </a:p>
          </p:txBody>
        </p:sp>
        <p:cxnSp>
          <p:nvCxnSpPr>
            <p:cNvPr id="1079" name="Google Shape;1079;p62"/>
            <p:cNvCxnSpPr>
              <a:stCxn id="1075" idx="2"/>
              <a:endCxn id="1078" idx="0"/>
            </p:cNvCxnSpPr>
            <p:nvPr/>
          </p:nvCxnSpPr>
          <p:spPr>
            <a:xfrm>
              <a:off x="6947442" y="3780900"/>
              <a:ext cx="536400" cy="271800"/>
            </a:xfrm>
            <a:prstGeom prst="straightConnector1">
              <a:avLst/>
            </a:prstGeom>
            <a:noFill/>
            <a:ln cap="flat" cmpd="sng" w="19050">
              <a:solidFill>
                <a:srgbClr val="666666"/>
              </a:solidFill>
              <a:prstDash val="solid"/>
              <a:round/>
              <a:headEnd len="med" w="med" type="none"/>
              <a:tailEnd len="med" w="med" type="none"/>
            </a:ln>
          </p:spPr>
        </p:cxnSp>
        <p:sp>
          <p:nvSpPr>
            <p:cNvPr id="1080" name="Google Shape;1080;p62"/>
            <p:cNvSpPr/>
            <p:nvPr/>
          </p:nvSpPr>
          <p:spPr>
            <a:xfrm>
              <a:off x="7006848" y="4603174"/>
              <a:ext cx="5010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18</a:t>
              </a:r>
              <a:endParaRPr sz="1800"/>
            </a:p>
          </p:txBody>
        </p:sp>
        <p:cxnSp>
          <p:nvCxnSpPr>
            <p:cNvPr id="1081" name="Google Shape;1081;p62"/>
            <p:cNvCxnSpPr>
              <a:stCxn id="1080" idx="0"/>
            </p:cNvCxnSpPr>
            <p:nvPr/>
          </p:nvCxnSpPr>
          <p:spPr>
            <a:xfrm rot="10800000">
              <a:off x="7244448" y="4390774"/>
              <a:ext cx="12900" cy="212400"/>
            </a:xfrm>
            <a:prstGeom prst="straightConnector1">
              <a:avLst/>
            </a:prstGeom>
            <a:noFill/>
            <a:ln cap="flat" cmpd="sng" w="19050">
              <a:solidFill>
                <a:srgbClr val="666666"/>
              </a:solidFill>
              <a:prstDash val="solid"/>
              <a:round/>
              <a:headEnd len="med" w="med" type="none"/>
              <a:tailEnd len="med" w="med" type="none"/>
            </a:ln>
          </p:spPr>
        </p:cxnSp>
        <p:sp>
          <p:nvSpPr>
            <p:cNvPr id="1082" name="Google Shape;1082;p62"/>
            <p:cNvSpPr/>
            <p:nvPr/>
          </p:nvSpPr>
          <p:spPr>
            <a:xfrm>
              <a:off x="8237841" y="4603175"/>
              <a:ext cx="8379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25  26</a:t>
              </a:r>
              <a:endParaRPr sz="1800"/>
            </a:p>
          </p:txBody>
        </p:sp>
        <p:cxnSp>
          <p:nvCxnSpPr>
            <p:cNvPr id="1083" name="Google Shape;1083;p62"/>
            <p:cNvCxnSpPr>
              <a:stCxn id="1082" idx="0"/>
            </p:cNvCxnSpPr>
            <p:nvPr/>
          </p:nvCxnSpPr>
          <p:spPr>
            <a:xfrm rot="10800000">
              <a:off x="7718991" y="4380875"/>
              <a:ext cx="937800" cy="222300"/>
            </a:xfrm>
            <a:prstGeom prst="straightConnector1">
              <a:avLst/>
            </a:prstGeom>
            <a:noFill/>
            <a:ln cap="flat" cmpd="sng" w="19050">
              <a:solidFill>
                <a:schemeClr val="dk2"/>
              </a:solidFill>
              <a:prstDash val="solid"/>
              <a:round/>
              <a:headEnd len="med" w="med" type="none"/>
              <a:tailEnd len="med" w="med" type="none"/>
            </a:ln>
          </p:spPr>
        </p:cxnSp>
        <p:sp>
          <p:nvSpPr>
            <p:cNvPr id="1084" name="Google Shape;1084;p62"/>
            <p:cNvSpPr/>
            <p:nvPr/>
          </p:nvSpPr>
          <p:spPr>
            <a:xfrm>
              <a:off x="7592163" y="4603174"/>
              <a:ext cx="5010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20</a:t>
              </a:r>
              <a:endParaRPr sz="1800"/>
            </a:p>
          </p:txBody>
        </p:sp>
        <p:cxnSp>
          <p:nvCxnSpPr>
            <p:cNvPr id="1085" name="Google Shape;1085;p62"/>
            <p:cNvCxnSpPr>
              <a:endCxn id="1084" idx="0"/>
            </p:cNvCxnSpPr>
            <p:nvPr/>
          </p:nvCxnSpPr>
          <p:spPr>
            <a:xfrm>
              <a:off x="7496163" y="4382074"/>
              <a:ext cx="346500" cy="221100"/>
            </a:xfrm>
            <a:prstGeom prst="straightConnector1">
              <a:avLst/>
            </a:prstGeom>
            <a:noFill/>
            <a:ln cap="flat" cmpd="sng" w="19050">
              <a:solidFill>
                <a:srgbClr val="666666"/>
              </a:solidFill>
              <a:prstDash val="solid"/>
              <a:round/>
              <a:headEnd len="med" w="med" type="none"/>
              <a:tailEnd len="med" w="med" type="none"/>
            </a:ln>
          </p:spPr>
        </p:cxnSp>
      </p:grpSp>
      <p:grpSp>
        <p:nvGrpSpPr>
          <p:cNvPr id="1086" name="Google Shape;1086;p62"/>
          <p:cNvGrpSpPr/>
          <p:nvPr/>
        </p:nvGrpSpPr>
        <p:grpSpPr>
          <a:xfrm>
            <a:off x="5920035" y="3780874"/>
            <a:ext cx="1027376" cy="1147200"/>
            <a:chOff x="5920035" y="3780874"/>
            <a:chExt cx="1027376" cy="1147200"/>
          </a:xfrm>
        </p:grpSpPr>
        <p:sp>
          <p:nvSpPr>
            <p:cNvPr id="1087" name="Google Shape;1087;p62"/>
            <p:cNvSpPr/>
            <p:nvPr/>
          </p:nvSpPr>
          <p:spPr>
            <a:xfrm>
              <a:off x="5920035" y="4603174"/>
              <a:ext cx="4659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14</a:t>
              </a:r>
              <a:endParaRPr sz="1800"/>
            </a:p>
          </p:txBody>
        </p:sp>
        <p:cxnSp>
          <p:nvCxnSpPr>
            <p:cNvPr id="1088" name="Google Shape;1088;p62"/>
            <p:cNvCxnSpPr>
              <a:stCxn id="1087" idx="0"/>
            </p:cNvCxnSpPr>
            <p:nvPr/>
          </p:nvCxnSpPr>
          <p:spPr>
            <a:xfrm flipH="1" rot="10800000">
              <a:off x="6152985" y="4389874"/>
              <a:ext cx="198000" cy="213300"/>
            </a:xfrm>
            <a:prstGeom prst="straightConnector1">
              <a:avLst/>
            </a:prstGeom>
            <a:noFill/>
            <a:ln cap="flat" cmpd="sng" w="19050">
              <a:solidFill>
                <a:srgbClr val="666666"/>
              </a:solidFill>
              <a:prstDash val="solid"/>
              <a:round/>
              <a:headEnd len="med" w="med" type="none"/>
              <a:tailEnd len="med" w="med" type="none"/>
            </a:ln>
          </p:spPr>
        </p:cxnSp>
        <p:sp>
          <p:nvSpPr>
            <p:cNvPr id="1089" name="Google Shape;1089;p62"/>
            <p:cNvSpPr/>
            <p:nvPr/>
          </p:nvSpPr>
          <p:spPr>
            <a:xfrm>
              <a:off x="6443751" y="4603174"/>
              <a:ext cx="5010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16</a:t>
              </a:r>
              <a:endParaRPr sz="1800"/>
            </a:p>
          </p:txBody>
        </p:sp>
        <p:cxnSp>
          <p:nvCxnSpPr>
            <p:cNvPr id="1090" name="Google Shape;1090;p62"/>
            <p:cNvCxnSpPr>
              <a:endCxn id="1089" idx="0"/>
            </p:cNvCxnSpPr>
            <p:nvPr/>
          </p:nvCxnSpPr>
          <p:spPr>
            <a:xfrm>
              <a:off x="6654651" y="4380874"/>
              <a:ext cx="39600" cy="222300"/>
            </a:xfrm>
            <a:prstGeom prst="straightConnector1">
              <a:avLst/>
            </a:prstGeom>
            <a:noFill/>
            <a:ln cap="flat" cmpd="sng" w="19050">
              <a:solidFill>
                <a:srgbClr val="666666"/>
              </a:solidFill>
              <a:prstDash val="solid"/>
              <a:round/>
              <a:headEnd len="med" w="med" type="none"/>
              <a:tailEnd len="med" w="med" type="none"/>
            </a:ln>
          </p:spPr>
        </p:cxnSp>
        <p:sp>
          <p:nvSpPr>
            <p:cNvPr id="1091" name="Google Shape;1091;p62"/>
            <p:cNvSpPr/>
            <p:nvPr/>
          </p:nvSpPr>
          <p:spPr>
            <a:xfrm>
              <a:off x="6278111" y="4057174"/>
              <a:ext cx="5010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15</a:t>
              </a:r>
              <a:endParaRPr sz="1800"/>
            </a:p>
          </p:txBody>
        </p:sp>
        <p:cxnSp>
          <p:nvCxnSpPr>
            <p:cNvPr id="1092" name="Google Shape;1092;p62"/>
            <p:cNvCxnSpPr>
              <a:stCxn id="1091" idx="0"/>
              <a:endCxn id="1075" idx="2"/>
            </p:cNvCxnSpPr>
            <p:nvPr/>
          </p:nvCxnSpPr>
          <p:spPr>
            <a:xfrm flipH="1" rot="10800000">
              <a:off x="6528611" y="3780874"/>
              <a:ext cx="418800" cy="276300"/>
            </a:xfrm>
            <a:prstGeom prst="straightConnector1">
              <a:avLst/>
            </a:prstGeom>
            <a:noFill/>
            <a:ln cap="flat" cmpd="sng" w="19050">
              <a:solidFill>
                <a:srgbClr val="666666"/>
              </a:solidFill>
              <a:prstDash val="solid"/>
              <a:round/>
              <a:headEnd len="med" w="med" type="none"/>
              <a:tailEnd len="med" w="med" type="none"/>
            </a:ln>
          </p:spPr>
        </p:cxnSp>
      </p:grpSp>
      <p:cxnSp>
        <p:nvCxnSpPr>
          <p:cNvPr id="1093" name="Google Shape;1093;p62"/>
          <p:cNvCxnSpPr/>
          <p:nvPr/>
        </p:nvCxnSpPr>
        <p:spPr>
          <a:xfrm flipH="1">
            <a:off x="4171675" y="3383850"/>
            <a:ext cx="621000" cy="309000"/>
          </a:xfrm>
          <a:prstGeom prst="straightConnector1">
            <a:avLst/>
          </a:prstGeom>
          <a:noFill/>
          <a:ln cap="flat" cmpd="sng" w="19050">
            <a:solidFill>
              <a:schemeClr val="dk2"/>
            </a:solidFill>
            <a:prstDash val="solid"/>
            <a:round/>
            <a:headEnd len="med" w="med" type="none"/>
            <a:tailEnd len="med" w="med" type="triangle"/>
          </a:ln>
        </p:spPr>
      </p:cxnSp>
      <p:cxnSp>
        <p:nvCxnSpPr>
          <p:cNvPr id="1094" name="Google Shape;1094;p62"/>
          <p:cNvCxnSpPr/>
          <p:nvPr/>
        </p:nvCxnSpPr>
        <p:spPr>
          <a:xfrm>
            <a:off x="4171675" y="4037538"/>
            <a:ext cx="501900" cy="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3"/>
                                        </p:tgtEl>
                                        <p:attrNameLst>
                                          <p:attrName>style.visibility</p:attrName>
                                        </p:attrNameLst>
                                      </p:cBhvr>
                                      <p:to>
                                        <p:strVal val="visible"/>
                                      </p:to>
                                    </p:set>
                                    <p:animEffect filter="fade" transition="in">
                                      <p:cBhvr>
                                        <p:cTn dur="1"/>
                                        <p:tgtEl>
                                          <p:spTgt spid="10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
                                        </p:tgtEl>
                                        <p:attrNameLst>
                                          <p:attrName>style.visibility</p:attrName>
                                        </p:attrNameLst>
                                      </p:cBhvr>
                                      <p:to>
                                        <p:strVal val="visible"/>
                                      </p:to>
                                    </p:set>
                                    <p:animEffect filter="fade" transition="in">
                                      <p:cBhvr>
                                        <p:cTn dur="1"/>
                                        <p:tgtEl>
                                          <p:spTgt spid="10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4"/>
                                        </p:tgtEl>
                                        <p:attrNameLst>
                                          <p:attrName>style.visibility</p:attrName>
                                        </p:attrNameLst>
                                      </p:cBhvr>
                                      <p:to>
                                        <p:strVal val="visible"/>
                                      </p:to>
                                    </p:set>
                                    <p:animEffect filter="fade" transition="in">
                                      <p:cBhvr>
                                        <p:cTn dur="1"/>
                                        <p:tgtEl>
                                          <p:spTgt spid="10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gtEl>
                                        <p:attrNameLst>
                                          <p:attrName>style.visibility</p:attrName>
                                        </p:attrNameLst>
                                      </p:cBhvr>
                                      <p:to>
                                        <p:strVal val="visible"/>
                                      </p:to>
                                    </p:set>
                                    <p:animEffect filter="fade" transition="in">
                                      <p:cBhvr>
                                        <p:cTn dur="1"/>
                                        <p:tgtEl>
                                          <p:spTgt spid="10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6"/>
                                        </p:tgtEl>
                                        <p:attrNameLst>
                                          <p:attrName>style.visibility</p:attrName>
                                        </p:attrNameLst>
                                      </p:cBhvr>
                                      <p:to>
                                        <p:strVal val="visible"/>
                                      </p:to>
                                    </p:set>
                                    <p:animEffect filter="fade" transition="in">
                                      <p:cBhvr>
                                        <p:cTn dur="1"/>
                                        <p:tgtEl>
                                          <p:spTgt spid="10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7"/>
                                        </p:tgtEl>
                                        <p:attrNameLst>
                                          <p:attrName>style.visibility</p:attrName>
                                        </p:attrNameLst>
                                      </p:cBhvr>
                                      <p:to>
                                        <p:strVal val="visible"/>
                                      </p:to>
                                    </p:set>
                                    <p:animEffect filter="fade" transition="in">
                                      <p:cBhvr>
                                        <p:cTn dur="1"/>
                                        <p:tgtEl>
                                          <p:spTgt spid="10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1098" name="Shape 1098"/>
        <p:cNvGrpSpPr/>
        <p:nvPr/>
      </p:nvGrpSpPr>
      <p:grpSpPr>
        <a:xfrm>
          <a:off x="0" y="0"/>
          <a:ext cx="0" cy="0"/>
          <a:chOff x="0" y="0"/>
          <a:chExt cx="0" cy="0"/>
        </a:xfrm>
      </p:grpSpPr>
      <p:sp>
        <p:nvSpPr>
          <p:cNvPr id="1099" name="Google Shape;1099;p6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Happens If The Root Is Too Full?</a:t>
            </a:r>
            <a:endParaRPr/>
          </a:p>
        </p:txBody>
      </p:sp>
      <p:sp>
        <p:nvSpPr>
          <p:cNvPr id="1100" name="Google Shape;1100;p63"/>
          <p:cNvSpPr txBox="1"/>
          <p:nvPr>
            <p:ph idx="1" type="body"/>
          </p:nvPr>
        </p:nvSpPr>
        <p:spPr>
          <a:xfrm>
            <a:off x="166800" y="4218325"/>
            <a:ext cx="8443800" cy="495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Challenge: Draw the tree after the root is split.</a:t>
            </a:r>
            <a:endParaRPr/>
          </a:p>
        </p:txBody>
      </p:sp>
      <p:sp>
        <p:nvSpPr>
          <p:cNvPr id="1101" name="Google Shape;1101;p63"/>
          <p:cNvSpPr/>
          <p:nvPr/>
        </p:nvSpPr>
        <p:spPr>
          <a:xfrm>
            <a:off x="1869477" y="1560125"/>
            <a:ext cx="8604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19  21</a:t>
            </a:r>
            <a:endParaRPr sz="1800"/>
          </a:p>
        </p:txBody>
      </p:sp>
      <p:sp>
        <p:nvSpPr>
          <p:cNvPr id="1102" name="Google Shape;1102;p63"/>
          <p:cNvSpPr/>
          <p:nvPr/>
        </p:nvSpPr>
        <p:spPr>
          <a:xfrm>
            <a:off x="1212275" y="156012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15</a:t>
            </a:r>
            <a:endParaRPr sz="1800"/>
          </a:p>
        </p:txBody>
      </p:sp>
      <p:sp>
        <p:nvSpPr>
          <p:cNvPr id="1103" name="Google Shape;1103;p63"/>
          <p:cNvSpPr/>
          <p:nvPr/>
        </p:nvSpPr>
        <p:spPr>
          <a:xfrm>
            <a:off x="507966" y="156012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5</a:t>
            </a:r>
            <a:endParaRPr sz="1800"/>
          </a:p>
        </p:txBody>
      </p:sp>
      <p:sp>
        <p:nvSpPr>
          <p:cNvPr id="1104" name="Google Shape;1104;p63"/>
          <p:cNvSpPr/>
          <p:nvPr/>
        </p:nvSpPr>
        <p:spPr>
          <a:xfrm>
            <a:off x="1038025" y="963375"/>
            <a:ext cx="8604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13  17</a:t>
            </a:r>
            <a:endParaRPr sz="1800"/>
          </a:p>
        </p:txBody>
      </p:sp>
      <p:cxnSp>
        <p:nvCxnSpPr>
          <p:cNvPr id="1105" name="Google Shape;1105;p63"/>
          <p:cNvCxnSpPr>
            <a:endCxn id="1103" idx="0"/>
          </p:cNvCxnSpPr>
          <p:nvPr/>
        </p:nvCxnSpPr>
        <p:spPr>
          <a:xfrm flipH="1">
            <a:off x="753216" y="1284125"/>
            <a:ext cx="556200" cy="276000"/>
          </a:xfrm>
          <a:prstGeom prst="straightConnector1">
            <a:avLst/>
          </a:prstGeom>
          <a:noFill/>
          <a:ln cap="flat" cmpd="sng" w="19050">
            <a:solidFill>
              <a:srgbClr val="666666"/>
            </a:solidFill>
            <a:prstDash val="solid"/>
            <a:round/>
            <a:headEnd len="med" w="med" type="none"/>
            <a:tailEnd len="med" w="med" type="none"/>
          </a:ln>
        </p:spPr>
      </p:cxnSp>
      <p:cxnSp>
        <p:nvCxnSpPr>
          <p:cNvPr id="1106" name="Google Shape;1106;p63"/>
          <p:cNvCxnSpPr>
            <a:endCxn id="1101" idx="0"/>
          </p:cNvCxnSpPr>
          <p:nvPr/>
        </p:nvCxnSpPr>
        <p:spPr>
          <a:xfrm>
            <a:off x="1769277" y="1284125"/>
            <a:ext cx="530400" cy="276000"/>
          </a:xfrm>
          <a:prstGeom prst="straightConnector1">
            <a:avLst/>
          </a:prstGeom>
          <a:noFill/>
          <a:ln cap="flat" cmpd="sng" w="19050">
            <a:solidFill>
              <a:srgbClr val="666666"/>
            </a:solidFill>
            <a:prstDash val="solid"/>
            <a:round/>
            <a:headEnd len="med" w="med" type="none"/>
            <a:tailEnd len="med" w="med" type="none"/>
          </a:ln>
        </p:spPr>
      </p:cxnSp>
      <p:cxnSp>
        <p:nvCxnSpPr>
          <p:cNvPr id="1107" name="Google Shape;1107;p63"/>
          <p:cNvCxnSpPr>
            <a:stCxn id="1102" idx="0"/>
            <a:endCxn id="1104" idx="2"/>
          </p:cNvCxnSpPr>
          <p:nvPr/>
        </p:nvCxnSpPr>
        <p:spPr>
          <a:xfrm flipH="1" rot="10800000">
            <a:off x="1457525" y="1288325"/>
            <a:ext cx="10800" cy="271800"/>
          </a:xfrm>
          <a:prstGeom prst="straightConnector1">
            <a:avLst/>
          </a:prstGeom>
          <a:noFill/>
          <a:ln cap="flat" cmpd="sng" w="19050">
            <a:solidFill>
              <a:schemeClr val="dk2"/>
            </a:solidFill>
            <a:prstDash val="solid"/>
            <a:round/>
            <a:headEnd len="med" w="med" type="none"/>
            <a:tailEnd len="med" w="med" type="none"/>
          </a:ln>
        </p:spPr>
      </p:cxnSp>
      <p:grpSp>
        <p:nvGrpSpPr>
          <p:cNvPr id="1108" name="Google Shape;1108;p63"/>
          <p:cNvGrpSpPr/>
          <p:nvPr/>
        </p:nvGrpSpPr>
        <p:grpSpPr>
          <a:xfrm>
            <a:off x="3216216" y="961300"/>
            <a:ext cx="2880559" cy="921650"/>
            <a:chOff x="3216216" y="961300"/>
            <a:chExt cx="2880559" cy="921650"/>
          </a:xfrm>
        </p:grpSpPr>
        <p:sp>
          <p:nvSpPr>
            <p:cNvPr id="1109" name="Google Shape;1109;p63"/>
            <p:cNvSpPr/>
            <p:nvPr/>
          </p:nvSpPr>
          <p:spPr>
            <a:xfrm>
              <a:off x="4514575" y="1558050"/>
              <a:ext cx="15822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19  21  22  23</a:t>
              </a:r>
              <a:endParaRPr sz="1800"/>
            </a:p>
          </p:txBody>
        </p:sp>
        <p:sp>
          <p:nvSpPr>
            <p:cNvPr id="1110" name="Google Shape;1110;p63"/>
            <p:cNvSpPr/>
            <p:nvPr/>
          </p:nvSpPr>
          <p:spPr>
            <a:xfrm>
              <a:off x="3906125" y="1558050"/>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15</a:t>
              </a:r>
              <a:endParaRPr sz="1800"/>
            </a:p>
          </p:txBody>
        </p:sp>
        <p:sp>
          <p:nvSpPr>
            <p:cNvPr id="1111" name="Google Shape;1111;p63"/>
            <p:cNvSpPr/>
            <p:nvPr/>
          </p:nvSpPr>
          <p:spPr>
            <a:xfrm>
              <a:off x="3216216" y="1558050"/>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5</a:t>
              </a:r>
              <a:endParaRPr sz="1800"/>
            </a:p>
          </p:txBody>
        </p:sp>
        <p:sp>
          <p:nvSpPr>
            <p:cNvPr id="1112" name="Google Shape;1112;p63"/>
            <p:cNvSpPr/>
            <p:nvPr/>
          </p:nvSpPr>
          <p:spPr>
            <a:xfrm>
              <a:off x="3844375" y="961300"/>
              <a:ext cx="9000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13  17</a:t>
              </a:r>
              <a:endParaRPr sz="1800"/>
            </a:p>
          </p:txBody>
        </p:sp>
        <p:cxnSp>
          <p:nvCxnSpPr>
            <p:cNvPr id="1113" name="Google Shape;1113;p63"/>
            <p:cNvCxnSpPr>
              <a:endCxn id="1111" idx="0"/>
            </p:cNvCxnSpPr>
            <p:nvPr/>
          </p:nvCxnSpPr>
          <p:spPr>
            <a:xfrm flipH="1">
              <a:off x="3461466" y="1282050"/>
              <a:ext cx="556200" cy="276000"/>
            </a:xfrm>
            <a:prstGeom prst="straightConnector1">
              <a:avLst/>
            </a:prstGeom>
            <a:noFill/>
            <a:ln cap="flat" cmpd="sng" w="19050">
              <a:solidFill>
                <a:srgbClr val="666666"/>
              </a:solidFill>
              <a:prstDash val="solid"/>
              <a:round/>
              <a:headEnd len="med" w="med" type="none"/>
              <a:tailEnd len="med" w="med" type="none"/>
            </a:ln>
          </p:spPr>
        </p:cxnSp>
        <p:cxnSp>
          <p:nvCxnSpPr>
            <p:cNvPr id="1114" name="Google Shape;1114;p63"/>
            <p:cNvCxnSpPr>
              <a:endCxn id="1109" idx="0"/>
            </p:cNvCxnSpPr>
            <p:nvPr/>
          </p:nvCxnSpPr>
          <p:spPr>
            <a:xfrm>
              <a:off x="4638175" y="1281150"/>
              <a:ext cx="667500" cy="276900"/>
            </a:xfrm>
            <a:prstGeom prst="straightConnector1">
              <a:avLst/>
            </a:prstGeom>
            <a:noFill/>
            <a:ln cap="flat" cmpd="sng" w="19050">
              <a:solidFill>
                <a:srgbClr val="666666"/>
              </a:solidFill>
              <a:prstDash val="solid"/>
              <a:round/>
              <a:headEnd len="med" w="med" type="none"/>
              <a:tailEnd len="med" w="med" type="none"/>
            </a:ln>
          </p:spPr>
        </p:cxnSp>
        <p:cxnSp>
          <p:nvCxnSpPr>
            <p:cNvPr id="1115" name="Google Shape;1115;p63"/>
            <p:cNvCxnSpPr>
              <a:stCxn id="1110" idx="0"/>
              <a:endCxn id="1112" idx="2"/>
            </p:cNvCxnSpPr>
            <p:nvPr/>
          </p:nvCxnSpPr>
          <p:spPr>
            <a:xfrm flipH="1" rot="10800000">
              <a:off x="4151375" y="1286250"/>
              <a:ext cx="143100" cy="271800"/>
            </a:xfrm>
            <a:prstGeom prst="straightConnector1">
              <a:avLst/>
            </a:prstGeom>
            <a:noFill/>
            <a:ln cap="flat" cmpd="sng" w="19050">
              <a:solidFill>
                <a:schemeClr val="dk2"/>
              </a:solidFill>
              <a:prstDash val="solid"/>
              <a:round/>
              <a:headEnd len="med" w="med" type="none"/>
              <a:tailEnd len="med" w="med" type="none"/>
            </a:ln>
          </p:spPr>
        </p:cxnSp>
      </p:grpSp>
      <p:grpSp>
        <p:nvGrpSpPr>
          <p:cNvPr id="1116" name="Google Shape;1116;p63"/>
          <p:cNvGrpSpPr/>
          <p:nvPr/>
        </p:nvGrpSpPr>
        <p:grpSpPr>
          <a:xfrm>
            <a:off x="6233175" y="961300"/>
            <a:ext cx="2702200" cy="919575"/>
            <a:chOff x="6233175" y="961300"/>
            <a:chExt cx="2702200" cy="919575"/>
          </a:xfrm>
        </p:grpSpPr>
        <p:sp>
          <p:nvSpPr>
            <p:cNvPr id="1117" name="Google Shape;1117;p63"/>
            <p:cNvSpPr/>
            <p:nvPr/>
          </p:nvSpPr>
          <p:spPr>
            <a:xfrm>
              <a:off x="7949875" y="1555975"/>
              <a:ext cx="985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22  23</a:t>
              </a:r>
              <a:endParaRPr sz="1800"/>
            </a:p>
          </p:txBody>
        </p:sp>
        <p:sp>
          <p:nvSpPr>
            <p:cNvPr id="1118" name="Google Shape;1118;p63"/>
            <p:cNvSpPr/>
            <p:nvPr/>
          </p:nvSpPr>
          <p:spPr>
            <a:xfrm>
              <a:off x="6777875" y="155597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15</a:t>
              </a:r>
              <a:endParaRPr sz="1800"/>
            </a:p>
          </p:txBody>
        </p:sp>
        <p:sp>
          <p:nvSpPr>
            <p:cNvPr id="1119" name="Google Shape;1119;p63"/>
            <p:cNvSpPr/>
            <p:nvPr/>
          </p:nvSpPr>
          <p:spPr>
            <a:xfrm>
              <a:off x="6233175" y="1555975"/>
              <a:ext cx="4071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5</a:t>
              </a:r>
              <a:endParaRPr sz="1800"/>
            </a:p>
          </p:txBody>
        </p:sp>
        <p:sp>
          <p:nvSpPr>
            <p:cNvPr id="1120" name="Google Shape;1120;p63"/>
            <p:cNvSpPr/>
            <p:nvPr/>
          </p:nvSpPr>
          <p:spPr>
            <a:xfrm>
              <a:off x="6861475" y="961300"/>
              <a:ext cx="13371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13  17  21</a:t>
              </a:r>
              <a:endParaRPr sz="1800"/>
            </a:p>
          </p:txBody>
        </p:sp>
        <p:cxnSp>
          <p:nvCxnSpPr>
            <p:cNvPr id="1121" name="Google Shape;1121;p63"/>
            <p:cNvCxnSpPr>
              <a:endCxn id="1119" idx="0"/>
            </p:cNvCxnSpPr>
            <p:nvPr/>
          </p:nvCxnSpPr>
          <p:spPr>
            <a:xfrm flipH="1">
              <a:off x="6436725" y="1279975"/>
              <a:ext cx="556200" cy="276000"/>
            </a:xfrm>
            <a:prstGeom prst="straightConnector1">
              <a:avLst/>
            </a:prstGeom>
            <a:noFill/>
            <a:ln cap="flat" cmpd="sng" w="19050">
              <a:solidFill>
                <a:srgbClr val="666666"/>
              </a:solidFill>
              <a:prstDash val="solid"/>
              <a:round/>
              <a:headEnd len="med" w="med" type="none"/>
              <a:tailEnd len="med" w="med" type="none"/>
            </a:ln>
          </p:spPr>
        </p:cxnSp>
        <p:cxnSp>
          <p:nvCxnSpPr>
            <p:cNvPr id="1122" name="Google Shape;1122;p63"/>
            <p:cNvCxnSpPr>
              <a:endCxn id="1117" idx="0"/>
            </p:cNvCxnSpPr>
            <p:nvPr/>
          </p:nvCxnSpPr>
          <p:spPr>
            <a:xfrm>
              <a:off x="7868425" y="1296175"/>
              <a:ext cx="574200" cy="259800"/>
            </a:xfrm>
            <a:prstGeom prst="straightConnector1">
              <a:avLst/>
            </a:prstGeom>
            <a:noFill/>
            <a:ln cap="flat" cmpd="sng" w="19050">
              <a:solidFill>
                <a:srgbClr val="666666"/>
              </a:solidFill>
              <a:prstDash val="solid"/>
              <a:round/>
              <a:headEnd len="med" w="med" type="none"/>
              <a:tailEnd len="med" w="med" type="none"/>
            </a:ln>
          </p:spPr>
        </p:cxnSp>
        <p:cxnSp>
          <p:nvCxnSpPr>
            <p:cNvPr id="1123" name="Google Shape;1123;p63"/>
            <p:cNvCxnSpPr>
              <a:stCxn id="1118" idx="0"/>
            </p:cNvCxnSpPr>
            <p:nvPr/>
          </p:nvCxnSpPr>
          <p:spPr>
            <a:xfrm flipH="1" rot="10800000">
              <a:off x="7023125" y="1298575"/>
              <a:ext cx="345000" cy="257400"/>
            </a:xfrm>
            <a:prstGeom prst="straightConnector1">
              <a:avLst/>
            </a:prstGeom>
            <a:noFill/>
            <a:ln cap="flat" cmpd="sng" w="19050">
              <a:solidFill>
                <a:schemeClr val="dk2"/>
              </a:solidFill>
              <a:prstDash val="solid"/>
              <a:round/>
              <a:headEnd len="med" w="med" type="none"/>
              <a:tailEnd len="med" w="med" type="none"/>
            </a:ln>
          </p:spPr>
        </p:cxnSp>
        <p:sp>
          <p:nvSpPr>
            <p:cNvPr id="1124" name="Google Shape;1124;p63"/>
            <p:cNvSpPr/>
            <p:nvPr/>
          </p:nvSpPr>
          <p:spPr>
            <a:xfrm>
              <a:off x="7392450" y="155597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19</a:t>
              </a:r>
              <a:endParaRPr sz="1800"/>
            </a:p>
          </p:txBody>
        </p:sp>
        <p:cxnSp>
          <p:nvCxnSpPr>
            <p:cNvPr id="1125" name="Google Shape;1125;p63"/>
            <p:cNvCxnSpPr>
              <a:stCxn id="1124" idx="0"/>
            </p:cNvCxnSpPr>
            <p:nvPr/>
          </p:nvCxnSpPr>
          <p:spPr>
            <a:xfrm flipH="1" rot="10800000">
              <a:off x="7637700" y="1298575"/>
              <a:ext cx="39600" cy="257400"/>
            </a:xfrm>
            <a:prstGeom prst="straightConnector1">
              <a:avLst/>
            </a:prstGeom>
            <a:noFill/>
            <a:ln cap="flat" cmpd="sng" w="19050">
              <a:solidFill>
                <a:schemeClr val="dk2"/>
              </a:solidFill>
              <a:prstDash val="solid"/>
              <a:round/>
              <a:headEnd len="med" w="med" type="none"/>
              <a:tailEnd len="med" w="med" type="none"/>
            </a:ln>
          </p:spPr>
        </p:cxnSp>
      </p:grpSp>
      <p:grpSp>
        <p:nvGrpSpPr>
          <p:cNvPr id="1126" name="Google Shape;1126;p63"/>
          <p:cNvGrpSpPr/>
          <p:nvPr/>
        </p:nvGrpSpPr>
        <p:grpSpPr>
          <a:xfrm>
            <a:off x="317666" y="2762625"/>
            <a:ext cx="3298909" cy="921650"/>
            <a:chOff x="317666" y="2762625"/>
            <a:chExt cx="3298909" cy="921650"/>
          </a:xfrm>
        </p:grpSpPr>
        <p:sp>
          <p:nvSpPr>
            <p:cNvPr id="1127" name="Google Shape;1127;p63"/>
            <p:cNvSpPr/>
            <p:nvPr/>
          </p:nvSpPr>
          <p:spPr>
            <a:xfrm>
              <a:off x="2034375" y="3359375"/>
              <a:ext cx="15822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22  23  24  25</a:t>
              </a:r>
              <a:endParaRPr sz="1800"/>
            </a:p>
          </p:txBody>
        </p:sp>
        <p:sp>
          <p:nvSpPr>
            <p:cNvPr id="1128" name="Google Shape;1128;p63"/>
            <p:cNvSpPr/>
            <p:nvPr/>
          </p:nvSpPr>
          <p:spPr>
            <a:xfrm>
              <a:off x="869575" y="335937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15</a:t>
              </a:r>
              <a:endParaRPr sz="1800"/>
            </a:p>
          </p:txBody>
        </p:sp>
        <p:sp>
          <p:nvSpPr>
            <p:cNvPr id="1129" name="Google Shape;1129;p63"/>
            <p:cNvSpPr/>
            <p:nvPr/>
          </p:nvSpPr>
          <p:spPr>
            <a:xfrm>
              <a:off x="317666" y="335937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5</a:t>
              </a:r>
              <a:endParaRPr sz="1800"/>
            </a:p>
          </p:txBody>
        </p:sp>
        <p:sp>
          <p:nvSpPr>
            <p:cNvPr id="1130" name="Google Shape;1130;p63"/>
            <p:cNvSpPr/>
            <p:nvPr/>
          </p:nvSpPr>
          <p:spPr>
            <a:xfrm>
              <a:off x="945825" y="2762625"/>
              <a:ext cx="12540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13  17  21</a:t>
              </a:r>
              <a:endParaRPr sz="1800"/>
            </a:p>
          </p:txBody>
        </p:sp>
        <p:cxnSp>
          <p:nvCxnSpPr>
            <p:cNvPr id="1131" name="Google Shape;1131;p63"/>
            <p:cNvCxnSpPr>
              <a:endCxn id="1129" idx="0"/>
            </p:cNvCxnSpPr>
            <p:nvPr/>
          </p:nvCxnSpPr>
          <p:spPr>
            <a:xfrm flipH="1">
              <a:off x="562916" y="3083375"/>
              <a:ext cx="556200" cy="276000"/>
            </a:xfrm>
            <a:prstGeom prst="straightConnector1">
              <a:avLst/>
            </a:prstGeom>
            <a:noFill/>
            <a:ln cap="flat" cmpd="sng" w="19050">
              <a:solidFill>
                <a:srgbClr val="666666"/>
              </a:solidFill>
              <a:prstDash val="solid"/>
              <a:round/>
              <a:headEnd len="med" w="med" type="none"/>
              <a:tailEnd len="med" w="med" type="none"/>
            </a:ln>
          </p:spPr>
        </p:cxnSp>
        <p:cxnSp>
          <p:nvCxnSpPr>
            <p:cNvPr id="1132" name="Google Shape;1132;p63"/>
            <p:cNvCxnSpPr>
              <a:endCxn id="1127" idx="0"/>
            </p:cNvCxnSpPr>
            <p:nvPr/>
          </p:nvCxnSpPr>
          <p:spPr>
            <a:xfrm>
              <a:off x="2023275" y="3083375"/>
              <a:ext cx="802200" cy="276000"/>
            </a:xfrm>
            <a:prstGeom prst="straightConnector1">
              <a:avLst/>
            </a:prstGeom>
            <a:noFill/>
            <a:ln cap="flat" cmpd="sng" w="19050">
              <a:solidFill>
                <a:srgbClr val="666666"/>
              </a:solidFill>
              <a:prstDash val="solid"/>
              <a:round/>
              <a:headEnd len="med" w="med" type="none"/>
              <a:tailEnd len="med" w="med" type="none"/>
            </a:ln>
          </p:spPr>
        </p:cxnSp>
        <p:cxnSp>
          <p:nvCxnSpPr>
            <p:cNvPr id="1133" name="Google Shape;1133;p63"/>
            <p:cNvCxnSpPr>
              <a:stCxn id="1128" idx="0"/>
            </p:cNvCxnSpPr>
            <p:nvPr/>
          </p:nvCxnSpPr>
          <p:spPr>
            <a:xfrm flipH="1" rot="10800000">
              <a:off x="1114825" y="3101075"/>
              <a:ext cx="228000" cy="258300"/>
            </a:xfrm>
            <a:prstGeom prst="straightConnector1">
              <a:avLst/>
            </a:prstGeom>
            <a:noFill/>
            <a:ln cap="flat" cmpd="sng" w="19050">
              <a:solidFill>
                <a:schemeClr val="dk2"/>
              </a:solidFill>
              <a:prstDash val="solid"/>
              <a:round/>
              <a:headEnd len="med" w="med" type="none"/>
              <a:tailEnd len="med" w="med" type="none"/>
            </a:ln>
          </p:spPr>
        </p:cxnSp>
        <p:sp>
          <p:nvSpPr>
            <p:cNvPr id="1134" name="Google Shape;1134;p63"/>
            <p:cNvSpPr/>
            <p:nvPr/>
          </p:nvSpPr>
          <p:spPr>
            <a:xfrm>
              <a:off x="1437950" y="335937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19</a:t>
              </a:r>
              <a:endParaRPr sz="1800"/>
            </a:p>
          </p:txBody>
        </p:sp>
        <p:cxnSp>
          <p:nvCxnSpPr>
            <p:cNvPr id="1135" name="Google Shape;1135;p63"/>
            <p:cNvCxnSpPr>
              <a:stCxn id="1134" idx="0"/>
            </p:cNvCxnSpPr>
            <p:nvPr/>
          </p:nvCxnSpPr>
          <p:spPr>
            <a:xfrm flipH="1" rot="10800000">
              <a:off x="1683200" y="3083375"/>
              <a:ext cx="39600" cy="276000"/>
            </a:xfrm>
            <a:prstGeom prst="straightConnector1">
              <a:avLst/>
            </a:prstGeom>
            <a:noFill/>
            <a:ln cap="flat" cmpd="sng" w="19050">
              <a:solidFill>
                <a:schemeClr val="dk2"/>
              </a:solidFill>
              <a:prstDash val="solid"/>
              <a:round/>
              <a:headEnd len="med" w="med" type="none"/>
              <a:tailEnd len="med" w="med" type="none"/>
            </a:ln>
          </p:spPr>
        </p:cxnSp>
      </p:grpSp>
      <p:grpSp>
        <p:nvGrpSpPr>
          <p:cNvPr id="1136" name="Google Shape;1136;p63"/>
          <p:cNvGrpSpPr/>
          <p:nvPr/>
        </p:nvGrpSpPr>
        <p:grpSpPr>
          <a:xfrm>
            <a:off x="4497391" y="2743125"/>
            <a:ext cx="3570709" cy="921658"/>
            <a:chOff x="4497391" y="2743125"/>
            <a:chExt cx="3570709" cy="921658"/>
          </a:xfrm>
        </p:grpSpPr>
        <p:sp>
          <p:nvSpPr>
            <p:cNvPr id="1137" name="Google Shape;1137;p63"/>
            <p:cNvSpPr/>
            <p:nvPr/>
          </p:nvSpPr>
          <p:spPr>
            <a:xfrm>
              <a:off x="7082600" y="3339875"/>
              <a:ext cx="985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24  25</a:t>
              </a:r>
              <a:endParaRPr sz="1800"/>
            </a:p>
          </p:txBody>
        </p:sp>
        <p:sp>
          <p:nvSpPr>
            <p:cNvPr id="1138" name="Google Shape;1138;p63"/>
            <p:cNvSpPr/>
            <p:nvPr/>
          </p:nvSpPr>
          <p:spPr>
            <a:xfrm>
              <a:off x="5125500" y="333987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15</a:t>
              </a:r>
              <a:endParaRPr sz="1800"/>
            </a:p>
          </p:txBody>
        </p:sp>
        <p:sp>
          <p:nvSpPr>
            <p:cNvPr id="1139" name="Google Shape;1139;p63"/>
            <p:cNvSpPr/>
            <p:nvPr/>
          </p:nvSpPr>
          <p:spPr>
            <a:xfrm>
              <a:off x="4497391" y="3339883"/>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5</a:t>
              </a:r>
              <a:endParaRPr sz="1800"/>
            </a:p>
          </p:txBody>
        </p:sp>
        <p:sp>
          <p:nvSpPr>
            <p:cNvPr id="1140" name="Google Shape;1140;p63"/>
            <p:cNvSpPr/>
            <p:nvPr/>
          </p:nvSpPr>
          <p:spPr>
            <a:xfrm>
              <a:off x="5125550" y="2743125"/>
              <a:ext cx="15822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13  17  21  23</a:t>
              </a:r>
              <a:endParaRPr sz="1800"/>
            </a:p>
          </p:txBody>
        </p:sp>
        <p:cxnSp>
          <p:nvCxnSpPr>
            <p:cNvPr id="1141" name="Google Shape;1141;p63"/>
            <p:cNvCxnSpPr>
              <a:endCxn id="1139" idx="0"/>
            </p:cNvCxnSpPr>
            <p:nvPr/>
          </p:nvCxnSpPr>
          <p:spPr>
            <a:xfrm flipH="1">
              <a:off x="4742641" y="3063883"/>
              <a:ext cx="556200" cy="276000"/>
            </a:xfrm>
            <a:prstGeom prst="straightConnector1">
              <a:avLst/>
            </a:prstGeom>
            <a:noFill/>
            <a:ln cap="flat" cmpd="sng" w="19050">
              <a:solidFill>
                <a:srgbClr val="666666"/>
              </a:solidFill>
              <a:prstDash val="solid"/>
              <a:round/>
              <a:headEnd len="med" w="med" type="none"/>
              <a:tailEnd len="med" w="med" type="none"/>
            </a:ln>
          </p:spPr>
        </p:cxnSp>
        <p:cxnSp>
          <p:nvCxnSpPr>
            <p:cNvPr id="1142" name="Google Shape;1142;p63"/>
            <p:cNvCxnSpPr>
              <a:endCxn id="1137" idx="0"/>
            </p:cNvCxnSpPr>
            <p:nvPr/>
          </p:nvCxnSpPr>
          <p:spPr>
            <a:xfrm>
              <a:off x="6617150" y="3074375"/>
              <a:ext cx="958200" cy="265500"/>
            </a:xfrm>
            <a:prstGeom prst="straightConnector1">
              <a:avLst/>
            </a:prstGeom>
            <a:noFill/>
            <a:ln cap="flat" cmpd="sng" w="19050">
              <a:solidFill>
                <a:srgbClr val="666666"/>
              </a:solidFill>
              <a:prstDash val="solid"/>
              <a:round/>
              <a:headEnd len="med" w="med" type="none"/>
              <a:tailEnd len="med" w="med" type="none"/>
            </a:ln>
          </p:spPr>
        </p:cxnSp>
        <p:cxnSp>
          <p:nvCxnSpPr>
            <p:cNvPr id="1143" name="Google Shape;1143;p63"/>
            <p:cNvCxnSpPr>
              <a:stCxn id="1138" idx="0"/>
            </p:cNvCxnSpPr>
            <p:nvPr/>
          </p:nvCxnSpPr>
          <p:spPr>
            <a:xfrm flipH="1" rot="10800000">
              <a:off x="5370750" y="3052775"/>
              <a:ext cx="126900" cy="287100"/>
            </a:xfrm>
            <a:prstGeom prst="straightConnector1">
              <a:avLst/>
            </a:prstGeom>
            <a:noFill/>
            <a:ln cap="flat" cmpd="sng" w="19050">
              <a:solidFill>
                <a:schemeClr val="dk2"/>
              </a:solidFill>
              <a:prstDash val="solid"/>
              <a:round/>
              <a:headEnd len="med" w="med" type="none"/>
              <a:tailEnd len="med" w="med" type="none"/>
            </a:ln>
          </p:spPr>
        </p:cxnSp>
        <p:sp>
          <p:nvSpPr>
            <p:cNvPr id="1144" name="Google Shape;1144;p63"/>
            <p:cNvSpPr/>
            <p:nvPr/>
          </p:nvSpPr>
          <p:spPr>
            <a:xfrm>
              <a:off x="5701075" y="333987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19</a:t>
              </a:r>
              <a:endParaRPr sz="1800"/>
            </a:p>
          </p:txBody>
        </p:sp>
        <p:cxnSp>
          <p:nvCxnSpPr>
            <p:cNvPr id="1145" name="Google Shape;1145;p63"/>
            <p:cNvCxnSpPr>
              <a:stCxn id="1144" idx="0"/>
              <a:endCxn id="1140" idx="2"/>
            </p:cNvCxnSpPr>
            <p:nvPr/>
          </p:nvCxnSpPr>
          <p:spPr>
            <a:xfrm rot="10800000">
              <a:off x="5916625" y="3068075"/>
              <a:ext cx="29700" cy="271800"/>
            </a:xfrm>
            <a:prstGeom prst="straightConnector1">
              <a:avLst/>
            </a:prstGeom>
            <a:noFill/>
            <a:ln cap="flat" cmpd="sng" w="19050">
              <a:solidFill>
                <a:schemeClr val="dk2"/>
              </a:solidFill>
              <a:prstDash val="solid"/>
              <a:round/>
              <a:headEnd len="med" w="med" type="none"/>
              <a:tailEnd len="med" w="med" type="none"/>
            </a:ln>
          </p:spPr>
        </p:cxnSp>
        <p:sp>
          <p:nvSpPr>
            <p:cNvPr id="1146" name="Google Shape;1146;p63"/>
            <p:cNvSpPr/>
            <p:nvPr/>
          </p:nvSpPr>
          <p:spPr>
            <a:xfrm>
              <a:off x="6294496" y="333602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22</a:t>
              </a:r>
              <a:endParaRPr sz="1800"/>
            </a:p>
          </p:txBody>
        </p:sp>
        <p:cxnSp>
          <p:nvCxnSpPr>
            <p:cNvPr id="1147" name="Google Shape;1147;p63"/>
            <p:cNvCxnSpPr>
              <a:stCxn id="1146" idx="0"/>
            </p:cNvCxnSpPr>
            <p:nvPr/>
          </p:nvCxnSpPr>
          <p:spPr>
            <a:xfrm rot="10800000">
              <a:off x="6339946" y="3056725"/>
              <a:ext cx="199800" cy="279300"/>
            </a:xfrm>
            <a:prstGeom prst="straightConnector1">
              <a:avLst/>
            </a:prstGeom>
            <a:noFill/>
            <a:ln cap="flat" cmpd="sng" w="19050">
              <a:solidFill>
                <a:schemeClr val="dk2"/>
              </a:solidFill>
              <a:prstDash val="solid"/>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8"/>
                                        </p:tgtEl>
                                        <p:attrNameLst>
                                          <p:attrName>style.visibility</p:attrName>
                                        </p:attrNameLst>
                                      </p:cBhvr>
                                      <p:to>
                                        <p:strVal val="visible"/>
                                      </p:to>
                                    </p:set>
                                    <p:animEffect filter="fade" transition="in">
                                      <p:cBhvr>
                                        <p:cTn dur="1"/>
                                        <p:tgtEl>
                                          <p:spTgt spid="11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6"/>
                                        </p:tgtEl>
                                        <p:attrNameLst>
                                          <p:attrName>style.visibility</p:attrName>
                                        </p:attrNameLst>
                                      </p:cBhvr>
                                      <p:to>
                                        <p:strVal val="visible"/>
                                      </p:to>
                                    </p:set>
                                    <p:animEffect filter="fade" transition="in">
                                      <p:cBhvr>
                                        <p:cTn dur="1"/>
                                        <p:tgtEl>
                                          <p:spTgt spid="11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6"/>
                                        </p:tgtEl>
                                        <p:attrNameLst>
                                          <p:attrName>style.visibility</p:attrName>
                                        </p:attrNameLst>
                                      </p:cBhvr>
                                      <p:to>
                                        <p:strVal val="visible"/>
                                      </p:to>
                                    </p:set>
                                    <p:animEffect filter="fade" transition="in">
                                      <p:cBhvr>
                                        <p:cTn dur="1"/>
                                        <p:tgtEl>
                                          <p:spTgt spid="11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6"/>
                                        </p:tgtEl>
                                        <p:attrNameLst>
                                          <p:attrName>style.visibility</p:attrName>
                                        </p:attrNameLst>
                                      </p:cBhvr>
                                      <p:to>
                                        <p:strVal val="visible"/>
                                      </p:to>
                                    </p:set>
                                    <p:animEffect filter="fade" transition="in">
                                      <p:cBhvr>
                                        <p:cTn dur="1"/>
                                        <p:tgtEl>
                                          <p:spTgt spid="11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0"/>
                                        </p:tgtEl>
                                        <p:attrNameLst>
                                          <p:attrName>style.visibility</p:attrName>
                                        </p:attrNameLst>
                                      </p:cBhvr>
                                      <p:to>
                                        <p:strVal val="visible"/>
                                      </p:to>
                                    </p:set>
                                    <p:animEffect filter="fade" transition="in">
                                      <p:cBhvr>
                                        <p:cTn dur="1"/>
                                        <p:tgtEl>
                                          <p:spTgt spid="11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51" name="Shape 1151"/>
        <p:cNvGrpSpPr/>
        <p:nvPr/>
      </p:nvGrpSpPr>
      <p:grpSpPr>
        <a:xfrm>
          <a:off x="0" y="0"/>
          <a:ext cx="0" cy="0"/>
          <a:chOff x="0" y="0"/>
          <a:chExt cx="0" cy="0"/>
        </a:xfrm>
      </p:grpSpPr>
      <p:sp>
        <p:nvSpPr>
          <p:cNvPr id="1152" name="Google Shape;1152;p6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Happens If The Root Is Too Full?</a:t>
            </a:r>
            <a:endParaRPr/>
          </a:p>
        </p:txBody>
      </p:sp>
      <p:sp>
        <p:nvSpPr>
          <p:cNvPr id="1153" name="Google Shape;1153;p64"/>
          <p:cNvSpPr txBox="1"/>
          <p:nvPr>
            <p:ph idx="1" type="body"/>
          </p:nvPr>
        </p:nvSpPr>
        <p:spPr>
          <a:xfrm>
            <a:off x="166800" y="2008525"/>
            <a:ext cx="8443800" cy="495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Challenge: Draw the tree after the root is split.</a:t>
            </a:r>
            <a:endParaRPr/>
          </a:p>
        </p:txBody>
      </p:sp>
      <p:sp>
        <p:nvSpPr>
          <p:cNvPr id="1154" name="Google Shape;1154;p64"/>
          <p:cNvSpPr/>
          <p:nvPr/>
        </p:nvSpPr>
        <p:spPr>
          <a:xfrm>
            <a:off x="2567775" y="1606775"/>
            <a:ext cx="15822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22  23  24  25</a:t>
            </a:r>
            <a:endParaRPr sz="1800"/>
          </a:p>
        </p:txBody>
      </p:sp>
      <p:sp>
        <p:nvSpPr>
          <p:cNvPr id="1155" name="Google Shape;1155;p64"/>
          <p:cNvSpPr/>
          <p:nvPr/>
        </p:nvSpPr>
        <p:spPr>
          <a:xfrm>
            <a:off x="1402975" y="160677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15</a:t>
            </a:r>
            <a:endParaRPr sz="1800"/>
          </a:p>
        </p:txBody>
      </p:sp>
      <p:sp>
        <p:nvSpPr>
          <p:cNvPr id="1156" name="Google Shape;1156;p64"/>
          <p:cNvSpPr/>
          <p:nvPr/>
        </p:nvSpPr>
        <p:spPr>
          <a:xfrm>
            <a:off x="851066" y="160677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5</a:t>
            </a:r>
            <a:endParaRPr sz="1800"/>
          </a:p>
        </p:txBody>
      </p:sp>
      <p:sp>
        <p:nvSpPr>
          <p:cNvPr id="1157" name="Google Shape;1157;p64"/>
          <p:cNvSpPr/>
          <p:nvPr/>
        </p:nvSpPr>
        <p:spPr>
          <a:xfrm>
            <a:off x="1479225" y="1010025"/>
            <a:ext cx="12540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13  17  21</a:t>
            </a:r>
            <a:endParaRPr sz="1800"/>
          </a:p>
        </p:txBody>
      </p:sp>
      <p:cxnSp>
        <p:nvCxnSpPr>
          <p:cNvPr id="1158" name="Google Shape;1158;p64"/>
          <p:cNvCxnSpPr>
            <a:endCxn id="1156" idx="0"/>
          </p:cNvCxnSpPr>
          <p:nvPr/>
        </p:nvCxnSpPr>
        <p:spPr>
          <a:xfrm flipH="1">
            <a:off x="1096316" y="1330775"/>
            <a:ext cx="556200" cy="276000"/>
          </a:xfrm>
          <a:prstGeom prst="straightConnector1">
            <a:avLst/>
          </a:prstGeom>
          <a:noFill/>
          <a:ln cap="flat" cmpd="sng" w="19050">
            <a:solidFill>
              <a:srgbClr val="666666"/>
            </a:solidFill>
            <a:prstDash val="solid"/>
            <a:round/>
            <a:headEnd len="med" w="med" type="none"/>
            <a:tailEnd len="med" w="med" type="none"/>
          </a:ln>
        </p:spPr>
      </p:cxnSp>
      <p:cxnSp>
        <p:nvCxnSpPr>
          <p:cNvPr id="1159" name="Google Shape;1159;p64"/>
          <p:cNvCxnSpPr>
            <a:endCxn id="1154" idx="0"/>
          </p:cNvCxnSpPr>
          <p:nvPr/>
        </p:nvCxnSpPr>
        <p:spPr>
          <a:xfrm>
            <a:off x="2556675" y="1330775"/>
            <a:ext cx="802200" cy="276000"/>
          </a:xfrm>
          <a:prstGeom prst="straightConnector1">
            <a:avLst/>
          </a:prstGeom>
          <a:noFill/>
          <a:ln cap="flat" cmpd="sng" w="19050">
            <a:solidFill>
              <a:srgbClr val="666666"/>
            </a:solidFill>
            <a:prstDash val="solid"/>
            <a:round/>
            <a:headEnd len="med" w="med" type="none"/>
            <a:tailEnd len="med" w="med" type="none"/>
          </a:ln>
        </p:spPr>
      </p:cxnSp>
      <p:cxnSp>
        <p:nvCxnSpPr>
          <p:cNvPr id="1160" name="Google Shape;1160;p64"/>
          <p:cNvCxnSpPr>
            <a:stCxn id="1155" idx="0"/>
          </p:cNvCxnSpPr>
          <p:nvPr/>
        </p:nvCxnSpPr>
        <p:spPr>
          <a:xfrm flipH="1" rot="10800000">
            <a:off x="1648225" y="1348475"/>
            <a:ext cx="228000" cy="258300"/>
          </a:xfrm>
          <a:prstGeom prst="straightConnector1">
            <a:avLst/>
          </a:prstGeom>
          <a:noFill/>
          <a:ln cap="flat" cmpd="sng" w="19050">
            <a:solidFill>
              <a:schemeClr val="dk2"/>
            </a:solidFill>
            <a:prstDash val="solid"/>
            <a:round/>
            <a:headEnd len="med" w="med" type="none"/>
            <a:tailEnd len="med" w="med" type="none"/>
          </a:ln>
        </p:spPr>
      </p:cxnSp>
      <p:sp>
        <p:nvSpPr>
          <p:cNvPr id="1161" name="Google Shape;1161;p64"/>
          <p:cNvSpPr/>
          <p:nvPr/>
        </p:nvSpPr>
        <p:spPr>
          <a:xfrm>
            <a:off x="1971350" y="160677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19</a:t>
            </a:r>
            <a:endParaRPr sz="1800"/>
          </a:p>
        </p:txBody>
      </p:sp>
      <p:cxnSp>
        <p:nvCxnSpPr>
          <p:cNvPr id="1162" name="Google Shape;1162;p64"/>
          <p:cNvCxnSpPr>
            <a:stCxn id="1161" idx="0"/>
          </p:cNvCxnSpPr>
          <p:nvPr/>
        </p:nvCxnSpPr>
        <p:spPr>
          <a:xfrm flipH="1" rot="10800000">
            <a:off x="2216600" y="1330775"/>
            <a:ext cx="39600" cy="276000"/>
          </a:xfrm>
          <a:prstGeom prst="straightConnector1">
            <a:avLst/>
          </a:prstGeom>
          <a:noFill/>
          <a:ln cap="flat" cmpd="sng" w="19050">
            <a:solidFill>
              <a:schemeClr val="dk2"/>
            </a:solidFill>
            <a:prstDash val="solid"/>
            <a:round/>
            <a:headEnd len="med" w="med" type="none"/>
            <a:tailEnd len="med" w="med" type="none"/>
          </a:ln>
        </p:spPr>
      </p:cxnSp>
      <p:sp>
        <p:nvSpPr>
          <p:cNvPr id="1163" name="Google Shape;1163;p64"/>
          <p:cNvSpPr/>
          <p:nvPr/>
        </p:nvSpPr>
        <p:spPr>
          <a:xfrm>
            <a:off x="7616000" y="1587275"/>
            <a:ext cx="985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24  25</a:t>
            </a:r>
            <a:endParaRPr sz="1800"/>
          </a:p>
        </p:txBody>
      </p:sp>
      <p:sp>
        <p:nvSpPr>
          <p:cNvPr id="1164" name="Google Shape;1164;p64"/>
          <p:cNvSpPr/>
          <p:nvPr/>
        </p:nvSpPr>
        <p:spPr>
          <a:xfrm>
            <a:off x="5658900" y="158727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15</a:t>
            </a:r>
            <a:endParaRPr sz="1800"/>
          </a:p>
        </p:txBody>
      </p:sp>
      <p:sp>
        <p:nvSpPr>
          <p:cNvPr id="1165" name="Google Shape;1165;p64"/>
          <p:cNvSpPr/>
          <p:nvPr/>
        </p:nvSpPr>
        <p:spPr>
          <a:xfrm>
            <a:off x="5030791" y="1587283"/>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5</a:t>
            </a:r>
            <a:endParaRPr sz="1800"/>
          </a:p>
        </p:txBody>
      </p:sp>
      <p:sp>
        <p:nvSpPr>
          <p:cNvPr id="1166" name="Google Shape;1166;p64"/>
          <p:cNvSpPr/>
          <p:nvPr/>
        </p:nvSpPr>
        <p:spPr>
          <a:xfrm>
            <a:off x="5658950" y="990525"/>
            <a:ext cx="15822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13  17  21  23</a:t>
            </a:r>
            <a:endParaRPr sz="1800"/>
          </a:p>
        </p:txBody>
      </p:sp>
      <p:cxnSp>
        <p:nvCxnSpPr>
          <p:cNvPr id="1167" name="Google Shape;1167;p64"/>
          <p:cNvCxnSpPr>
            <a:endCxn id="1165" idx="0"/>
          </p:cNvCxnSpPr>
          <p:nvPr/>
        </p:nvCxnSpPr>
        <p:spPr>
          <a:xfrm flipH="1">
            <a:off x="5276041" y="1311283"/>
            <a:ext cx="556200" cy="276000"/>
          </a:xfrm>
          <a:prstGeom prst="straightConnector1">
            <a:avLst/>
          </a:prstGeom>
          <a:noFill/>
          <a:ln cap="flat" cmpd="sng" w="19050">
            <a:solidFill>
              <a:srgbClr val="666666"/>
            </a:solidFill>
            <a:prstDash val="solid"/>
            <a:round/>
            <a:headEnd len="med" w="med" type="none"/>
            <a:tailEnd len="med" w="med" type="none"/>
          </a:ln>
        </p:spPr>
      </p:cxnSp>
      <p:cxnSp>
        <p:nvCxnSpPr>
          <p:cNvPr id="1168" name="Google Shape;1168;p64"/>
          <p:cNvCxnSpPr>
            <a:endCxn id="1163" idx="0"/>
          </p:cNvCxnSpPr>
          <p:nvPr/>
        </p:nvCxnSpPr>
        <p:spPr>
          <a:xfrm>
            <a:off x="7150550" y="1321775"/>
            <a:ext cx="958200" cy="265500"/>
          </a:xfrm>
          <a:prstGeom prst="straightConnector1">
            <a:avLst/>
          </a:prstGeom>
          <a:noFill/>
          <a:ln cap="flat" cmpd="sng" w="19050">
            <a:solidFill>
              <a:srgbClr val="666666"/>
            </a:solidFill>
            <a:prstDash val="solid"/>
            <a:round/>
            <a:headEnd len="med" w="med" type="none"/>
            <a:tailEnd len="med" w="med" type="none"/>
          </a:ln>
        </p:spPr>
      </p:cxnSp>
      <p:cxnSp>
        <p:nvCxnSpPr>
          <p:cNvPr id="1169" name="Google Shape;1169;p64"/>
          <p:cNvCxnSpPr>
            <a:stCxn id="1164" idx="0"/>
          </p:cNvCxnSpPr>
          <p:nvPr/>
        </p:nvCxnSpPr>
        <p:spPr>
          <a:xfrm flipH="1" rot="10800000">
            <a:off x="5904150" y="1300175"/>
            <a:ext cx="126900" cy="287100"/>
          </a:xfrm>
          <a:prstGeom prst="straightConnector1">
            <a:avLst/>
          </a:prstGeom>
          <a:noFill/>
          <a:ln cap="flat" cmpd="sng" w="19050">
            <a:solidFill>
              <a:schemeClr val="dk2"/>
            </a:solidFill>
            <a:prstDash val="solid"/>
            <a:round/>
            <a:headEnd len="med" w="med" type="none"/>
            <a:tailEnd len="med" w="med" type="none"/>
          </a:ln>
        </p:spPr>
      </p:cxnSp>
      <p:sp>
        <p:nvSpPr>
          <p:cNvPr id="1170" name="Google Shape;1170;p64"/>
          <p:cNvSpPr/>
          <p:nvPr/>
        </p:nvSpPr>
        <p:spPr>
          <a:xfrm>
            <a:off x="6234475" y="158727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19</a:t>
            </a:r>
            <a:endParaRPr sz="1800"/>
          </a:p>
        </p:txBody>
      </p:sp>
      <p:cxnSp>
        <p:nvCxnSpPr>
          <p:cNvPr id="1171" name="Google Shape;1171;p64"/>
          <p:cNvCxnSpPr>
            <a:stCxn id="1170" idx="0"/>
            <a:endCxn id="1166" idx="2"/>
          </p:cNvCxnSpPr>
          <p:nvPr/>
        </p:nvCxnSpPr>
        <p:spPr>
          <a:xfrm rot="10800000">
            <a:off x="6450025" y="1315475"/>
            <a:ext cx="29700" cy="271800"/>
          </a:xfrm>
          <a:prstGeom prst="straightConnector1">
            <a:avLst/>
          </a:prstGeom>
          <a:noFill/>
          <a:ln cap="flat" cmpd="sng" w="19050">
            <a:solidFill>
              <a:schemeClr val="dk2"/>
            </a:solidFill>
            <a:prstDash val="solid"/>
            <a:round/>
            <a:headEnd len="med" w="med" type="none"/>
            <a:tailEnd len="med" w="med" type="none"/>
          </a:ln>
        </p:spPr>
      </p:cxnSp>
      <p:sp>
        <p:nvSpPr>
          <p:cNvPr id="1172" name="Google Shape;1172;p64"/>
          <p:cNvSpPr/>
          <p:nvPr/>
        </p:nvSpPr>
        <p:spPr>
          <a:xfrm>
            <a:off x="6827896" y="158342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22</a:t>
            </a:r>
            <a:endParaRPr sz="1800"/>
          </a:p>
        </p:txBody>
      </p:sp>
      <p:cxnSp>
        <p:nvCxnSpPr>
          <p:cNvPr id="1173" name="Google Shape;1173;p64"/>
          <p:cNvCxnSpPr>
            <a:stCxn id="1172" idx="0"/>
          </p:cNvCxnSpPr>
          <p:nvPr/>
        </p:nvCxnSpPr>
        <p:spPr>
          <a:xfrm rot="10800000">
            <a:off x="6873346" y="1304125"/>
            <a:ext cx="199800" cy="279300"/>
          </a:xfrm>
          <a:prstGeom prst="straightConnector1">
            <a:avLst/>
          </a:prstGeom>
          <a:noFill/>
          <a:ln cap="flat" cmpd="sng" w="19050">
            <a:solidFill>
              <a:schemeClr val="dk2"/>
            </a:solidFill>
            <a:prstDash val="solid"/>
            <a:round/>
            <a:headEnd len="med" w="med" type="none"/>
            <a:tailEnd len="med" w="med" type="none"/>
          </a:ln>
        </p:spPr>
      </p:cxnSp>
      <p:sp>
        <p:nvSpPr>
          <p:cNvPr id="1174" name="Google Shape;1174;p64"/>
          <p:cNvSpPr/>
          <p:nvPr/>
        </p:nvSpPr>
        <p:spPr>
          <a:xfrm>
            <a:off x="5553775" y="3774175"/>
            <a:ext cx="985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24  25</a:t>
            </a:r>
            <a:endParaRPr sz="1800"/>
          </a:p>
        </p:txBody>
      </p:sp>
      <p:sp>
        <p:nvSpPr>
          <p:cNvPr id="1175" name="Google Shape;1175;p64"/>
          <p:cNvSpPr/>
          <p:nvPr/>
        </p:nvSpPr>
        <p:spPr>
          <a:xfrm>
            <a:off x="3520475" y="377417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15</a:t>
            </a:r>
            <a:endParaRPr sz="1800"/>
          </a:p>
        </p:txBody>
      </p:sp>
      <p:sp>
        <p:nvSpPr>
          <p:cNvPr id="1176" name="Google Shape;1176;p64"/>
          <p:cNvSpPr/>
          <p:nvPr/>
        </p:nvSpPr>
        <p:spPr>
          <a:xfrm>
            <a:off x="2663766" y="3774183"/>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5</a:t>
            </a:r>
            <a:endParaRPr sz="1800"/>
          </a:p>
        </p:txBody>
      </p:sp>
      <p:sp>
        <p:nvSpPr>
          <p:cNvPr id="1177" name="Google Shape;1177;p64"/>
          <p:cNvSpPr/>
          <p:nvPr/>
        </p:nvSpPr>
        <p:spPr>
          <a:xfrm>
            <a:off x="4485850" y="3177425"/>
            <a:ext cx="8454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21  23</a:t>
            </a:r>
            <a:endParaRPr sz="1800"/>
          </a:p>
        </p:txBody>
      </p:sp>
      <p:cxnSp>
        <p:nvCxnSpPr>
          <p:cNvPr id="1178" name="Google Shape;1178;p64"/>
          <p:cNvCxnSpPr>
            <a:stCxn id="1179" idx="2"/>
            <a:endCxn id="1176" idx="0"/>
          </p:cNvCxnSpPr>
          <p:nvPr/>
        </p:nvCxnSpPr>
        <p:spPr>
          <a:xfrm flipH="1">
            <a:off x="2908925" y="3489275"/>
            <a:ext cx="399600" cy="285000"/>
          </a:xfrm>
          <a:prstGeom prst="straightConnector1">
            <a:avLst/>
          </a:prstGeom>
          <a:noFill/>
          <a:ln cap="flat" cmpd="sng" w="19050">
            <a:solidFill>
              <a:srgbClr val="666666"/>
            </a:solidFill>
            <a:prstDash val="solid"/>
            <a:round/>
            <a:headEnd len="med" w="med" type="none"/>
            <a:tailEnd len="med" w="med" type="none"/>
          </a:ln>
        </p:spPr>
      </p:cxnSp>
      <p:cxnSp>
        <p:nvCxnSpPr>
          <p:cNvPr id="1180" name="Google Shape;1180;p64"/>
          <p:cNvCxnSpPr>
            <a:endCxn id="1174" idx="0"/>
          </p:cNvCxnSpPr>
          <p:nvPr/>
        </p:nvCxnSpPr>
        <p:spPr>
          <a:xfrm>
            <a:off x="5256625" y="3507475"/>
            <a:ext cx="789900" cy="266700"/>
          </a:xfrm>
          <a:prstGeom prst="straightConnector1">
            <a:avLst/>
          </a:prstGeom>
          <a:noFill/>
          <a:ln cap="flat" cmpd="sng" w="19050">
            <a:solidFill>
              <a:srgbClr val="666666"/>
            </a:solidFill>
            <a:prstDash val="solid"/>
            <a:round/>
            <a:headEnd len="med" w="med" type="none"/>
            <a:tailEnd len="med" w="med" type="none"/>
          </a:ln>
        </p:spPr>
      </p:cxnSp>
      <p:cxnSp>
        <p:nvCxnSpPr>
          <p:cNvPr id="1181" name="Google Shape;1181;p64"/>
          <p:cNvCxnSpPr>
            <a:stCxn id="1175" idx="0"/>
            <a:endCxn id="1179" idx="2"/>
          </p:cNvCxnSpPr>
          <p:nvPr/>
        </p:nvCxnSpPr>
        <p:spPr>
          <a:xfrm rot="10800000">
            <a:off x="3308525" y="3489175"/>
            <a:ext cx="457200" cy="285000"/>
          </a:xfrm>
          <a:prstGeom prst="straightConnector1">
            <a:avLst/>
          </a:prstGeom>
          <a:noFill/>
          <a:ln cap="flat" cmpd="sng" w="19050">
            <a:solidFill>
              <a:schemeClr val="dk2"/>
            </a:solidFill>
            <a:prstDash val="solid"/>
            <a:round/>
            <a:headEnd len="med" w="med" type="none"/>
            <a:tailEnd len="med" w="med" type="none"/>
          </a:ln>
        </p:spPr>
      </p:cxnSp>
      <p:sp>
        <p:nvSpPr>
          <p:cNvPr id="1182" name="Google Shape;1182;p64"/>
          <p:cNvSpPr/>
          <p:nvPr/>
        </p:nvSpPr>
        <p:spPr>
          <a:xfrm>
            <a:off x="4172250" y="377417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19</a:t>
            </a:r>
            <a:endParaRPr sz="1800"/>
          </a:p>
        </p:txBody>
      </p:sp>
      <p:cxnSp>
        <p:nvCxnSpPr>
          <p:cNvPr id="1183" name="Google Shape;1183;p64"/>
          <p:cNvCxnSpPr>
            <a:stCxn id="1182" idx="0"/>
          </p:cNvCxnSpPr>
          <p:nvPr/>
        </p:nvCxnSpPr>
        <p:spPr>
          <a:xfrm flipH="1" rot="10800000">
            <a:off x="4417500" y="3507475"/>
            <a:ext cx="114900" cy="266700"/>
          </a:xfrm>
          <a:prstGeom prst="straightConnector1">
            <a:avLst/>
          </a:prstGeom>
          <a:noFill/>
          <a:ln cap="flat" cmpd="sng" w="19050">
            <a:solidFill>
              <a:schemeClr val="dk2"/>
            </a:solidFill>
            <a:prstDash val="solid"/>
            <a:round/>
            <a:headEnd len="med" w="med" type="none"/>
            <a:tailEnd len="med" w="med" type="none"/>
          </a:ln>
        </p:spPr>
      </p:cxnSp>
      <p:sp>
        <p:nvSpPr>
          <p:cNvPr id="1184" name="Google Shape;1184;p64"/>
          <p:cNvSpPr/>
          <p:nvPr/>
        </p:nvSpPr>
        <p:spPr>
          <a:xfrm>
            <a:off x="4765671" y="377032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22</a:t>
            </a:r>
            <a:endParaRPr sz="1800"/>
          </a:p>
        </p:txBody>
      </p:sp>
      <p:cxnSp>
        <p:nvCxnSpPr>
          <p:cNvPr id="1185" name="Google Shape;1185;p64"/>
          <p:cNvCxnSpPr>
            <a:stCxn id="1184" idx="0"/>
            <a:endCxn id="1177" idx="2"/>
          </p:cNvCxnSpPr>
          <p:nvPr/>
        </p:nvCxnSpPr>
        <p:spPr>
          <a:xfrm rot="10800000">
            <a:off x="4908621" y="3502425"/>
            <a:ext cx="102300" cy="267900"/>
          </a:xfrm>
          <a:prstGeom prst="straightConnector1">
            <a:avLst/>
          </a:prstGeom>
          <a:noFill/>
          <a:ln cap="flat" cmpd="sng" w="19050">
            <a:solidFill>
              <a:schemeClr val="dk2"/>
            </a:solidFill>
            <a:prstDash val="solid"/>
            <a:round/>
            <a:headEnd len="med" w="med" type="none"/>
            <a:tailEnd len="med" w="med" type="none"/>
          </a:ln>
        </p:spPr>
      </p:cxnSp>
      <p:sp>
        <p:nvSpPr>
          <p:cNvPr id="1186" name="Google Shape;1186;p64"/>
          <p:cNvSpPr/>
          <p:nvPr/>
        </p:nvSpPr>
        <p:spPr>
          <a:xfrm>
            <a:off x="3782371" y="255457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17</a:t>
            </a:r>
            <a:endParaRPr sz="1800"/>
          </a:p>
        </p:txBody>
      </p:sp>
      <p:sp>
        <p:nvSpPr>
          <p:cNvPr id="1179" name="Google Shape;1179;p64"/>
          <p:cNvSpPr/>
          <p:nvPr/>
        </p:nvSpPr>
        <p:spPr>
          <a:xfrm>
            <a:off x="3063275" y="316437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13</a:t>
            </a:r>
            <a:endParaRPr sz="1800"/>
          </a:p>
        </p:txBody>
      </p:sp>
      <p:cxnSp>
        <p:nvCxnSpPr>
          <p:cNvPr id="1187" name="Google Shape;1187;p64"/>
          <p:cNvCxnSpPr>
            <a:stCxn id="1179" idx="0"/>
            <a:endCxn id="1186" idx="2"/>
          </p:cNvCxnSpPr>
          <p:nvPr/>
        </p:nvCxnSpPr>
        <p:spPr>
          <a:xfrm flipH="1" rot="10800000">
            <a:off x="3308525" y="2879375"/>
            <a:ext cx="719100" cy="285000"/>
          </a:xfrm>
          <a:prstGeom prst="straightConnector1">
            <a:avLst/>
          </a:prstGeom>
          <a:noFill/>
          <a:ln cap="flat" cmpd="sng" w="19050">
            <a:solidFill>
              <a:schemeClr val="dk2"/>
            </a:solidFill>
            <a:prstDash val="solid"/>
            <a:round/>
            <a:headEnd len="med" w="med" type="none"/>
            <a:tailEnd len="med" w="med" type="none"/>
          </a:ln>
        </p:spPr>
      </p:cxnSp>
      <p:cxnSp>
        <p:nvCxnSpPr>
          <p:cNvPr id="1188" name="Google Shape;1188;p64"/>
          <p:cNvCxnSpPr>
            <a:stCxn id="1186" idx="2"/>
            <a:endCxn id="1177" idx="0"/>
          </p:cNvCxnSpPr>
          <p:nvPr/>
        </p:nvCxnSpPr>
        <p:spPr>
          <a:xfrm>
            <a:off x="4027621" y="2879475"/>
            <a:ext cx="880800" cy="297900"/>
          </a:xfrm>
          <a:prstGeom prst="straightConnector1">
            <a:avLst/>
          </a:prstGeom>
          <a:noFill/>
          <a:ln cap="flat" cmpd="sng" w="19050">
            <a:solidFill>
              <a:schemeClr val="dk2"/>
            </a:solidFill>
            <a:prstDash val="solid"/>
            <a:round/>
            <a:headEnd len="med" w="med" type="none"/>
            <a:tailEnd len="med" w="med" type="none"/>
          </a:ln>
        </p:spPr>
      </p:cxn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p65"/>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Binary Search Trees</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BST Height, Big O vs. Worst Case Big Theta</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Worst Case Performance</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B-Trees</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Splitting Juicy Nodes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Chain Reaction Splitting</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B-Tree Terminology</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Invariants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Worst Case Performance</a:t>
            </a:r>
            <a:endParaRPr>
              <a:solidFill>
                <a:schemeClr val="dk2"/>
              </a:solidFill>
            </a:endParaRPr>
          </a:p>
        </p:txBody>
      </p:sp>
      <p:sp>
        <p:nvSpPr>
          <p:cNvPr id="1194" name="Google Shape;1194;p6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B-Tree Terminology</a:t>
            </a:r>
            <a:endParaRPr/>
          </a:p>
        </p:txBody>
      </p:sp>
      <p:sp>
        <p:nvSpPr>
          <p:cNvPr id="1195" name="Google Shape;1195;p6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17, CS61B, Fall 2023</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99" name="Shape 1199"/>
        <p:cNvGrpSpPr/>
        <p:nvPr/>
      </p:nvGrpSpPr>
      <p:grpSpPr>
        <a:xfrm>
          <a:off x="0" y="0"/>
          <a:ext cx="0" cy="0"/>
          <a:chOff x="0" y="0"/>
          <a:chExt cx="0" cy="0"/>
        </a:xfrm>
      </p:grpSpPr>
      <p:sp>
        <p:nvSpPr>
          <p:cNvPr id="1200" name="Google Shape;1200;p6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Perfect Balance</a:t>
            </a:r>
            <a:endParaRPr/>
          </a:p>
        </p:txBody>
      </p:sp>
      <p:sp>
        <p:nvSpPr>
          <p:cNvPr id="1201" name="Google Shape;1201;p6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Observation: Splitting-trees have perfect balance.</a:t>
            </a:r>
            <a:endParaRPr/>
          </a:p>
          <a:p>
            <a:pPr indent="-342900" lvl="0" marL="457200" rtl="0" algn="l">
              <a:spcBef>
                <a:spcPts val="600"/>
              </a:spcBef>
              <a:spcAft>
                <a:spcPts val="0"/>
              </a:spcAft>
              <a:buSzPts val="1800"/>
              <a:buChar char="●"/>
            </a:pPr>
            <a:r>
              <a:rPr lang="en"/>
              <a:t>If we split the root, every node gets pushed down by exactly one level.</a:t>
            </a:r>
            <a:endParaRPr/>
          </a:p>
          <a:p>
            <a:pPr indent="-342900" lvl="0" marL="457200" rtl="0" algn="l">
              <a:spcBef>
                <a:spcPts val="0"/>
              </a:spcBef>
              <a:spcAft>
                <a:spcPts val="0"/>
              </a:spcAft>
              <a:buSzPts val="1800"/>
              <a:buChar char="●"/>
            </a:pPr>
            <a:r>
              <a:rPr lang="en"/>
              <a:t>If we split a leaf node or internal node, the height doesn’t change.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We will soon prove: All operations have guaranteed O(log N) time.</a:t>
            </a:r>
            <a:endParaRPr/>
          </a:p>
          <a:p>
            <a:pPr indent="-342900" lvl="0" marL="457200" rtl="0" algn="l">
              <a:spcBef>
                <a:spcPts val="600"/>
              </a:spcBef>
              <a:spcAft>
                <a:spcPts val="0"/>
              </a:spcAft>
              <a:buSzPts val="1800"/>
              <a:buChar char="●"/>
            </a:pPr>
            <a:r>
              <a:rPr lang="en"/>
              <a:t>More details soon.</a:t>
            </a:r>
            <a:endParaRPr/>
          </a:p>
        </p:txBody>
      </p:sp>
      <p:sp>
        <p:nvSpPr>
          <p:cNvPr id="1202" name="Google Shape;1202;p66"/>
          <p:cNvSpPr/>
          <p:nvPr/>
        </p:nvSpPr>
        <p:spPr>
          <a:xfrm>
            <a:off x="5553775" y="4307575"/>
            <a:ext cx="985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24  25</a:t>
            </a:r>
            <a:endParaRPr sz="1800"/>
          </a:p>
        </p:txBody>
      </p:sp>
      <p:sp>
        <p:nvSpPr>
          <p:cNvPr id="1203" name="Google Shape;1203;p66"/>
          <p:cNvSpPr/>
          <p:nvPr/>
        </p:nvSpPr>
        <p:spPr>
          <a:xfrm>
            <a:off x="3520475" y="430757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15</a:t>
            </a:r>
            <a:endParaRPr sz="1800"/>
          </a:p>
        </p:txBody>
      </p:sp>
      <p:sp>
        <p:nvSpPr>
          <p:cNvPr id="1204" name="Google Shape;1204;p66"/>
          <p:cNvSpPr/>
          <p:nvPr/>
        </p:nvSpPr>
        <p:spPr>
          <a:xfrm>
            <a:off x="2663766" y="4307583"/>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5</a:t>
            </a:r>
            <a:endParaRPr sz="1800"/>
          </a:p>
        </p:txBody>
      </p:sp>
      <p:sp>
        <p:nvSpPr>
          <p:cNvPr id="1205" name="Google Shape;1205;p66"/>
          <p:cNvSpPr/>
          <p:nvPr/>
        </p:nvSpPr>
        <p:spPr>
          <a:xfrm>
            <a:off x="4485850" y="3710825"/>
            <a:ext cx="8454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21  23</a:t>
            </a:r>
            <a:endParaRPr sz="1800"/>
          </a:p>
        </p:txBody>
      </p:sp>
      <p:cxnSp>
        <p:nvCxnSpPr>
          <p:cNvPr id="1206" name="Google Shape;1206;p66"/>
          <p:cNvCxnSpPr>
            <a:stCxn id="1207" idx="2"/>
            <a:endCxn id="1204" idx="0"/>
          </p:cNvCxnSpPr>
          <p:nvPr/>
        </p:nvCxnSpPr>
        <p:spPr>
          <a:xfrm flipH="1">
            <a:off x="2908925" y="4022675"/>
            <a:ext cx="399600" cy="285000"/>
          </a:xfrm>
          <a:prstGeom prst="straightConnector1">
            <a:avLst/>
          </a:prstGeom>
          <a:noFill/>
          <a:ln cap="flat" cmpd="sng" w="19050">
            <a:solidFill>
              <a:srgbClr val="666666"/>
            </a:solidFill>
            <a:prstDash val="solid"/>
            <a:round/>
            <a:headEnd len="med" w="med" type="none"/>
            <a:tailEnd len="med" w="med" type="none"/>
          </a:ln>
        </p:spPr>
      </p:cxnSp>
      <p:cxnSp>
        <p:nvCxnSpPr>
          <p:cNvPr id="1208" name="Google Shape;1208;p66"/>
          <p:cNvCxnSpPr>
            <a:endCxn id="1202" idx="0"/>
          </p:cNvCxnSpPr>
          <p:nvPr/>
        </p:nvCxnSpPr>
        <p:spPr>
          <a:xfrm>
            <a:off x="5256625" y="4040875"/>
            <a:ext cx="789900" cy="266700"/>
          </a:xfrm>
          <a:prstGeom prst="straightConnector1">
            <a:avLst/>
          </a:prstGeom>
          <a:noFill/>
          <a:ln cap="flat" cmpd="sng" w="19050">
            <a:solidFill>
              <a:srgbClr val="666666"/>
            </a:solidFill>
            <a:prstDash val="solid"/>
            <a:round/>
            <a:headEnd len="med" w="med" type="none"/>
            <a:tailEnd len="med" w="med" type="none"/>
          </a:ln>
        </p:spPr>
      </p:cxnSp>
      <p:cxnSp>
        <p:nvCxnSpPr>
          <p:cNvPr id="1209" name="Google Shape;1209;p66"/>
          <p:cNvCxnSpPr>
            <a:stCxn id="1203" idx="0"/>
            <a:endCxn id="1207" idx="2"/>
          </p:cNvCxnSpPr>
          <p:nvPr/>
        </p:nvCxnSpPr>
        <p:spPr>
          <a:xfrm rot="10800000">
            <a:off x="3308525" y="4022575"/>
            <a:ext cx="457200" cy="285000"/>
          </a:xfrm>
          <a:prstGeom prst="straightConnector1">
            <a:avLst/>
          </a:prstGeom>
          <a:noFill/>
          <a:ln cap="flat" cmpd="sng" w="19050">
            <a:solidFill>
              <a:schemeClr val="dk2"/>
            </a:solidFill>
            <a:prstDash val="solid"/>
            <a:round/>
            <a:headEnd len="med" w="med" type="none"/>
            <a:tailEnd len="med" w="med" type="none"/>
          </a:ln>
        </p:spPr>
      </p:cxnSp>
      <p:sp>
        <p:nvSpPr>
          <p:cNvPr id="1210" name="Google Shape;1210;p66"/>
          <p:cNvSpPr/>
          <p:nvPr/>
        </p:nvSpPr>
        <p:spPr>
          <a:xfrm>
            <a:off x="4172250" y="430757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19</a:t>
            </a:r>
            <a:endParaRPr sz="1800"/>
          </a:p>
        </p:txBody>
      </p:sp>
      <p:cxnSp>
        <p:nvCxnSpPr>
          <p:cNvPr id="1211" name="Google Shape;1211;p66"/>
          <p:cNvCxnSpPr>
            <a:stCxn id="1210" idx="0"/>
          </p:cNvCxnSpPr>
          <p:nvPr/>
        </p:nvCxnSpPr>
        <p:spPr>
          <a:xfrm flipH="1" rot="10800000">
            <a:off x="4417500" y="4040875"/>
            <a:ext cx="114900" cy="266700"/>
          </a:xfrm>
          <a:prstGeom prst="straightConnector1">
            <a:avLst/>
          </a:prstGeom>
          <a:noFill/>
          <a:ln cap="flat" cmpd="sng" w="19050">
            <a:solidFill>
              <a:schemeClr val="dk2"/>
            </a:solidFill>
            <a:prstDash val="solid"/>
            <a:round/>
            <a:headEnd len="med" w="med" type="none"/>
            <a:tailEnd len="med" w="med" type="none"/>
          </a:ln>
        </p:spPr>
      </p:cxnSp>
      <p:sp>
        <p:nvSpPr>
          <p:cNvPr id="1212" name="Google Shape;1212;p66"/>
          <p:cNvSpPr/>
          <p:nvPr/>
        </p:nvSpPr>
        <p:spPr>
          <a:xfrm>
            <a:off x="4765671" y="430372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22</a:t>
            </a:r>
            <a:endParaRPr sz="1800"/>
          </a:p>
        </p:txBody>
      </p:sp>
      <p:cxnSp>
        <p:nvCxnSpPr>
          <p:cNvPr id="1213" name="Google Shape;1213;p66"/>
          <p:cNvCxnSpPr>
            <a:stCxn id="1212" idx="0"/>
            <a:endCxn id="1205" idx="2"/>
          </p:cNvCxnSpPr>
          <p:nvPr/>
        </p:nvCxnSpPr>
        <p:spPr>
          <a:xfrm rot="10800000">
            <a:off x="4908621" y="4035825"/>
            <a:ext cx="102300" cy="267900"/>
          </a:xfrm>
          <a:prstGeom prst="straightConnector1">
            <a:avLst/>
          </a:prstGeom>
          <a:noFill/>
          <a:ln cap="flat" cmpd="sng" w="19050">
            <a:solidFill>
              <a:schemeClr val="dk2"/>
            </a:solidFill>
            <a:prstDash val="solid"/>
            <a:round/>
            <a:headEnd len="med" w="med" type="none"/>
            <a:tailEnd len="med" w="med" type="none"/>
          </a:ln>
        </p:spPr>
      </p:cxnSp>
      <p:sp>
        <p:nvSpPr>
          <p:cNvPr id="1214" name="Google Shape;1214;p66"/>
          <p:cNvSpPr/>
          <p:nvPr/>
        </p:nvSpPr>
        <p:spPr>
          <a:xfrm>
            <a:off x="3782371" y="308797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17</a:t>
            </a:r>
            <a:endParaRPr sz="1800"/>
          </a:p>
        </p:txBody>
      </p:sp>
      <p:sp>
        <p:nvSpPr>
          <p:cNvPr id="1207" name="Google Shape;1207;p66"/>
          <p:cNvSpPr/>
          <p:nvPr/>
        </p:nvSpPr>
        <p:spPr>
          <a:xfrm>
            <a:off x="3063275" y="369777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13</a:t>
            </a:r>
            <a:endParaRPr sz="1800"/>
          </a:p>
        </p:txBody>
      </p:sp>
      <p:cxnSp>
        <p:nvCxnSpPr>
          <p:cNvPr id="1215" name="Google Shape;1215;p66"/>
          <p:cNvCxnSpPr>
            <a:stCxn id="1207" idx="0"/>
            <a:endCxn id="1214" idx="2"/>
          </p:cNvCxnSpPr>
          <p:nvPr/>
        </p:nvCxnSpPr>
        <p:spPr>
          <a:xfrm flipH="1" rot="10800000">
            <a:off x="3308525" y="3412775"/>
            <a:ext cx="719100" cy="285000"/>
          </a:xfrm>
          <a:prstGeom prst="straightConnector1">
            <a:avLst/>
          </a:prstGeom>
          <a:noFill/>
          <a:ln cap="flat" cmpd="sng" w="19050">
            <a:solidFill>
              <a:schemeClr val="dk2"/>
            </a:solidFill>
            <a:prstDash val="solid"/>
            <a:round/>
            <a:headEnd len="med" w="med" type="none"/>
            <a:tailEnd len="med" w="med" type="none"/>
          </a:ln>
        </p:spPr>
      </p:cxnSp>
      <p:cxnSp>
        <p:nvCxnSpPr>
          <p:cNvPr id="1216" name="Google Shape;1216;p66"/>
          <p:cNvCxnSpPr>
            <a:stCxn id="1214" idx="2"/>
            <a:endCxn id="1205" idx="0"/>
          </p:cNvCxnSpPr>
          <p:nvPr/>
        </p:nvCxnSpPr>
        <p:spPr>
          <a:xfrm>
            <a:off x="4027621" y="3412875"/>
            <a:ext cx="880800" cy="297900"/>
          </a:xfrm>
          <a:prstGeom prst="straightConnector1">
            <a:avLst/>
          </a:prstGeom>
          <a:noFill/>
          <a:ln cap="flat" cmpd="sng" w="19050">
            <a:solidFill>
              <a:schemeClr val="dk2"/>
            </a:solidFill>
            <a:prstDash val="solid"/>
            <a:round/>
            <a:headEnd len="med" w="med" type="none"/>
            <a:tailEnd len="med" w="med" type="none"/>
          </a:ln>
        </p:spPr>
      </p:cxn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0" name="Shape 1220"/>
        <p:cNvGrpSpPr/>
        <p:nvPr/>
      </p:nvGrpSpPr>
      <p:grpSpPr>
        <a:xfrm>
          <a:off x="0" y="0"/>
          <a:ext cx="0" cy="0"/>
          <a:chOff x="0" y="0"/>
          <a:chExt cx="0" cy="0"/>
        </a:xfrm>
      </p:grpSpPr>
      <p:sp>
        <p:nvSpPr>
          <p:cNvPr id="1221" name="Google Shape;1221;p6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Real Name for Splitting Trees is “B Trees”</a:t>
            </a:r>
            <a:endParaRPr/>
          </a:p>
        </p:txBody>
      </p:sp>
      <p:sp>
        <p:nvSpPr>
          <p:cNvPr id="1222" name="Google Shape;1222;p67"/>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Splitting tree is a better name, but I didn’t invent them, so we’re stuck with their real name: </a:t>
            </a:r>
            <a:r>
              <a:rPr b="1" lang="en"/>
              <a:t>B-trees</a:t>
            </a:r>
            <a:r>
              <a:rPr lang="en"/>
              <a:t>.</a:t>
            </a:r>
            <a:endParaRPr/>
          </a:p>
          <a:p>
            <a:pPr indent="-342900" lvl="0" marL="457200" rtl="0" algn="l">
              <a:spcBef>
                <a:spcPts val="600"/>
              </a:spcBef>
              <a:spcAft>
                <a:spcPts val="0"/>
              </a:spcAft>
              <a:buSzPts val="1800"/>
              <a:buChar char="●"/>
            </a:pPr>
            <a:r>
              <a:rPr lang="en"/>
              <a:t>B-trees of order L=3 (like we used today) are also called a 2-3-4 tree or a 2-4 tree. </a:t>
            </a:r>
            <a:endParaRPr/>
          </a:p>
          <a:p>
            <a:pPr indent="-342900" lvl="1" marL="914400" rtl="0" algn="l">
              <a:spcBef>
                <a:spcPts val="0"/>
              </a:spcBef>
              <a:spcAft>
                <a:spcPts val="0"/>
              </a:spcAft>
              <a:buSzPts val="1800"/>
              <a:buChar char="○"/>
            </a:pPr>
            <a:r>
              <a:rPr lang="en"/>
              <a:t>“2-3-4” refers to the number of children that a node can have, e.g. a 2-3-4 tree node may have 2, 3, or 4 children.</a:t>
            </a:r>
            <a:endParaRPr/>
          </a:p>
          <a:p>
            <a:pPr indent="-342900" lvl="0" marL="457200" rtl="0" algn="l">
              <a:spcBef>
                <a:spcPts val="0"/>
              </a:spcBef>
              <a:spcAft>
                <a:spcPts val="0"/>
              </a:spcAft>
              <a:buSzPts val="1800"/>
              <a:buChar char="●"/>
            </a:pPr>
            <a:r>
              <a:rPr lang="en"/>
              <a:t>B-trees of order L=2 are also called a 2-3 tree.</a:t>
            </a:r>
            <a:endParaRPr/>
          </a:p>
          <a:p>
            <a:pPr indent="0" lvl="0" marL="457200" rtl="0" algn="l">
              <a:spcBef>
                <a:spcPts val="600"/>
              </a:spcBef>
              <a:spcAft>
                <a:spcPts val="0"/>
              </a:spcAft>
              <a:buNone/>
            </a:pPr>
            <a:r>
              <a:t/>
            </a:r>
            <a:endParaRPr/>
          </a:p>
        </p:txBody>
      </p:sp>
      <p:sp>
        <p:nvSpPr>
          <p:cNvPr id="1223" name="Google Shape;1223;p67"/>
          <p:cNvSpPr txBox="1"/>
          <p:nvPr/>
        </p:nvSpPr>
        <p:spPr>
          <a:xfrm>
            <a:off x="474575" y="3397550"/>
            <a:ext cx="7824300" cy="20523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i="1" lang="en" sz="2000">
                <a:latin typeface="Calibri"/>
                <a:ea typeface="Calibri"/>
                <a:cs typeface="Calibri"/>
                <a:sym typeface="Calibri"/>
              </a:rPr>
              <a:t>The origin of "B-tree" has never been explained by the authors. As we shall see, "balanced," "broad," or "bushy" might apply. Others suggest that the "B" stands for Boeing. Because of his contributions, however, it seems appropriate to think of B-trees as "Bayer"-trees. </a:t>
            </a:r>
            <a:endParaRPr i="1" sz="2000">
              <a:latin typeface="Calibri"/>
              <a:ea typeface="Calibri"/>
              <a:cs typeface="Calibri"/>
              <a:sym typeface="Calibri"/>
            </a:endParaRPr>
          </a:p>
          <a:p>
            <a:pPr indent="457200" lvl="0" marL="2743200" rtl="0" algn="just">
              <a:spcBef>
                <a:spcPts val="0"/>
              </a:spcBef>
              <a:spcAft>
                <a:spcPts val="0"/>
              </a:spcAft>
              <a:buNone/>
            </a:pPr>
            <a:r>
              <a:rPr lang="en" sz="2000">
                <a:latin typeface="Calibri"/>
                <a:ea typeface="Calibri"/>
                <a:cs typeface="Calibri"/>
                <a:sym typeface="Calibri"/>
              </a:rPr>
              <a:t>- Douglas Corner (The Ubiquitous B-Tree)</a:t>
            </a:r>
            <a:r>
              <a:rPr i="1" lang="en" sz="2000">
                <a:latin typeface="Calibri"/>
                <a:ea typeface="Calibri"/>
                <a:cs typeface="Calibri"/>
                <a:sym typeface="Calibri"/>
              </a:rPr>
              <a:t> </a:t>
            </a:r>
            <a:endParaRPr i="1" sz="2000">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2">
                                            <p:txEl>
                                              <p:pRg end="0" st="0"/>
                                            </p:txEl>
                                          </p:spTgt>
                                        </p:tgtEl>
                                        <p:attrNameLst>
                                          <p:attrName>style.visibility</p:attrName>
                                        </p:attrNameLst>
                                      </p:cBhvr>
                                      <p:to>
                                        <p:strVal val="visible"/>
                                      </p:to>
                                    </p:set>
                                    <p:animEffect filter="fade" transition="in">
                                      <p:cBhvr>
                                        <p:cTn dur="1"/>
                                        <p:tgtEl>
                                          <p:spTgt spid="122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2">
                                            <p:txEl>
                                              <p:pRg end="1" st="1"/>
                                            </p:txEl>
                                          </p:spTgt>
                                        </p:tgtEl>
                                        <p:attrNameLst>
                                          <p:attrName>style.visibility</p:attrName>
                                        </p:attrNameLst>
                                      </p:cBhvr>
                                      <p:to>
                                        <p:strVal val="visible"/>
                                      </p:to>
                                    </p:set>
                                    <p:animEffect filter="fade" transition="in">
                                      <p:cBhvr>
                                        <p:cTn dur="1"/>
                                        <p:tgtEl>
                                          <p:spTgt spid="122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2">
                                            <p:txEl>
                                              <p:pRg end="2" st="2"/>
                                            </p:txEl>
                                          </p:spTgt>
                                        </p:tgtEl>
                                        <p:attrNameLst>
                                          <p:attrName>style.visibility</p:attrName>
                                        </p:attrNameLst>
                                      </p:cBhvr>
                                      <p:to>
                                        <p:strVal val="visible"/>
                                      </p:to>
                                    </p:set>
                                    <p:animEffect filter="fade" transition="in">
                                      <p:cBhvr>
                                        <p:cTn dur="1"/>
                                        <p:tgtEl>
                                          <p:spTgt spid="122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2">
                                            <p:txEl>
                                              <p:pRg end="3" st="3"/>
                                            </p:txEl>
                                          </p:spTgt>
                                        </p:tgtEl>
                                        <p:attrNameLst>
                                          <p:attrName>style.visibility</p:attrName>
                                        </p:attrNameLst>
                                      </p:cBhvr>
                                      <p:to>
                                        <p:strVal val="visible"/>
                                      </p:to>
                                    </p:set>
                                    <p:animEffect filter="fade" transition="in">
                                      <p:cBhvr>
                                        <p:cTn dur="1"/>
                                        <p:tgtEl>
                                          <p:spTgt spid="122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2">
                                            <p:txEl>
                                              <p:pRg end="4" st="4"/>
                                            </p:txEl>
                                          </p:spTgt>
                                        </p:tgtEl>
                                        <p:attrNameLst>
                                          <p:attrName>style.visibility</p:attrName>
                                        </p:attrNameLst>
                                      </p:cBhvr>
                                      <p:to>
                                        <p:strVal val="visible"/>
                                      </p:to>
                                    </p:set>
                                    <p:animEffect filter="fade" transition="in">
                                      <p:cBhvr>
                                        <p:cTn dur="1"/>
                                        <p:tgtEl>
                                          <p:spTgt spid="122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3"/>
                                        </p:tgtEl>
                                        <p:attrNameLst>
                                          <p:attrName>style.visibility</p:attrName>
                                        </p:attrNameLst>
                                      </p:cBhvr>
                                      <p:to>
                                        <p:strVal val="visible"/>
                                      </p:to>
                                    </p:set>
                                    <p:animEffect filter="fade" transition="in">
                                      <p:cBhvr>
                                        <p:cTn dur="1"/>
                                        <p:tgtEl>
                                          <p:spTgt spid="12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p6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note on Terminology</a:t>
            </a:r>
            <a:endParaRPr/>
          </a:p>
        </p:txBody>
      </p:sp>
      <p:sp>
        <p:nvSpPr>
          <p:cNvPr id="1229" name="Google Shape;1229;p68"/>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B-Trees are most popular in two specific contexts:</a:t>
            </a:r>
            <a:endParaRPr/>
          </a:p>
          <a:p>
            <a:pPr indent="-342900" lvl="0" marL="457200" rtl="0" algn="l">
              <a:spcBef>
                <a:spcPts val="600"/>
              </a:spcBef>
              <a:spcAft>
                <a:spcPts val="0"/>
              </a:spcAft>
              <a:buSzPts val="1800"/>
              <a:buChar char="●"/>
            </a:pPr>
            <a:r>
              <a:rPr lang="en"/>
              <a:t>Small L (L=2 or L=3):</a:t>
            </a:r>
            <a:endParaRPr/>
          </a:p>
          <a:p>
            <a:pPr indent="-342900" lvl="1" marL="914400" rtl="0" algn="l">
              <a:spcBef>
                <a:spcPts val="0"/>
              </a:spcBef>
              <a:spcAft>
                <a:spcPts val="0"/>
              </a:spcAft>
              <a:buSzPts val="1800"/>
              <a:buChar char="○"/>
            </a:pPr>
            <a:r>
              <a:rPr lang="en"/>
              <a:t>Used as a conceptually simple balanced search tree (as today).</a:t>
            </a:r>
            <a:endParaRPr/>
          </a:p>
          <a:p>
            <a:pPr indent="-342900" lvl="0" marL="457200" rtl="0" algn="l">
              <a:spcBef>
                <a:spcPts val="0"/>
              </a:spcBef>
              <a:spcAft>
                <a:spcPts val="0"/>
              </a:spcAft>
              <a:buSzPts val="1800"/>
              <a:buChar char="●"/>
            </a:pPr>
            <a:r>
              <a:rPr lang="en"/>
              <a:t>L is very large (say thousands).</a:t>
            </a:r>
            <a:endParaRPr/>
          </a:p>
          <a:p>
            <a:pPr indent="-342900" lvl="1" marL="914400" rtl="0" algn="l">
              <a:spcBef>
                <a:spcPts val="0"/>
              </a:spcBef>
              <a:spcAft>
                <a:spcPts val="0"/>
              </a:spcAft>
              <a:buSzPts val="1800"/>
              <a:buChar char="○"/>
            </a:pPr>
            <a:r>
              <a:rPr lang="en"/>
              <a:t>Used in practice for databases and filesystems (i.e. systems with very large records).</a:t>
            </a:r>
            <a:endParaRPr/>
          </a:p>
        </p:txBody>
      </p:sp>
      <p:sp>
        <p:nvSpPr>
          <p:cNvPr id="1230" name="Google Shape;1230;p68"/>
          <p:cNvSpPr txBox="1"/>
          <p:nvPr/>
        </p:nvSpPr>
        <p:spPr>
          <a:xfrm>
            <a:off x="259350" y="4251000"/>
            <a:ext cx="2869800" cy="89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2-3-4 a.k.a. 2-4 Tree (L=3):</a:t>
            </a:r>
            <a:br>
              <a:rPr lang="en"/>
            </a:br>
            <a:r>
              <a:rPr lang="en"/>
              <a:t>Max 3 items per node.</a:t>
            </a:r>
            <a:endParaRPr/>
          </a:p>
          <a:p>
            <a:pPr indent="0" lvl="0" marL="0" rtl="0" algn="l">
              <a:spcBef>
                <a:spcPts val="0"/>
              </a:spcBef>
              <a:spcAft>
                <a:spcPts val="0"/>
              </a:spcAft>
              <a:buNone/>
            </a:pPr>
            <a:r>
              <a:rPr lang="en"/>
              <a:t>Max 4 non-null children per node.</a:t>
            </a:r>
            <a:endParaRPr/>
          </a:p>
        </p:txBody>
      </p:sp>
      <p:grpSp>
        <p:nvGrpSpPr>
          <p:cNvPr id="1231" name="Google Shape;1231;p68"/>
          <p:cNvGrpSpPr/>
          <p:nvPr/>
        </p:nvGrpSpPr>
        <p:grpSpPr>
          <a:xfrm>
            <a:off x="343002" y="2839900"/>
            <a:ext cx="4226323" cy="1466060"/>
            <a:chOff x="3263027" y="3006650"/>
            <a:chExt cx="4226323" cy="1466060"/>
          </a:xfrm>
        </p:grpSpPr>
        <p:sp>
          <p:nvSpPr>
            <p:cNvPr id="1232" name="Google Shape;1232;p68"/>
            <p:cNvSpPr/>
            <p:nvPr/>
          </p:nvSpPr>
          <p:spPr>
            <a:xfrm>
              <a:off x="5893950" y="3603400"/>
              <a:ext cx="8379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s u w</a:t>
              </a:r>
              <a:endParaRPr sz="1800"/>
            </a:p>
          </p:txBody>
        </p:sp>
        <p:sp>
          <p:nvSpPr>
            <p:cNvPr id="1233" name="Google Shape;1233;p68"/>
            <p:cNvSpPr/>
            <p:nvPr/>
          </p:nvSpPr>
          <p:spPr>
            <a:xfrm>
              <a:off x="5472238" y="4147810"/>
              <a:ext cx="3666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r</a:t>
              </a:r>
              <a:endParaRPr sz="1800"/>
            </a:p>
          </p:txBody>
        </p:sp>
        <p:cxnSp>
          <p:nvCxnSpPr>
            <p:cNvPr id="1234" name="Google Shape;1234;p68"/>
            <p:cNvCxnSpPr>
              <a:stCxn id="1233" idx="0"/>
            </p:cNvCxnSpPr>
            <p:nvPr/>
          </p:nvCxnSpPr>
          <p:spPr>
            <a:xfrm flipH="1" rot="10800000">
              <a:off x="5655538" y="3936910"/>
              <a:ext cx="313500" cy="210900"/>
            </a:xfrm>
            <a:prstGeom prst="straightConnector1">
              <a:avLst/>
            </a:prstGeom>
            <a:noFill/>
            <a:ln cap="flat" cmpd="sng" w="19050">
              <a:solidFill>
                <a:srgbClr val="666666"/>
              </a:solidFill>
              <a:prstDash val="solid"/>
              <a:round/>
              <a:headEnd len="med" w="med" type="none"/>
              <a:tailEnd len="med" w="med" type="none"/>
            </a:ln>
          </p:spPr>
        </p:cxnSp>
        <p:sp>
          <p:nvSpPr>
            <p:cNvPr id="1235" name="Google Shape;1235;p68"/>
            <p:cNvSpPr/>
            <p:nvPr/>
          </p:nvSpPr>
          <p:spPr>
            <a:xfrm>
              <a:off x="6871051" y="4147810"/>
              <a:ext cx="6183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y z</a:t>
              </a:r>
              <a:endParaRPr sz="1800"/>
            </a:p>
          </p:txBody>
        </p:sp>
        <p:cxnSp>
          <p:nvCxnSpPr>
            <p:cNvPr id="1236" name="Google Shape;1236;p68"/>
            <p:cNvCxnSpPr>
              <a:stCxn id="1235" idx="0"/>
            </p:cNvCxnSpPr>
            <p:nvPr/>
          </p:nvCxnSpPr>
          <p:spPr>
            <a:xfrm rot="10800000">
              <a:off x="6745201" y="3936910"/>
              <a:ext cx="435000" cy="210900"/>
            </a:xfrm>
            <a:prstGeom prst="straightConnector1">
              <a:avLst/>
            </a:prstGeom>
            <a:noFill/>
            <a:ln cap="flat" cmpd="sng" w="19050">
              <a:solidFill>
                <a:schemeClr val="dk2"/>
              </a:solidFill>
              <a:prstDash val="solid"/>
              <a:round/>
              <a:headEnd len="med" w="med" type="none"/>
              <a:tailEnd len="med" w="med" type="none"/>
            </a:ln>
          </p:spPr>
        </p:cxnSp>
        <p:sp>
          <p:nvSpPr>
            <p:cNvPr id="1237" name="Google Shape;1237;p68"/>
            <p:cNvSpPr/>
            <p:nvPr/>
          </p:nvSpPr>
          <p:spPr>
            <a:xfrm>
              <a:off x="5986107" y="4147810"/>
              <a:ext cx="3666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t</a:t>
              </a:r>
              <a:endParaRPr sz="1800"/>
            </a:p>
          </p:txBody>
        </p:sp>
        <p:cxnSp>
          <p:nvCxnSpPr>
            <p:cNvPr id="1238" name="Google Shape;1238;p68"/>
            <p:cNvCxnSpPr>
              <a:stCxn id="1237" idx="0"/>
            </p:cNvCxnSpPr>
            <p:nvPr/>
          </p:nvCxnSpPr>
          <p:spPr>
            <a:xfrm flipH="1" rot="10800000">
              <a:off x="6169407" y="3936910"/>
              <a:ext cx="39600" cy="210900"/>
            </a:xfrm>
            <a:prstGeom prst="straightConnector1">
              <a:avLst/>
            </a:prstGeom>
            <a:noFill/>
            <a:ln cap="flat" cmpd="sng" w="19050">
              <a:solidFill>
                <a:schemeClr val="dk2"/>
              </a:solidFill>
              <a:prstDash val="solid"/>
              <a:round/>
              <a:headEnd len="med" w="med" type="none"/>
              <a:tailEnd len="med" w="med" type="none"/>
            </a:ln>
          </p:spPr>
        </p:cxnSp>
        <p:grpSp>
          <p:nvGrpSpPr>
            <p:cNvPr id="1239" name="Google Shape;1239;p68"/>
            <p:cNvGrpSpPr/>
            <p:nvPr/>
          </p:nvGrpSpPr>
          <p:grpSpPr>
            <a:xfrm>
              <a:off x="4562671" y="3580225"/>
              <a:ext cx="838008" cy="892485"/>
              <a:chOff x="6010471" y="4037425"/>
              <a:chExt cx="838008" cy="892485"/>
            </a:xfrm>
          </p:grpSpPr>
          <p:sp>
            <p:nvSpPr>
              <p:cNvPr id="1240" name="Google Shape;1240;p68"/>
              <p:cNvSpPr/>
              <p:nvPr/>
            </p:nvSpPr>
            <p:spPr>
              <a:xfrm>
                <a:off x="6010471" y="4605010"/>
                <a:ext cx="3168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n</a:t>
                </a:r>
                <a:endParaRPr sz="1800"/>
              </a:p>
            </p:txBody>
          </p:sp>
          <p:cxnSp>
            <p:nvCxnSpPr>
              <p:cNvPr id="1241" name="Google Shape;1241;p68"/>
              <p:cNvCxnSpPr>
                <a:stCxn id="1240" idx="0"/>
                <a:endCxn id="1242" idx="2"/>
              </p:cNvCxnSpPr>
              <p:nvPr/>
            </p:nvCxnSpPr>
            <p:spPr>
              <a:xfrm flipH="1" rot="10800000">
                <a:off x="6168871" y="4362310"/>
                <a:ext cx="279600" cy="242700"/>
              </a:xfrm>
              <a:prstGeom prst="straightConnector1">
                <a:avLst/>
              </a:prstGeom>
              <a:noFill/>
              <a:ln cap="flat" cmpd="sng" w="19050">
                <a:solidFill>
                  <a:srgbClr val="666666"/>
                </a:solidFill>
                <a:prstDash val="solid"/>
                <a:round/>
                <a:headEnd len="med" w="med" type="none"/>
                <a:tailEnd len="med" w="med" type="none"/>
              </a:ln>
            </p:spPr>
          </p:cxnSp>
          <p:sp>
            <p:nvSpPr>
              <p:cNvPr id="1243" name="Google Shape;1243;p68"/>
              <p:cNvSpPr/>
              <p:nvPr/>
            </p:nvSpPr>
            <p:spPr>
              <a:xfrm>
                <a:off x="6481879" y="4605010"/>
                <a:ext cx="3666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p</a:t>
                </a:r>
                <a:endParaRPr sz="1800"/>
              </a:p>
            </p:txBody>
          </p:sp>
          <p:cxnSp>
            <p:nvCxnSpPr>
              <p:cNvPr id="1244" name="Google Shape;1244;p68"/>
              <p:cNvCxnSpPr>
                <a:stCxn id="1242" idx="2"/>
                <a:endCxn id="1243" idx="0"/>
              </p:cNvCxnSpPr>
              <p:nvPr/>
            </p:nvCxnSpPr>
            <p:spPr>
              <a:xfrm>
                <a:off x="6448483" y="4362325"/>
                <a:ext cx="216600" cy="242700"/>
              </a:xfrm>
              <a:prstGeom prst="straightConnector1">
                <a:avLst/>
              </a:prstGeom>
              <a:noFill/>
              <a:ln cap="flat" cmpd="sng" w="19050">
                <a:solidFill>
                  <a:srgbClr val="666666"/>
                </a:solidFill>
                <a:prstDash val="solid"/>
                <a:round/>
                <a:headEnd len="med" w="med" type="none"/>
                <a:tailEnd len="med" w="med" type="none"/>
              </a:ln>
            </p:spPr>
          </p:cxnSp>
          <p:sp>
            <p:nvSpPr>
              <p:cNvPr id="1242" name="Google Shape;1242;p68"/>
              <p:cNvSpPr/>
              <p:nvPr/>
            </p:nvSpPr>
            <p:spPr>
              <a:xfrm>
                <a:off x="6279433" y="4037425"/>
                <a:ext cx="3381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o</a:t>
                </a:r>
                <a:endParaRPr sz="1800"/>
              </a:p>
            </p:txBody>
          </p:sp>
        </p:grpSp>
        <p:grpSp>
          <p:nvGrpSpPr>
            <p:cNvPr id="1245" name="Google Shape;1245;p68"/>
            <p:cNvGrpSpPr/>
            <p:nvPr/>
          </p:nvGrpSpPr>
          <p:grpSpPr>
            <a:xfrm>
              <a:off x="3263027" y="3006650"/>
              <a:ext cx="3049872" cy="1466060"/>
              <a:chOff x="4710827" y="3463850"/>
              <a:chExt cx="3049872" cy="1466060"/>
            </a:xfrm>
          </p:grpSpPr>
          <p:grpSp>
            <p:nvGrpSpPr>
              <p:cNvPr id="1246" name="Google Shape;1246;p68"/>
              <p:cNvGrpSpPr/>
              <p:nvPr/>
            </p:nvGrpSpPr>
            <p:grpSpPr>
              <a:xfrm>
                <a:off x="4710827" y="3463850"/>
                <a:ext cx="2059446" cy="1466060"/>
                <a:chOff x="4710827" y="3463850"/>
                <a:chExt cx="2059446" cy="1466060"/>
              </a:xfrm>
            </p:grpSpPr>
            <p:sp>
              <p:nvSpPr>
                <p:cNvPr id="1247" name="Google Shape;1247;p68"/>
                <p:cNvSpPr/>
                <p:nvPr/>
              </p:nvSpPr>
              <p:spPr>
                <a:xfrm>
                  <a:off x="5048916" y="406057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e</a:t>
                  </a:r>
                  <a:endParaRPr sz="1800"/>
                </a:p>
              </p:txBody>
            </p:sp>
            <p:sp>
              <p:nvSpPr>
                <p:cNvPr id="1248" name="Google Shape;1248;p68"/>
                <p:cNvSpPr/>
                <p:nvPr/>
              </p:nvSpPr>
              <p:spPr>
                <a:xfrm>
                  <a:off x="4710827" y="4605010"/>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b</a:t>
                  </a:r>
                  <a:endParaRPr sz="1800"/>
                </a:p>
              </p:txBody>
            </p:sp>
            <p:sp>
              <p:nvSpPr>
                <p:cNvPr id="1249" name="Google Shape;1249;p68"/>
                <p:cNvSpPr/>
                <p:nvPr/>
              </p:nvSpPr>
              <p:spPr>
                <a:xfrm>
                  <a:off x="5388104" y="4605010"/>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g</a:t>
                  </a:r>
                  <a:endParaRPr sz="1800"/>
                </a:p>
              </p:txBody>
            </p:sp>
            <p:cxnSp>
              <p:nvCxnSpPr>
                <p:cNvPr id="1250" name="Google Shape;1250;p68"/>
                <p:cNvCxnSpPr>
                  <a:stCxn id="1248" idx="0"/>
                  <a:endCxn id="1247" idx="2"/>
                </p:cNvCxnSpPr>
                <p:nvPr/>
              </p:nvCxnSpPr>
              <p:spPr>
                <a:xfrm flipH="1" rot="10800000">
                  <a:off x="4956077" y="4385410"/>
                  <a:ext cx="338100" cy="219600"/>
                </a:xfrm>
                <a:prstGeom prst="straightConnector1">
                  <a:avLst/>
                </a:prstGeom>
                <a:noFill/>
                <a:ln cap="flat" cmpd="sng" w="19050">
                  <a:solidFill>
                    <a:srgbClr val="666666"/>
                  </a:solidFill>
                  <a:prstDash val="solid"/>
                  <a:round/>
                  <a:headEnd len="med" w="med" type="none"/>
                  <a:tailEnd len="med" w="med" type="none"/>
                </a:ln>
              </p:spPr>
            </p:cxnSp>
            <p:cxnSp>
              <p:nvCxnSpPr>
                <p:cNvPr id="1251" name="Google Shape;1251;p68"/>
                <p:cNvCxnSpPr>
                  <a:stCxn id="1249" idx="0"/>
                  <a:endCxn id="1247" idx="2"/>
                </p:cNvCxnSpPr>
                <p:nvPr/>
              </p:nvCxnSpPr>
              <p:spPr>
                <a:xfrm rot="10800000">
                  <a:off x="5294054" y="4385410"/>
                  <a:ext cx="339300" cy="219600"/>
                </a:xfrm>
                <a:prstGeom prst="straightConnector1">
                  <a:avLst/>
                </a:prstGeom>
                <a:noFill/>
                <a:ln cap="flat" cmpd="sng" w="19050">
                  <a:solidFill>
                    <a:srgbClr val="666666"/>
                  </a:solidFill>
                  <a:prstDash val="solid"/>
                  <a:round/>
                  <a:headEnd len="med" w="med" type="none"/>
                  <a:tailEnd len="med" w="med" type="none"/>
                </a:ln>
              </p:spPr>
            </p:cxnSp>
            <p:sp>
              <p:nvSpPr>
                <p:cNvPr id="1252" name="Google Shape;1252;p68"/>
                <p:cNvSpPr/>
                <p:nvPr/>
              </p:nvSpPr>
              <p:spPr>
                <a:xfrm>
                  <a:off x="6134273" y="3463850"/>
                  <a:ext cx="6360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m q</a:t>
                  </a:r>
                  <a:endParaRPr sz="1800"/>
                </a:p>
              </p:txBody>
            </p:sp>
            <p:cxnSp>
              <p:nvCxnSpPr>
                <p:cNvPr id="1253" name="Google Shape;1253;p68"/>
                <p:cNvCxnSpPr>
                  <a:endCxn id="1247" idx="0"/>
                </p:cNvCxnSpPr>
                <p:nvPr/>
              </p:nvCxnSpPr>
              <p:spPr>
                <a:xfrm flipH="1">
                  <a:off x="5294166" y="3789675"/>
                  <a:ext cx="907200" cy="270900"/>
                </a:xfrm>
                <a:prstGeom prst="straightConnector1">
                  <a:avLst/>
                </a:prstGeom>
                <a:noFill/>
                <a:ln cap="flat" cmpd="sng" w="19050">
                  <a:solidFill>
                    <a:srgbClr val="666666"/>
                  </a:solidFill>
                  <a:prstDash val="solid"/>
                  <a:round/>
                  <a:headEnd len="med" w="med" type="none"/>
                  <a:tailEnd len="med" w="med" type="none"/>
                </a:ln>
              </p:spPr>
            </p:cxnSp>
          </p:grpSp>
          <p:cxnSp>
            <p:nvCxnSpPr>
              <p:cNvPr id="1254" name="Google Shape;1254;p68"/>
              <p:cNvCxnSpPr>
                <a:endCxn id="1232" idx="0"/>
              </p:cNvCxnSpPr>
              <p:nvPr/>
            </p:nvCxnSpPr>
            <p:spPr>
              <a:xfrm>
                <a:off x="6723600" y="3789700"/>
                <a:ext cx="1037100" cy="270900"/>
              </a:xfrm>
              <a:prstGeom prst="straightConnector1">
                <a:avLst/>
              </a:prstGeom>
              <a:noFill/>
              <a:ln cap="flat" cmpd="sng" w="19050">
                <a:solidFill>
                  <a:srgbClr val="666666"/>
                </a:solidFill>
                <a:prstDash val="solid"/>
                <a:round/>
                <a:headEnd len="med" w="med" type="none"/>
                <a:tailEnd len="med" w="med" type="none"/>
              </a:ln>
            </p:spPr>
          </p:cxnSp>
          <p:cxnSp>
            <p:nvCxnSpPr>
              <p:cNvPr id="1255" name="Google Shape;1255;p68"/>
              <p:cNvCxnSpPr>
                <a:stCxn id="1242" idx="0"/>
                <a:endCxn id="1252" idx="2"/>
              </p:cNvCxnSpPr>
              <p:nvPr/>
            </p:nvCxnSpPr>
            <p:spPr>
              <a:xfrm flipH="1" rot="10800000">
                <a:off x="6448483" y="3788725"/>
                <a:ext cx="3900" cy="248700"/>
              </a:xfrm>
              <a:prstGeom prst="straightConnector1">
                <a:avLst/>
              </a:prstGeom>
              <a:noFill/>
              <a:ln cap="flat" cmpd="sng" w="19050">
                <a:solidFill>
                  <a:schemeClr val="dk2"/>
                </a:solidFill>
                <a:prstDash val="solid"/>
                <a:round/>
                <a:headEnd len="med" w="med" type="none"/>
                <a:tailEnd len="med" w="med" type="none"/>
              </a:ln>
            </p:spPr>
          </p:cxnSp>
        </p:grpSp>
        <p:sp>
          <p:nvSpPr>
            <p:cNvPr id="1256" name="Google Shape;1256;p68"/>
            <p:cNvSpPr/>
            <p:nvPr/>
          </p:nvSpPr>
          <p:spPr>
            <a:xfrm>
              <a:off x="6446782" y="4147810"/>
              <a:ext cx="3666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v</a:t>
              </a:r>
              <a:endParaRPr sz="1800"/>
            </a:p>
          </p:txBody>
        </p:sp>
        <p:cxnSp>
          <p:nvCxnSpPr>
            <p:cNvPr id="1257" name="Google Shape;1257;p68"/>
            <p:cNvCxnSpPr>
              <a:stCxn id="1256" idx="0"/>
            </p:cNvCxnSpPr>
            <p:nvPr/>
          </p:nvCxnSpPr>
          <p:spPr>
            <a:xfrm rot="10800000">
              <a:off x="6462982" y="3936910"/>
              <a:ext cx="167100" cy="210900"/>
            </a:xfrm>
            <a:prstGeom prst="straightConnector1">
              <a:avLst/>
            </a:prstGeom>
            <a:noFill/>
            <a:ln cap="flat" cmpd="sng" w="19050">
              <a:solidFill>
                <a:schemeClr val="dk2"/>
              </a:solidFill>
              <a:prstDash val="solid"/>
              <a:round/>
              <a:headEnd len="med" w="med" type="none"/>
              <a:tailEnd len="med" w="med" type="none"/>
            </a:ln>
          </p:spPr>
        </p:cxnSp>
      </p:grpSp>
      <p:sp>
        <p:nvSpPr>
          <p:cNvPr id="1258" name="Google Shape;1258;p68"/>
          <p:cNvSpPr txBox="1"/>
          <p:nvPr/>
        </p:nvSpPr>
        <p:spPr>
          <a:xfrm>
            <a:off x="5013598" y="4251000"/>
            <a:ext cx="2869800" cy="89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2-3 Tree (L=2):</a:t>
            </a:r>
            <a:br>
              <a:rPr lang="en"/>
            </a:br>
            <a:r>
              <a:rPr lang="en"/>
              <a:t>Max 2 items per node.</a:t>
            </a:r>
            <a:endParaRPr/>
          </a:p>
          <a:p>
            <a:pPr indent="0" lvl="0" marL="0" rtl="0" algn="l">
              <a:spcBef>
                <a:spcPts val="0"/>
              </a:spcBef>
              <a:spcAft>
                <a:spcPts val="0"/>
              </a:spcAft>
              <a:buNone/>
            </a:pPr>
            <a:r>
              <a:rPr lang="en"/>
              <a:t>Max 3 non-null children per node.</a:t>
            </a:r>
            <a:endParaRPr/>
          </a:p>
        </p:txBody>
      </p:sp>
      <p:grpSp>
        <p:nvGrpSpPr>
          <p:cNvPr id="1259" name="Google Shape;1259;p68"/>
          <p:cNvGrpSpPr/>
          <p:nvPr/>
        </p:nvGrpSpPr>
        <p:grpSpPr>
          <a:xfrm>
            <a:off x="5097251" y="2839900"/>
            <a:ext cx="3702754" cy="1466060"/>
            <a:chOff x="3263027" y="3006650"/>
            <a:chExt cx="3702754" cy="1466060"/>
          </a:xfrm>
        </p:grpSpPr>
        <p:sp>
          <p:nvSpPr>
            <p:cNvPr id="1260" name="Google Shape;1260;p68"/>
            <p:cNvSpPr/>
            <p:nvPr/>
          </p:nvSpPr>
          <p:spPr>
            <a:xfrm>
              <a:off x="5893950" y="3603400"/>
              <a:ext cx="8379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s u</a:t>
              </a:r>
              <a:endParaRPr sz="1800"/>
            </a:p>
          </p:txBody>
        </p:sp>
        <p:sp>
          <p:nvSpPr>
            <p:cNvPr id="1261" name="Google Shape;1261;p68"/>
            <p:cNvSpPr/>
            <p:nvPr/>
          </p:nvSpPr>
          <p:spPr>
            <a:xfrm>
              <a:off x="5587678" y="4147810"/>
              <a:ext cx="3666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r</a:t>
              </a:r>
              <a:endParaRPr sz="1800"/>
            </a:p>
          </p:txBody>
        </p:sp>
        <p:cxnSp>
          <p:nvCxnSpPr>
            <p:cNvPr id="1262" name="Google Shape;1262;p68"/>
            <p:cNvCxnSpPr>
              <a:stCxn id="1261" idx="0"/>
            </p:cNvCxnSpPr>
            <p:nvPr/>
          </p:nvCxnSpPr>
          <p:spPr>
            <a:xfrm flipH="1" rot="10800000">
              <a:off x="5770978" y="3936910"/>
              <a:ext cx="313500" cy="210900"/>
            </a:xfrm>
            <a:prstGeom prst="straightConnector1">
              <a:avLst/>
            </a:prstGeom>
            <a:noFill/>
            <a:ln cap="flat" cmpd="sng" w="19050">
              <a:solidFill>
                <a:srgbClr val="666666"/>
              </a:solidFill>
              <a:prstDash val="solid"/>
              <a:round/>
              <a:headEnd len="med" w="med" type="none"/>
              <a:tailEnd len="med" w="med" type="none"/>
            </a:ln>
          </p:spPr>
        </p:cxnSp>
        <p:sp>
          <p:nvSpPr>
            <p:cNvPr id="1263" name="Google Shape;1263;p68"/>
            <p:cNvSpPr/>
            <p:nvPr/>
          </p:nvSpPr>
          <p:spPr>
            <a:xfrm>
              <a:off x="6125680" y="4147810"/>
              <a:ext cx="3666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t</a:t>
              </a:r>
              <a:endParaRPr sz="1800"/>
            </a:p>
          </p:txBody>
        </p:sp>
        <p:cxnSp>
          <p:nvCxnSpPr>
            <p:cNvPr id="1264" name="Google Shape;1264;p68"/>
            <p:cNvCxnSpPr>
              <a:stCxn id="1263" idx="0"/>
              <a:endCxn id="1260" idx="2"/>
            </p:cNvCxnSpPr>
            <p:nvPr/>
          </p:nvCxnSpPr>
          <p:spPr>
            <a:xfrm flipH="1" rot="10800000">
              <a:off x="6308980" y="3928210"/>
              <a:ext cx="3900" cy="219600"/>
            </a:xfrm>
            <a:prstGeom prst="straightConnector1">
              <a:avLst/>
            </a:prstGeom>
            <a:noFill/>
            <a:ln cap="flat" cmpd="sng" w="19050">
              <a:solidFill>
                <a:schemeClr val="dk2"/>
              </a:solidFill>
              <a:prstDash val="solid"/>
              <a:round/>
              <a:headEnd len="med" w="med" type="none"/>
              <a:tailEnd len="med" w="med" type="none"/>
            </a:ln>
          </p:spPr>
        </p:cxnSp>
        <p:grpSp>
          <p:nvGrpSpPr>
            <p:cNvPr id="1265" name="Google Shape;1265;p68"/>
            <p:cNvGrpSpPr/>
            <p:nvPr/>
          </p:nvGrpSpPr>
          <p:grpSpPr>
            <a:xfrm>
              <a:off x="4562671" y="3580225"/>
              <a:ext cx="838008" cy="892485"/>
              <a:chOff x="6010471" y="4037425"/>
              <a:chExt cx="838008" cy="892485"/>
            </a:xfrm>
          </p:grpSpPr>
          <p:sp>
            <p:nvSpPr>
              <p:cNvPr id="1266" name="Google Shape;1266;p68"/>
              <p:cNvSpPr/>
              <p:nvPr/>
            </p:nvSpPr>
            <p:spPr>
              <a:xfrm>
                <a:off x="6010471" y="4605010"/>
                <a:ext cx="3168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n</a:t>
                </a:r>
                <a:endParaRPr sz="1800"/>
              </a:p>
            </p:txBody>
          </p:sp>
          <p:cxnSp>
            <p:nvCxnSpPr>
              <p:cNvPr id="1267" name="Google Shape;1267;p68"/>
              <p:cNvCxnSpPr>
                <a:stCxn id="1266" idx="0"/>
                <a:endCxn id="1268" idx="2"/>
              </p:cNvCxnSpPr>
              <p:nvPr/>
            </p:nvCxnSpPr>
            <p:spPr>
              <a:xfrm flipH="1" rot="10800000">
                <a:off x="6168871" y="4362310"/>
                <a:ext cx="279600" cy="242700"/>
              </a:xfrm>
              <a:prstGeom prst="straightConnector1">
                <a:avLst/>
              </a:prstGeom>
              <a:noFill/>
              <a:ln cap="flat" cmpd="sng" w="19050">
                <a:solidFill>
                  <a:srgbClr val="666666"/>
                </a:solidFill>
                <a:prstDash val="solid"/>
                <a:round/>
                <a:headEnd len="med" w="med" type="none"/>
                <a:tailEnd len="med" w="med" type="none"/>
              </a:ln>
            </p:spPr>
          </p:cxnSp>
          <p:sp>
            <p:nvSpPr>
              <p:cNvPr id="1269" name="Google Shape;1269;p68"/>
              <p:cNvSpPr/>
              <p:nvPr/>
            </p:nvSpPr>
            <p:spPr>
              <a:xfrm>
                <a:off x="6481879" y="4605010"/>
                <a:ext cx="3666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p</a:t>
                </a:r>
                <a:endParaRPr sz="1800"/>
              </a:p>
            </p:txBody>
          </p:sp>
          <p:cxnSp>
            <p:nvCxnSpPr>
              <p:cNvPr id="1270" name="Google Shape;1270;p68"/>
              <p:cNvCxnSpPr>
                <a:stCxn id="1268" idx="2"/>
                <a:endCxn id="1269" idx="0"/>
              </p:cNvCxnSpPr>
              <p:nvPr/>
            </p:nvCxnSpPr>
            <p:spPr>
              <a:xfrm>
                <a:off x="6448483" y="4362325"/>
                <a:ext cx="216600" cy="242700"/>
              </a:xfrm>
              <a:prstGeom prst="straightConnector1">
                <a:avLst/>
              </a:prstGeom>
              <a:noFill/>
              <a:ln cap="flat" cmpd="sng" w="19050">
                <a:solidFill>
                  <a:srgbClr val="666666"/>
                </a:solidFill>
                <a:prstDash val="solid"/>
                <a:round/>
                <a:headEnd len="med" w="med" type="none"/>
                <a:tailEnd len="med" w="med" type="none"/>
              </a:ln>
            </p:spPr>
          </p:cxnSp>
          <p:sp>
            <p:nvSpPr>
              <p:cNvPr id="1268" name="Google Shape;1268;p68"/>
              <p:cNvSpPr/>
              <p:nvPr/>
            </p:nvSpPr>
            <p:spPr>
              <a:xfrm>
                <a:off x="6279433" y="4037425"/>
                <a:ext cx="3381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o</a:t>
                </a:r>
                <a:endParaRPr sz="1800"/>
              </a:p>
            </p:txBody>
          </p:sp>
        </p:grpSp>
        <p:grpSp>
          <p:nvGrpSpPr>
            <p:cNvPr id="1271" name="Google Shape;1271;p68"/>
            <p:cNvGrpSpPr/>
            <p:nvPr/>
          </p:nvGrpSpPr>
          <p:grpSpPr>
            <a:xfrm>
              <a:off x="3263027" y="3006650"/>
              <a:ext cx="3049872" cy="1466060"/>
              <a:chOff x="4710827" y="3463850"/>
              <a:chExt cx="3049872" cy="1466060"/>
            </a:xfrm>
          </p:grpSpPr>
          <p:grpSp>
            <p:nvGrpSpPr>
              <p:cNvPr id="1272" name="Google Shape;1272;p68"/>
              <p:cNvGrpSpPr/>
              <p:nvPr/>
            </p:nvGrpSpPr>
            <p:grpSpPr>
              <a:xfrm>
                <a:off x="4710827" y="3463850"/>
                <a:ext cx="2059446" cy="1466060"/>
                <a:chOff x="4710827" y="3463850"/>
                <a:chExt cx="2059446" cy="1466060"/>
              </a:xfrm>
            </p:grpSpPr>
            <p:sp>
              <p:nvSpPr>
                <p:cNvPr id="1273" name="Google Shape;1273;p68"/>
                <p:cNvSpPr/>
                <p:nvPr/>
              </p:nvSpPr>
              <p:spPr>
                <a:xfrm>
                  <a:off x="5048916" y="406057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e</a:t>
                  </a:r>
                  <a:endParaRPr sz="1800"/>
                </a:p>
              </p:txBody>
            </p:sp>
            <p:sp>
              <p:nvSpPr>
                <p:cNvPr id="1274" name="Google Shape;1274;p68"/>
                <p:cNvSpPr/>
                <p:nvPr/>
              </p:nvSpPr>
              <p:spPr>
                <a:xfrm>
                  <a:off x="4710827" y="4605010"/>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b</a:t>
                  </a:r>
                  <a:endParaRPr sz="1800"/>
                </a:p>
              </p:txBody>
            </p:sp>
            <p:sp>
              <p:nvSpPr>
                <p:cNvPr id="1275" name="Google Shape;1275;p68"/>
                <p:cNvSpPr/>
                <p:nvPr/>
              </p:nvSpPr>
              <p:spPr>
                <a:xfrm>
                  <a:off x="5388104" y="4605010"/>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g</a:t>
                  </a:r>
                  <a:endParaRPr sz="1800"/>
                </a:p>
              </p:txBody>
            </p:sp>
            <p:cxnSp>
              <p:nvCxnSpPr>
                <p:cNvPr id="1276" name="Google Shape;1276;p68"/>
                <p:cNvCxnSpPr>
                  <a:stCxn id="1274" idx="0"/>
                  <a:endCxn id="1273" idx="2"/>
                </p:cNvCxnSpPr>
                <p:nvPr/>
              </p:nvCxnSpPr>
              <p:spPr>
                <a:xfrm flipH="1" rot="10800000">
                  <a:off x="4956077" y="4385410"/>
                  <a:ext cx="338100" cy="219600"/>
                </a:xfrm>
                <a:prstGeom prst="straightConnector1">
                  <a:avLst/>
                </a:prstGeom>
                <a:noFill/>
                <a:ln cap="flat" cmpd="sng" w="19050">
                  <a:solidFill>
                    <a:srgbClr val="666666"/>
                  </a:solidFill>
                  <a:prstDash val="solid"/>
                  <a:round/>
                  <a:headEnd len="med" w="med" type="none"/>
                  <a:tailEnd len="med" w="med" type="none"/>
                </a:ln>
              </p:spPr>
            </p:cxnSp>
            <p:cxnSp>
              <p:nvCxnSpPr>
                <p:cNvPr id="1277" name="Google Shape;1277;p68"/>
                <p:cNvCxnSpPr>
                  <a:stCxn id="1275" idx="0"/>
                  <a:endCxn id="1273" idx="2"/>
                </p:cNvCxnSpPr>
                <p:nvPr/>
              </p:nvCxnSpPr>
              <p:spPr>
                <a:xfrm rot="10800000">
                  <a:off x="5294054" y="4385410"/>
                  <a:ext cx="339300" cy="219600"/>
                </a:xfrm>
                <a:prstGeom prst="straightConnector1">
                  <a:avLst/>
                </a:prstGeom>
                <a:noFill/>
                <a:ln cap="flat" cmpd="sng" w="19050">
                  <a:solidFill>
                    <a:srgbClr val="666666"/>
                  </a:solidFill>
                  <a:prstDash val="solid"/>
                  <a:round/>
                  <a:headEnd len="med" w="med" type="none"/>
                  <a:tailEnd len="med" w="med" type="none"/>
                </a:ln>
              </p:spPr>
            </p:cxnSp>
            <p:sp>
              <p:nvSpPr>
                <p:cNvPr id="1278" name="Google Shape;1278;p68"/>
                <p:cNvSpPr/>
                <p:nvPr/>
              </p:nvSpPr>
              <p:spPr>
                <a:xfrm>
                  <a:off x="6134273" y="3463850"/>
                  <a:ext cx="6360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m q</a:t>
                  </a:r>
                  <a:endParaRPr sz="1800"/>
                </a:p>
              </p:txBody>
            </p:sp>
            <p:cxnSp>
              <p:nvCxnSpPr>
                <p:cNvPr id="1279" name="Google Shape;1279;p68"/>
                <p:cNvCxnSpPr>
                  <a:endCxn id="1273" idx="0"/>
                </p:cNvCxnSpPr>
                <p:nvPr/>
              </p:nvCxnSpPr>
              <p:spPr>
                <a:xfrm flipH="1">
                  <a:off x="5294166" y="3789675"/>
                  <a:ext cx="907200" cy="270900"/>
                </a:xfrm>
                <a:prstGeom prst="straightConnector1">
                  <a:avLst/>
                </a:prstGeom>
                <a:noFill/>
                <a:ln cap="flat" cmpd="sng" w="19050">
                  <a:solidFill>
                    <a:srgbClr val="666666"/>
                  </a:solidFill>
                  <a:prstDash val="solid"/>
                  <a:round/>
                  <a:headEnd len="med" w="med" type="none"/>
                  <a:tailEnd len="med" w="med" type="none"/>
                </a:ln>
              </p:spPr>
            </p:cxnSp>
          </p:grpSp>
          <p:cxnSp>
            <p:nvCxnSpPr>
              <p:cNvPr id="1280" name="Google Shape;1280;p68"/>
              <p:cNvCxnSpPr>
                <a:endCxn id="1260" idx="0"/>
              </p:cNvCxnSpPr>
              <p:nvPr/>
            </p:nvCxnSpPr>
            <p:spPr>
              <a:xfrm>
                <a:off x="6723600" y="3789700"/>
                <a:ext cx="1037100" cy="270900"/>
              </a:xfrm>
              <a:prstGeom prst="straightConnector1">
                <a:avLst/>
              </a:prstGeom>
              <a:noFill/>
              <a:ln cap="flat" cmpd="sng" w="19050">
                <a:solidFill>
                  <a:srgbClr val="666666"/>
                </a:solidFill>
                <a:prstDash val="solid"/>
                <a:round/>
                <a:headEnd len="med" w="med" type="none"/>
                <a:tailEnd len="med" w="med" type="none"/>
              </a:ln>
            </p:spPr>
          </p:cxnSp>
          <p:cxnSp>
            <p:nvCxnSpPr>
              <p:cNvPr id="1281" name="Google Shape;1281;p68"/>
              <p:cNvCxnSpPr>
                <a:stCxn id="1268" idx="0"/>
                <a:endCxn id="1278" idx="2"/>
              </p:cNvCxnSpPr>
              <p:nvPr/>
            </p:nvCxnSpPr>
            <p:spPr>
              <a:xfrm flipH="1" rot="10800000">
                <a:off x="6448483" y="3788725"/>
                <a:ext cx="3900" cy="248700"/>
              </a:xfrm>
              <a:prstGeom prst="straightConnector1">
                <a:avLst/>
              </a:prstGeom>
              <a:noFill/>
              <a:ln cap="flat" cmpd="sng" w="19050">
                <a:solidFill>
                  <a:schemeClr val="dk2"/>
                </a:solidFill>
                <a:prstDash val="solid"/>
                <a:round/>
                <a:headEnd len="med" w="med" type="none"/>
                <a:tailEnd len="med" w="med" type="none"/>
              </a:ln>
            </p:spPr>
          </p:cxnSp>
        </p:grpSp>
        <p:sp>
          <p:nvSpPr>
            <p:cNvPr id="1282" name="Google Shape;1282;p68"/>
            <p:cNvSpPr/>
            <p:nvPr/>
          </p:nvSpPr>
          <p:spPr>
            <a:xfrm>
              <a:off x="6599181" y="4147810"/>
              <a:ext cx="3666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v</a:t>
              </a:r>
              <a:endParaRPr sz="1800"/>
            </a:p>
          </p:txBody>
        </p:sp>
        <p:cxnSp>
          <p:nvCxnSpPr>
            <p:cNvPr id="1283" name="Google Shape;1283;p68"/>
            <p:cNvCxnSpPr>
              <a:stCxn id="1282" idx="0"/>
            </p:cNvCxnSpPr>
            <p:nvPr/>
          </p:nvCxnSpPr>
          <p:spPr>
            <a:xfrm rot="10800000">
              <a:off x="6615381" y="3936910"/>
              <a:ext cx="167100" cy="210900"/>
            </a:xfrm>
            <a:prstGeom prst="straightConnector1">
              <a:avLst/>
            </a:prstGeom>
            <a:noFill/>
            <a:ln cap="flat" cmpd="sng" w="19050">
              <a:solidFill>
                <a:schemeClr val="dk2"/>
              </a:solidFill>
              <a:prstDash val="solid"/>
              <a:round/>
              <a:headEnd len="med" w="med" type="none"/>
              <a:tailEnd len="med" w="med" type="none"/>
            </a:ln>
          </p:spPr>
        </p:cxnSp>
      </p:gr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7" name="Shape 1287"/>
        <p:cNvGrpSpPr/>
        <p:nvPr/>
      </p:nvGrpSpPr>
      <p:grpSpPr>
        <a:xfrm>
          <a:off x="0" y="0"/>
          <a:ext cx="0" cy="0"/>
          <a:chOff x="0" y="0"/>
          <a:chExt cx="0" cy="0"/>
        </a:xfrm>
      </p:grpSpPr>
      <p:sp>
        <p:nvSpPr>
          <p:cNvPr id="1288" name="Google Shape;1288;p69"/>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Binary Search Trees</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BST Height, Big O vs. Worst Case Big Theta</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Worst Case Performance</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B-Trees</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Splitting Juicy Nodes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Chain Reaction Splitting</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B-Tree Terminology</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Invariants</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Worst Case Performance</a:t>
            </a:r>
            <a:endParaRPr>
              <a:solidFill>
                <a:srgbClr val="B7B7B7"/>
              </a:solidFill>
            </a:endParaRPr>
          </a:p>
        </p:txBody>
      </p:sp>
      <p:sp>
        <p:nvSpPr>
          <p:cNvPr id="1289" name="Google Shape;1289;p69"/>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Invariants</a:t>
            </a:r>
            <a:endParaRPr/>
          </a:p>
        </p:txBody>
      </p:sp>
      <p:sp>
        <p:nvSpPr>
          <p:cNvPr id="1290" name="Google Shape;1290;p69"/>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17, CS61B, Fall 2023</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1294" name="Shape 1294"/>
        <p:cNvGrpSpPr/>
        <p:nvPr/>
      </p:nvGrpSpPr>
      <p:grpSpPr>
        <a:xfrm>
          <a:off x="0" y="0"/>
          <a:ext cx="0" cy="0"/>
          <a:chOff x="0" y="0"/>
          <a:chExt cx="0" cy="0"/>
        </a:xfrm>
      </p:grpSpPr>
      <p:sp>
        <p:nvSpPr>
          <p:cNvPr id="1295" name="Google Shape;1295;p7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Exercise: Recorded </a:t>
            </a:r>
            <a:r>
              <a:rPr lang="en"/>
              <a:t>Video </a:t>
            </a:r>
            <a:r>
              <a:rPr lang="en"/>
              <a:t>Viewers Only</a:t>
            </a:r>
            <a:endParaRPr/>
          </a:p>
        </p:txBody>
      </p:sp>
      <p:sp>
        <p:nvSpPr>
          <p:cNvPr id="1296" name="Google Shape;1296;p70"/>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a:t>
            </a:r>
            <a:r>
              <a:rPr lang="en"/>
              <a:t>dd the numbers 1, 2, 3, 4, 5, 6, then 7 (in that order) into a regular BST.</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Then try adding 1, 2, 3, 4, 5, 6, then 7 (in that order) into a 2-3 tree (L=2).</a:t>
            </a:r>
            <a:endParaRPr/>
          </a:p>
          <a:p>
            <a:pPr indent="-342900" lvl="0" marL="457200" rtl="0" algn="l">
              <a:spcBef>
                <a:spcPts val="600"/>
              </a:spcBef>
              <a:spcAft>
                <a:spcPts val="0"/>
              </a:spcAft>
              <a:buSzPts val="1800"/>
              <a:buChar char="●"/>
            </a:pPr>
            <a:r>
              <a:rPr lang="en"/>
              <a:t>For L=2, pass the middle item up.</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00" name="Shape 1300"/>
        <p:cNvGrpSpPr/>
        <p:nvPr/>
      </p:nvGrpSpPr>
      <p:grpSpPr>
        <a:xfrm>
          <a:off x="0" y="0"/>
          <a:ext cx="0" cy="0"/>
          <a:chOff x="0" y="0"/>
          <a:chExt cx="0" cy="0"/>
        </a:xfrm>
      </p:grpSpPr>
      <p:sp>
        <p:nvSpPr>
          <p:cNvPr id="1301" name="Google Shape;1301;p7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Exercise</a:t>
            </a:r>
            <a:endParaRPr/>
          </a:p>
        </p:txBody>
      </p:sp>
      <p:sp>
        <p:nvSpPr>
          <p:cNvPr id="1302" name="Google Shape;1302;p71"/>
          <p:cNvSpPr txBox="1"/>
          <p:nvPr>
            <p:ph idx="1" type="body"/>
          </p:nvPr>
        </p:nvSpPr>
        <p:spPr>
          <a:xfrm>
            <a:off x="107050" y="402200"/>
            <a:ext cx="8520600" cy="740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a:t>
            </a:r>
            <a:r>
              <a:rPr lang="en"/>
              <a:t>dd the numbers 1, 2, 3, 4, 5, 6, then 7 (in that order) into a regular BST.</a:t>
            </a:r>
            <a:endParaRPr/>
          </a:p>
        </p:txBody>
      </p:sp>
      <p:sp>
        <p:nvSpPr>
          <p:cNvPr id="1303" name="Google Shape;1303;p71"/>
          <p:cNvSpPr txBox="1"/>
          <p:nvPr/>
        </p:nvSpPr>
        <p:spPr>
          <a:xfrm>
            <a:off x="4881450" y="2512425"/>
            <a:ext cx="21174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Resulting BST is spindly.</a:t>
            </a:r>
            <a:endParaRPr>
              <a:latin typeface="Roboto"/>
              <a:ea typeface="Roboto"/>
              <a:cs typeface="Roboto"/>
              <a:sym typeface="Roboto"/>
            </a:endParaRPr>
          </a:p>
        </p:txBody>
      </p:sp>
      <p:sp>
        <p:nvSpPr>
          <p:cNvPr id="1304" name="Google Shape;1304;p71"/>
          <p:cNvSpPr/>
          <p:nvPr/>
        </p:nvSpPr>
        <p:spPr>
          <a:xfrm>
            <a:off x="3227120" y="2655234"/>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1305" name="Google Shape;1305;p71"/>
          <p:cNvSpPr/>
          <p:nvPr/>
        </p:nvSpPr>
        <p:spPr>
          <a:xfrm>
            <a:off x="2878290" y="1897845"/>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1306" name="Google Shape;1306;p71"/>
          <p:cNvSpPr/>
          <p:nvPr/>
        </p:nvSpPr>
        <p:spPr>
          <a:xfrm>
            <a:off x="3575949" y="3412624"/>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6</a:t>
            </a:r>
            <a:endParaRPr/>
          </a:p>
        </p:txBody>
      </p:sp>
      <p:sp>
        <p:nvSpPr>
          <p:cNvPr id="1307" name="Google Shape;1307;p71"/>
          <p:cNvSpPr/>
          <p:nvPr/>
        </p:nvSpPr>
        <p:spPr>
          <a:xfrm>
            <a:off x="2703875" y="1519150"/>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1308" name="Google Shape;1308;p71"/>
          <p:cNvSpPr/>
          <p:nvPr/>
        </p:nvSpPr>
        <p:spPr>
          <a:xfrm>
            <a:off x="3052705" y="2276540"/>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1309" name="Google Shape;1309;p71"/>
          <p:cNvSpPr/>
          <p:nvPr/>
        </p:nvSpPr>
        <p:spPr>
          <a:xfrm>
            <a:off x="3401534" y="3033929"/>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1310" name="Google Shape;1310;p71"/>
          <p:cNvSpPr/>
          <p:nvPr/>
        </p:nvSpPr>
        <p:spPr>
          <a:xfrm>
            <a:off x="3750364" y="3791318"/>
            <a:ext cx="333900" cy="2643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cxnSp>
        <p:nvCxnSpPr>
          <p:cNvPr id="1311" name="Google Shape;1311;p71"/>
          <p:cNvCxnSpPr>
            <a:stCxn id="1307" idx="2"/>
            <a:endCxn id="1305" idx="0"/>
          </p:cNvCxnSpPr>
          <p:nvPr/>
        </p:nvCxnSpPr>
        <p:spPr>
          <a:xfrm>
            <a:off x="2870825" y="1783450"/>
            <a:ext cx="174300" cy="114300"/>
          </a:xfrm>
          <a:prstGeom prst="straightConnector1">
            <a:avLst/>
          </a:prstGeom>
          <a:noFill/>
          <a:ln cap="flat" cmpd="sng" w="9525">
            <a:solidFill>
              <a:schemeClr val="dk2"/>
            </a:solidFill>
            <a:prstDash val="solid"/>
            <a:round/>
            <a:headEnd len="med" w="med" type="none"/>
            <a:tailEnd len="med" w="med" type="none"/>
          </a:ln>
        </p:spPr>
      </p:cxnSp>
      <p:cxnSp>
        <p:nvCxnSpPr>
          <p:cNvPr id="1312" name="Google Shape;1312;p71"/>
          <p:cNvCxnSpPr>
            <a:stCxn id="1305" idx="2"/>
            <a:endCxn id="1308" idx="0"/>
          </p:cNvCxnSpPr>
          <p:nvPr/>
        </p:nvCxnSpPr>
        <p:spPr>
          <a:xfrm>
            <a:off x="3045240" y="2162145"/>
            <a:ext cx="174300" cy="114300"/>
          </a:xfrm>
          <a:prstGeom prst="straightConnector1">
            <a:avLst/>
          </a:prstGeom>
          <a:noFill/>
          <a:ln cap="flat" cmpd="sng" w="9525">
            <a:solidFill>
              <a:schemeClr val="dk2"/>
            </a:solidFill>
            <a:prstDash val="solid"/>
            <a:round/>
            <a:headEnd len="med" w="med" type="none"/>
            <a:tailEnd len="med" w="med" type="none"/>
          </a:ln>
        </p:spPr>
      </p:cxnSp>
      <p:cxnSp>
        <p:nvCxnSpPr>
          <p:cNvPr id="1313" name="Google Shape;1313;p71"/>
          <p:cNvCxnSpPr>
            <a:stCxn id="1308" idx="2"/>
            <a:endCxn id="1304" idx="0"/>
          </p:cNvCxnSpPr>
          <p:nvPr/>
        </p:nvCxnSpPr>
        <p:spPr>
          <a:xfrm>
            <a:off x="3219655" y="2540840"/>
            <a:ext cx="174300" cy="114300"/>
          </a:xfrm>
          <a:prstGeom prst="straightConnector1">
            <a:avLst/>
          </a:prstGeom>
          <a:noFill/>
          <a:ln cap="flat" cmpd="sng" w="9525">
            <a:solidFill>
              <a:schemeClr val="dk2"/>
            </a:solidFill>
            <a:prstDash val="solid"/>
            <a:round/>
            <a:headEnd len="med" w="med" type="none"/>
            <a:tailEnd len="med" w="med" type="none"/>
          </a:ln>
        </p:spPr>
      </p:cxnSp>
      <p:cxnSp>
        <p:nvCxnSpPr>
          <p:cNvPr id="1314" name="Google Shape;1314;p71"/>
          <p:cNvCxnSpPr>
            <a:stCxn id="1304" idx="2"/>
            <a:endCxn id="1309" idx="0"/>
          </p:cNvCxnSpPr>
          <p:nvPr/>
        </p:nvCxnSpPr>
        <p:spPr>
          <a:xfrm>
            <a:off x="3394070" y="2919534"/>
            <a:ext cx="174300" cy="114300"/>
          </a:xfrm>
          <a:prstGeom prst="straightConnector1">
            <a:avLst/>
          </a:prstGeom>
          <a:noFill/>
          <a:ln cap="flat" cmpd="sng" w="9525">
            <a:solidFill>
              <a:schemeClr val="dk2"/>
            </a:solidFill>
            <a:prstDash val="solid"/>
            <a:round/>
            <a:headEnd len="med" w="med" type="none"/>
            <a:tailEnd len="med" w="med" type="none"/>
          </a:ln>
        </p:spPr>
      </p:cxnSp>
      <p:cxnSp>
        <p:nvCxnSpPr>
          <p:cNvPr id="1315" name="Google Shape;1315;p71"/>
          <p:cNvCxnSpPr>
            <a:stCxn id="1309" idx="2"/>
            <a:endCxn id="1306" idx="0"/>
          </p:cNvCxnSpPr>
          <p:nvPr/>
        </p:nvCxnSpPr>
        <p:spPr>
          <a:xfrm>
            <a:off x="3568484" y="3298229"/>
            <a:ext cx="174300" cy="114300"/>
          </a:xfrm>
          <a:prstGeom prst="straightConnector1">
            <a:avLst/>
          </a:prstGeom>
          <a:noFill/>
          <a:ln cap="flat" cmpd="sng" w="9525">
            <a:solidFill>
              <a:schemeClr val="dk2"/>
            </a:solidFill>
            <a:prstDash val="solid"/>
            <a:round/>
            <a:headEnd len="med" w="med" type="none"/>
            <a:tailEnd len="med" w="med" type="none"/>
          </a:ln>
        </p:spPr>
      </p:cxnSp>
      <p:cxnSp>
        <p:nvCxnSpPr>
          <p:cNvPr id="1316" name="Google Shape;1316;p71"/>
          <p:cNvCxnSpPr>
            <a:stCxn id="1306" idx="2"/>
            <a:endCxn id="1310" idx="0"/>
          </p:cNvCxnSpPr>
          <p:nvPr/>
        </p:nvCxnSpPr>
        <p:spPr>
          <a:xfrm>
            <a:off x="3742899" y="3676924"/>
            <a:ext cx="174300" cy="1143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20" name="Shape 1320"/>
        <p:cNvGrpSpPr/>
        <p:nvPr/>
      </p:nvGrpSpPr>
      <p:grpSpPr>
        <a:xfrm>
          <a:off x="0" y="0"/>
          <a:ext cx="0" cy="0"/>
          <a:chOff x="0" y="0"/>
          <a:chExt cx="0" cy="0"/>
        </a:xfrm>
      </p:grpSpPr>
      <p:sp>
        <p:nvSpPr>
          <p:cNvPr id="1321" name="Google Shape;1321;p72"/>
          <p:cNvSpPr/>
          <p:nvPr/>
        </p:nvSpPr>
        <p:spPr>
          <a:xfrm>
            <a:off x="2160695" y="162175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a:t>
            </a:r>
            <a:endParaRPr sz="1800"/>
          </a:p>
        </p:txBody>
      </p:sp>
      <p:sp>
        <p:nvSpPr>
          <p:cNvPr id="1322" name="Google Shape;1322;p7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Exercise</a:t>
            </a:r>
            <a:endParaRPr/>
          </a:p>
        </p:txBody>
      </p:sp>
      <p:sp>
        <p:nvSpPr>
          <p:cNvPr id="1323" name="Google Shape;1323;p72"/>
          <p:cNvSpPr txBox="1"/>
          <p:nvPr>
            <p:ph idx="1" type="body"/>
          </p:nvPr>
        </p:nvSpPr>
        <p:spPr>
          <a:xfrm>
            <a:off x="107050" y="402200"/>
            <a:ext cx="8864700" cy="1002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Add</a:t>
            </a:r>
            <a:r>
              <a:rPr lang="en"/>
              <a:t> 1, 2, 3, 4, 5, 6, 7 (in that order) into a 2-3 tree. For L=2, pass the middle item up.</a:t>
            </a:r>
            <a:endParaRPr/>
          </a:p>
        </p:txBody>
      </p:sp>
      <p:sp>
        <p:nvSpPr>
          <p:cNvPr id="1324" name="Google Shape;1324;p72"/>
          <p:cNvSpPr txBox="1"/>
          <p:nvPr/>
        </p:nvSpPr>
        <p:spPr>
          <a:xfrm>
            <a:off x="905938" y="1063250"/>
            <a:ext cx="3000000" cy="461700"/>
          </a:xfrm>
          <a:prstGeom prst="rect">
            <a:avLst/>
          </a:prstGeom>
          <a:noFill/>
          <a:ln>
            <a:noFill/>
          </a:ln>
        </p:spPr>
        <p:txBody>
          <a:bodyPr anchorCtr="0" anchor="t" bIns="91425" lIns="91425" spcFirstLastPara="1" rIns="91425" wrap="square" tIns="91425">
            <a:spAutoFit/>
          </a:bodyPr>
          <a:lstStyle/>
          <a:p>
            <a:pPr indent="0" lvl="0" marL="0" rtl="0" algn="ctr">
              <a:spcBef>
                <a:spcPts val="600"/>
              </a:spcBef>
              <a:spcAft>
                <a:spcPts val="0"/>
              </a:spcAft>
              <a:buNone/>
            </a:pPr>
            <a:r>
              <a:rPr lang="en" sz="1800">
                <a:solidFill>
                  <a:schemeClr val="dk1"/>
                </a:solidFill>
                <a:latin typeface="Roboto"/>
                <a:ea typeface="Roboto"/>
                <a:cs typeface="Roboto"/>
                <a:sym typeface="Roboto"/>
              </a:rPr>
              <a:t>Adding 1.</a:t>
            </a:r>
            <a:endParaRPr/>
          </a:p>
        </p:txBody>
      </p:sp>
      <p:sp>
        <p:nvSpPr>
          <p:cNvPr id="1325" name="Google Shape;1325;p72"/>
          <p:cNvSpPr/>
          <p:nvPr/>
        </p:nvSpPr>
        <p:spPr>
          <a:xfrm>
            <a:off x="5621913" y="1621750"/>
            <a:ext cx="985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1  2</a:t>
            </a:r>
            <a:endParaRPr sz="1800"/>
          </a:p>
        </p:txBody>
      </p:sp>
      <p:sp>
        <p:nvSpPr>
          <p:cNvPr id="1326" name="Google Shape;1326;p72"/>
          <p:cNvSpPr txBox="1"/>
          <p:nvPr/>
        </p:nvSpPr>
        <p:spPr>
          <a:xfrm>
            <a:off x="4614663" y="1063250"/>
            <a:ext cx="3000000" cy="461700"/>
          </a:xfrm>
          <a:prstGeom prst="rect">
            <a:avLst/>
          </a:prstGeom>
          <a:noFill/>
          <a:ln>
            <a:noFill/>
          </a:ln>
        </p:spPr>
        <p:txBody>
          <a:bodyPr anchorCtr="0" anchor="t" bIns="91425" lIns="91425" spcFirstLastPara="1" rIns="91425" wrap="square" tIns="91425">
            <a:spAutoFit/>
          </a:bodyPr>
          <a:lstStyle/>
          <a:p>
            <a:pPr indent="0" lvl="0" marL="0" rtl="0" algn="ctr">
              <a:spcBef>
                <a:spcPts val="600"/>
              </a:spcBef>
              <a:spcAft>
                <a:spcPts val="0"/>
              </a:spcAft>
              <a:buNone/>
            </a:pPr>
            <a:r>
              <a:rPr lang="en" sz="1800">
                <a:solidFill>
                  <a:schemeClr val="dk1"/>
                </a:solidFill>
                <a:latin typeface="Roboto"/>
                <a:ea typeface="Roboto"/>
                <a:cs typeface="Roboto"/>
                <a:sym typeface="Roboto"/>
              </a:rPr>
              <a:t>Adding 2.</a:t>
            </a:r>
            <a:endParaRPr/>
          </a:p>
        </p:txBody>
      </p:sp>
      <p:sp>
        <p:nvSpPr>
          <p:cNvPr id="1327" name="Google Shape;1327;p72"/>
          <p:cNvSpPr txBox="1"/>
          <p:nvPr/>
        </p:nvSpPr>
        <p:spPr>
          <a:xfrm>
            <a:off x="107050" y="2577650"/>
            <a:ext cx="6154200" cy="461700"/>
          </a:xfrm>
          <a:prstGeom prst="rect">
            <a:avLst/>
          </a:prstGeom>
          <a:noFill/>
          <a:ln>
            <a:noFill/>
          </a:ln>
        </p:spPr>
        <p:txBody>
          <a:bodyPr anchorCtr="0" anchor="t" bIns="91425" lIns="91425" spcFirstLastPara="1" rIns="91425" wrap="square" tIns="91425">
            <a:spAutoFit/>
          </a:bodyPr>
          <a:lstStyle/>
          <a:p>
            <a:pPr indent="0" lvl="0" marL="0" rtl="0" algn="l">
              <a:spcBef>
                <a:spcPts val="600"/>
              </a:spcBef>
              <a:spcAft>
                <a:spcPts val="0"/>
              </a:spcAft>
              <a:buNone/>
            </a:pPr>
            <a:r>
              <a:rPr lang="en" sz="1800">
                <a:solidFill>
                  <a:schemeClr val="dk1"/>
                </a:solidFill>
                <a:latin typeface="Roboto"/>
                <a:ea typeface="Roboto"/>
                <a:cs typeface="Roboto"/>
                <a:sym typeface="Roboto"/>
              </a:rPr>
              <a:t>Adding 3. Node is too full, so we need to split.</a:t>
            </a:r>
            <a:endParaRPr/>
          </a:p>
        </p:txBody>
      </p:sp>
      <p:sp>
        <p:nvSpPr>
          <p:cNvPr id="1328" name="Google Shape;1328;p72"/>
          <p:cNvSpPr/>
          <p:nvPr/>
        </p:nvSpPr>
        <p:spPr>
          <a:xfrm>
            <a:off x="1800249" y="4212538"/>
            <a:ext cx="12114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1  2  3</a:t>
            </a:r>
            <a:endParaRPr sz="1800"/>
          </a:p>
        </p:txBody>
      </p:sp>
      <p:sp>
        <p:nvSpPr>
          <p:cNvPr id="1329" name="Google Shape;1329;p72"/>
          <p:cNvSpPr txBox="1"/>
          <p:nvPr/>
        </p:nvSpPr>
        <p:spPr>
          <a:xfrm>
            <a:off x="905938" y="3044450"/>
            <a:ext cx="3000000" cy="461700"/>
          </a:xfrm>
          <a:prstGeom prst="rect">
            <a:avLst/>
          </a:prstGeom>
          <a:noFill/>
          <a:ln>
            <a:noFill/>
          </a:ln>
        </p:spPr>
        <p:txBody>
          <a:bodyPr anchorCtr="0" anchor="t" bIns="91425" lIns="91425" spcFirstLastPara="1" rIns="91425" wrap="square" tIns="91425">
            <a:spAutoFit/>
          </a:bodyPr>
          <a:lstStyle/>
          <a:p>
            <a:pPr indent="0" lvl="0" marL="0" rtl="0" algn="ctr">
              <a:spcBef>
                <a:spcPts val="600"/>
              </a:spcBef>
              <a:spcAft>
                <a:spcPts val="0"/>
              </a:spcAft>
              <a:buNone/>
            </a:pPr>
            <a:r>
              <a:rPr lang="en" sz="1800">
                <a:solidFill>
                  <a:schemeClr val="dk1"/>
                </a:solidFill>
                <a:latin typeface="Roboto"/>
                <a:ea typeface="Roboto"/>
                <a:cs typeface="Roboto"/>
                <a:sym typeface="Roboto"/>
              </a:rPr>
              <a:t>Before split</a:t>
            </a:r>
            <a:endParaRPr/>
          </a:p>
        </p:txBody>
      </p:sp>
      <p:sp>
        <p:nvSpPr>
          <p:cNvPr id="1330" name="Google Shape;1330;p72"/>
          <p:cNvSpPr txBox="1"/>
          <p:nvPr/>
        </p:nvSpPr>
        <p:spPr>
          <a:xfrm>
            <a:off x="4614663" y="3044450"/>
            <a:ext cx="3000000" cy="461700"/>
          </a:xfrm>
          <a:prstGeom prst="rect">
            <a:avLst/>
          </a:prstGeom>
          <a:noFill/>
          <a:ln>
            <a:noFill/>
          </a:ln>
        </p:spPr>
        <p:txBody>
          <a:bodyPr anchorCtr="0" anchor="t" bIns="91425" lIns="91425" spcFirstLastPara="1" rIns="91425" wrap="square" tIns="91425">
            <a:spAutoFit/>
          </a:bodyPr>
          <a:lstStyle/>
          <a:p>
            <a:pPr indent="0" lvl="0" marL="0" rtl="0" algn="ctr">
              <a:spcBef>
                <a:spcPts val="600"/>
              </a:spcBef>
              <a:spcAft>
                <a:spcPts val="0"/>
              </a:spcAft>
              <a:buNone/>
            </a:pPr>
            <a:r>
              <a:rPr lang="en" sz="1800">
                <a:solidFill>
                  <a:schemeClr val="dk1"/>
                </a:solidFill>
                <a:latin typeface="Roboto"/>
                <a:ea typeface="Roboto"/>
                <a:cs typeface="Roboto"/>
                <a:sym typeface="Roboto"/>
              </a:rPr>
              <a:t>After split</a:t>
            </a:r>
            <a:endParaRPr/>
          </a:p>
        </p:txBody>
      </p:sp>
      <p:grpSp>
        <p:nvGrpSpPr>
          <p:cNvPr id="1331" name="Google Shape;1331;p72"/>
          <p:cNvGrpSpPr/>
          <p:nvPr/>
        </p:nvGrpSpPr>
        <p:grpSpPr>
          <a:xfrm>
            <a:off x="5006331" y="3615825"/>
            <a:ext cx="2216674" cy="921632"/>
            <a:chOff x="5006331" y="3615825"/>
            <a:chExt cx="2216674" cy="921632"/>
          </a:xfrm>
        </p:grpSpPr>
        <p:sp>
          <p:nvSpPr>
            <p:cNvPr id="1332" name="Google Shape;1332;p72"/>
            <p:cNvSpPr/>
            <p:nvPr/>
          </p:nvSpPr>
          <p:spPr>
            <a:xfrm>
              <a:off x="5006331" y="4212557"/>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a:t>
              </a:r>
              <a:endParaRPr sz="1800"/>
            </a:p>
          </p:txBody>
        </p:sp>
        <p:sp>
          <p:nvSpPr>
            <p:cNvPr id="1333" name="Google Shape;1333;p72"/>
            <p:cNvSpPr/>
            <p:nvPr/>
          </p:nvSpPr>
          <p:spPr>
            <a:xfrm>
              <a:off x="6732505" y="4212548"/>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3</a:t>
              </a:r>
              <a:endParaRPr sz="1800"/>
            </a:p>
          </p:txBody>
        </p:sp>
        <p:sp>
          <p:nvSpPr>
            <p:cNvPr id="1334" name="Google Shape;1334;p72"/>
            <p:cNvSpPr/>
            <p:nvPr/>
          </p:nvSpPr>
          <p:spPr>
            <a:xfrm>
              <a:off x="5863095" y="361582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a:t>
              </a:r>
              <a:endParaRPr sz="1800"/>
            </a:p>
          </p:txBody>
        </p:sp>
        <p:cxnSp>
          <p:nvCxnSpPr>
            <p:cNvPr id="1335" name="Google Shape;1335;p72"/>
            <p:cNvCxnSpPr>
              <a:stCxn id="1334" idx="2"/>
              <a:endCxn id="1332" idx="0"/>
            </p:cNvCxnSpPr>
            <p:nvPr/>
          </p:nvCxnSpPr>
          <p:spPr>
            <a:xfrm flipH="1">
              <a:off x="5251545" y="3940725"/>
              <a:ext cx="856800" cy="271800"/>
            </a:xfrm>
            <a:prstGeom prst="straightConnector1">
              <a:avLst/>
            </a:prstGeom>
            <a:noFill/>
            <a:ln cap="flat" cmpd="sng" w="19050">
              <a:solidFill>
                <a:srgbClr val="666666"/>
              </a:solidFill>
              <a:prstDash val="solid"/>
              <a:round/>
              <a:headEnd len="med" w="med" type="none"/>
              <a:tailEnd len="med" w="med" type="none"/>
            </a:ln>
          </p:spPr>
        </p:cxnSp>
        <p:cxnSp>
          <p:nvCxnSpPr>
            <p:cNvPr id="1336" name="Google Shape;1336;p72"/>
            <p:cNvCxnSpPr>
              <a:stCxn id="1334" idx="2"/>
              <a:endCxn id="1333" idx="0"/>
            </p:cNvCxnSpPr>
            <p:nvPr/>
          </p:nvCxnSpPr>
          <p:spPr>
            <a:xfrm>
              <a:off x="6108345" y="3940725"/>
              <a:ext cx="869400" cy="271800"/>
            </a:xfrm>
            <a:prstGeom prst="straightConnector1">
              <a:avLst/>
            </a:prstGeom>
            <a:noFill/>
            <a:ln cap="flat" cmpd="sng" w="19050">
              <a:solidFill>
                <a:srgbClr val="666666"/>
              </a:solidFill>
              <a:prstDash val="solid"/>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40" name="Shape 1340"/>
        <p:cNvGrpSpPr/>
        <p:nvPr/>
      </p:nvGrpSpPr>
      <p:grpSpPr>
        <a:xfrm>
          <a:off x="0" y="0"/>
          <a:ext cx="0" cy="0"/>
          <a:chOff x="0" y="0"/>
          <a:chExt cx="0" cy="0"/>
        </a:xfrm>
      </p:grpSpPr>
      <p:sp>
        <p:nvSpPr>
          <p:cNvPr id="1341" name="Google Shape;1341;p7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Exercise</a:t>
            </a:r>
            <a:endParaRPr/>
          </a:p>
        </p:txBody>
      </p:sp>
      <p:sp>
        <p:nvSpPr>
          <p:cNvPr id="1342" name="Google Shape;1342;p73"/>
          <p:cNvSpPr txBox="1"/>
          <p:nvPr>
            <p:ph idx="1" type="body"/>
          </p:nvPr>
        </p:nvSpPr>
        <p:spPr>
          <a:xfrm>
            <a:off x="107050" y="402200"/>
            <a:ext cx="8864700" cy="689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Add 1, 2, 3, 4, 5, 6, 7 (in that order) into a 2-3 tree. For L=2, pass the middle item up.</a:t>
            </a:r>
            <a:endParaRPr/>
          </a:p>
        </p:txBody>
      </p:sp>
      <p:grpSp>
        <p:nvGrpSpPr>
          <p:cNvPr id="1343" name="Google Shape;1343;p73"/>
          <p:cNvGrpSpPr/>
          <p:nvPr/>
        </p:nvGrpSpPr>
        <p:grpSpPr>
          <a:xfrm>
            <a:off x="5006181" y="1496475"/>
            <a:ext cx="2464169" cy="921632"/>
            <a:chOff x="3339906" y="1476975"/>
            <a:chExt cx="2464169" cy="921632"/>
          </a:xfrm>
        </p:grpSpPr>
        <p:sp>
          <p:nvSpPr>
            <p:cNvPr id="1344" name="Google Shape;1344;p73"/>
            <p:cNvSpPr/>
            <p:nvPr/>
          </p:nvSpPr>
          <p:spPr>
            <a:xfrm>
              <a:off x="4818575" y="2073700"/>
              <a:ext cx="985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3  4</a:t>
              </a:r>
              <a:endParaRPr sz="1800"/>
            </a:p>
          </p:txBody>
        </p:sp>
        <p:sp>
          <p:nvSpPr>
            <p:cNvPr id="1345" name="Google Shape;1345;p73"/>
            <p:cNvSpPr/>
            <p:nvPr/>
          </p:nvSpPr>
          <p:spPr>
            <a:xfrm>
              <a:off x="3339906" y="2073707"/>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a:t>
              </a:r>
              <a:endParaRPr sz="1800"/>
            </a:p>
          </p:txBody>
        </p:sp>
        <p:sp>
          <p:nvSpPr>
            <p:cNvPr id="1346" name="Google Shape;1346;p73"/>
            <p:cNvSpPr/>
            <p:nvPr/>
          </p:nvSpPr>
          <p:spPr>
            <a:xfrm>
              <a:off x="4196670" y="147697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a:t>
              </a:r>
              <a:endParaRPr sz="1800"/>
            </a:p>
          </p:txBody>
        </p:sp>
        <p:cxnSp>
          <p:nvCxnSpPr>
            <p:cNvPr id="1347" name="Google Shape;1347;p73"/>
            <p:cNvCxnSpPr>
              <a:stCxn id="1346" idx="2"/>
              <a:endCxn id="1345" idx="0"/>
            </p:cNvCxnSpPr>
            <p:nvPr/>
          </p:nvCxnSpPr>
          <p:spPr>
            <a:xfrm flipH="1">
              <a:off x="3585120" y="1801875"/>
              <a:ext cx="856800" cy="271800"/>
            </a:xfrm>
            <a:prstGeom prst="straightConnector1">
              <a:avLst/>
            </a:prstGeom>
            <a:noFill/>
            <a:ln cap="flat" cmpd="sng" w="19050">
              <a:solidFill>
                <a:srgbClr val="666666"/>
              </a:solidFill>
              <a:prstDash val="solid"/>
              <a:round/>
              <a:headEnd len="med" w="med" type="none"/>
              <a:tailEnd len="med" w="med" type="none"/>
            </a:ln>
          </p:spPr>
        </p:cxnSp>
        <p:cxnSp>
          <p:nvCxnSpPr>
            <p:cNvPr id="1348" name="Google Shape;1348;p73"/>
            <p:cNvCxnSpPr>
              <a:stCxn id="1346" idx="2"/>
              <a:endCxn id="1349" idx="0"/>
            </p:cNvCxnSpPr>
            <p:nvPr/>
          </p:nvCxnSpPr>
          <p:spPr>
            <a:xfrm>
              <a:off x="4441920" y="1801875"/>
              <a:ext cx="869400" cy="271800"/>
            </a:xfrm>
            <a:prstGeom prst="straightConnector1">
              <a:avLst/>
            </a:prstGeom>
            <a:noFill/>
            <a:ln cap="flat" cmpd="sng" w="19050">
              <a:solidFill>
                <a:srgbClr val="666666"/>
              </a:solidFill>
              <a:prstDash val="solid"/>
              <a:round/>
              <a:headEnd len="med" w="med" type="none"/>
              <a:tailEnd len="med" w="med" type="none"/>
            </a:ln>
          </p:spPr>
        </p:cxnSp>
      </p:grpSp>
      <p:sp>
        <p:nvSpPr>
          <p:cNvPr id="1350" name="Google Shape;1350;p73"/>
          <p:cNvSpPr txBox="1"/>
          <p:nvPr/>
        </p:nvSpPr>
        <p:spPr>
          <a:xfrm>
            <a:off x="4758675" y="958575"/>
            <a:ext cx="2712000" cy="461700"/>
          </a:xfrm>
          <a:prstGeom prst="rect">
            <a:avLst/>
          </a:prstGeom>
          <a:noFill/>
          <a:ln>
            <a:noFill/>
          </a:ln>
        </p:spPr>
        <p:txBody>
          <a:bodyPr anchorCtr="0" anchor="t" bIns="91425" lIns="91425" spcFirstLastPara="1" rIns="91425" wrap="square" tIns="91425">
            <a:spAutoFit/>
          </a:bodyPr>
          <a:lstStyle/>
          <a:p>
            <a:pPr indent="0" lvl="0" marL="0" rtl="0" algn="ctr">
              <a:spcBef>
                <a:spcPts val="600"/>
              </a:spcBef>
              <a:spcAft>
                <a:spcPts val="0"/>
              </a:spcAft>
              <a:buNone/>
            </a:pPr>
            <a:r>
              <a:rPr lang="en" sz="1800">
                <a:solidFill>
                  <a:schemeClr val="dk1"/>
                </a:solidFill>
                <a:latin typeface="Roboto"/>
                <a:ea typeface="Roboto"/>
                <a:cs typeface="Roboto"/>
                <a:sym typeface="Roboto"/>
              </a:rPr>
              <a:t>Adding 4.</a:t>
            </a:r>
            <a:endParaRPr/>
          </a:p>
        </p:txBody>
      </p:sp>
      <p:sp>
        <p:nvSpPr>
          <p:cNvPr id="1351" name="Google Shape;1351;p73"/>
          <p:cNvSpPr txBox="1"/>
          <p:nvPr/>
        </p:nvSpPr>
        <p:spPr>
          <a:xfrm>
            <a:off x="107050" y="2577650"/>
            <a:ext cx="6154200" cy="461700"/>
          </a:xfrm>
          <a:prstGeom prst="rect">
            <a:avLst/>
          </a:prstGeom>
          <a:noFill/>
          <a:ln>
            <a:noFill/>
          </a:ln>
        </p:spPr>
        <p:txBody>
          <a:bodyPr anchorCtr="0" anchor="t" bIns="91425" lIns="91425" spcFirstLastPara="1" rIns="91425" wrap="square" tIns="91425">
            <a:spAutoFit/>
          </a:bodyPr>
          <a:lstStyle/>
          <a:p>
            <a:pPr indent="0" lvl="0" marL="0" rtl="0" algn="l">
              <a:spcBef>
                <a:spcPts val="600"/>
              </a:spcBef>
              <a:spcAft>
                <a:spcPts val="0"/>
              </a:spcAft>
              <a:buNone/>
            </a:pPr>
            <a:r>
              <a:rPr lang="en" sz="1800">
                <a:solidFill>
                  <a:schemeClr val="dk1"/>
                </a:solidFill>
                <a:latin typeface="Roboto"/>
                <a:ea typeface="Roboto"/>
                <a:cs typeface="Roboto"/>
                <a:sym typeface="Roboto"/>
              </a:rPr>
              <a:t>Adding 5. Node is too full, so we need to split.</a:t>
            </a:r>
            <a:endParaRPr/>
          </a:p>
        </p:txBody>
      </p:sp>
      <p:sp>
        <p:nvSpPr>
          <p:cNvPr id="1352" name="Google Shape;1352;p73"/>
          <p:cNvSpPr txBox="1"/>
          <p:nvPr/>
        </p:nvSpPr>
        <p:spPr>
          <a:xfrm>
            <a:off x="756951" y="3044450"/>
            <a:ext cx="3149100" cy="461700"/>
          </a:xfrm>
          <a:prstGeom prst="rect">
            <a:avLst/>
          </a:prstGeom>
          <a:noFill/>
          <a:ln>
            <a:noFill/>
          </a:ln>
        </p:spPr>
        <p:txBody>
          <a:bodyPr anchorCtr="0" anchor="t" bIns="91425" lIns="91425" spcFirstLastPara="1" rIns="91425" wrap="square" tIns="91425">
            <a:spAutoFit/>
          </a:bodyPr>
          <a:lstStyle/>
          <a:p>
            <a:pPr indent="0" lvl="0" marL="0" rtl="0" algn="ctr">
              <a:spcBef>
                <a:spcPts val="600"/>
              </a:spcBef>
              <a:spcAft>
                <a:spcPts val="0"/>
              </a:spcAft>
              <a:buNone/>
            </a:pPr>
            <a:r>
              <a:rPr lang="en" sz="1800">
                <a:solidFill>
                  <a:schemeClr val="dk1"/>
                </a:solidFill>
                <a:latin typeface="Roboto"/>
                <a:ea typeface="Roboto"/>
                <a:cs typeface="Roboto"/>
                <a:sym typeface="Roboto"/>
              </a:rPr>
              <a:t>Before split</a:t>
            </a:r>
            <a:endParaRPr/>
          </a:p>
        </p:txBody>
      </p:sp>
      <p:sp>
        <p:nvSpPr>
          <p:cNvPr id="1353" name="Google Shape;1353;p73"/>
          <p:cNvSpPr txBox="1"/>
          <p:nvPr/>
        </p:nvSpPr>
        <p:spPr>
          <a:xfrm>
            <a:off x="4614663" y="3044450"/>
            <a:ext cx="3000000" cy="461700"/>
          </a:xfrm>
          <a:prstGeom prst="rect">
            <a:avLst/>
          </a:prstGeom>
          <a:noFill/>
          <a:ln>
            <a:noFill/>
          </a:ln>
        </p:spPr>
        <p:txBody>
          <a:bodyPr anchorCtr="0" anchor="t" bIns="91425" lIns="91425" spcFirstLastPara="1" rIns="91425" wrap="square" tIns="91425">
            <a:spAutoFit/>
          </a:bodyPr>
          <a:lstStyle/>
          <a:p>
            <a:pPr indent="0" lvl="0" marL="0" rtl="0" algn="ctr">
              <a:spcBef>
                <a:spcPts val="600"/>
              </a:spcBef>
              <a:spcAft>
                <a:spcPts val="0"/>
              </a:spcAft>
              <a:buNone/>
            </a:pPr>
            <a:r>
              <a:rPr lang="en" sz="1800">
                <a:solidFill>
                  <a:schemeClr val="dk1"/>
                </a:solidFill>
                <a:latin typeface="Roboto"/>
                <a:ea typeface="Roboto"/>
                <a:cs typeface="Roboto"/>
                <a:sym typeface="Roboto"/>
              </a:rPr>
              <a:t>After split</a:t>
            </a:r>
            <a:endParaRPr/>
          </a:p>
        </p:txBody>
      </p:sp>
      <p:grpSp>
        <p:nvGrpSpPr>
          <p:cNvPr id="1354" name="Google Shape;1354;p73"/>
          <p:cNvGrpSpPr/>
          <p:nvPr/>
        </p:nvGrpSpPr>
        <p:grpSpPr>
          <a:xfrm>
            <a:off x="1117393" y="3558875"/>
            <a:ext cx="2577118" cy="921632"/>
            <a:chOff x="1117393" y="3558875"/>
            <a:chExt cx="2577118" cy="921632"/>
          </a:xfrm>
        </p:grpSpPr>
        <p:sp>
          <p:nvSpPr>
            <p:cNvPr id="1355" name="Google Shape;1355;p73"/>
            <p:cNvSpPr/>
            <p:nvPr/>
          </p:nvSpPr>
          <p:spPr>
            <a:xfrm>
              <a:off x="2483112" y="4155588"/>
              <a:ext cx="12114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3  4  5</a:t>
              </a:r>
              <a:endParaRPr sz="1800"/>
            </a:p>
          </p:txBody>
        </p:sp>
        <p:sp>
          <p:nvSpPr>
            <p:cNvPr id="1356" name="Google Shape;1356;p73"/>
            <p:cNvSpPr/>
            <p:nvPr/>
          </p:nvSpPr>
          <p:spPr>
            <a:xfrm>
              <a:off x="1117393" y="4155607"/>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a:t>
              </a:r>
              <a:endParaRPr sz="1800"/>
            </a:p>
          </p:txBody>
        </p:sp>
        <p:sp>
          <p:nvSpPr>
            <p:cNvPr id="1357" name="Google Shape;1357;p73"/>
            <p:cNvSpPr/>
            <p:nvPr/>
          </p:nvSpPr>
          <p:spPr>
            <a:xfrm>
              <a:off x="1974158" y="355887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a:t>
              </a:r>
              <a:endParaRPr sz="1800"/>
            </a:p>
          </p:txBody>
        </p:sp>
        <p:cxnSp>
          <p:nvCxnSpPr>
            <p:cNvPr id="1358" name="Google Shape;1358;p73"/>
            <p:cNvCxnSpPr>
              <a:stCxn id="1357" idx="2"/>
              <a:endCxn id="1356" idx="0"/>
            </p:cNvCxnSpPr>
            <p:nvPr/>
          </p:nvCxnSpPr>
          <p:spPr>
            <a:xfrm flipH="1">
              <a:off x="1362608" y="3883775"/>
              <a:ext cx="856800" cy="271800"/>
            </a:xfrm>
            <a:prstGeom prst="straightConnector1">
              <a:avLst/>
            </a:prstGeom>
            <a:noFill/>
            <a:ln cap="flat" cmpd="sng" w="19050">
              <a:solidFill>
                <a:srgbClr val="666666"/>
              </a:solidFill>
              <a:prstDash val="solid"/>
              <a:round/>
              <a:headEnd len="med" w="med" type="none"/>
              <a:tailEnd len="med" w="med" type="none"/>
            </a:ln>
          </p:spPr>
        </p:cxnSp>
        <p:cxnSp>
          <p:nvCxnSpPr>
            <p:cNvPr id="1359" name="Google Shape;1359;p73"/>
            <p:cNvCxnSpPr>
              <a:stCxn id="1357" idx="2"/>
            </p:cNvCxnSpPr>
            <p:nvPr/>
          </p:nvCxnSpPr>
          <p:spPr>
            <a:xfrm>
              <a:off x="2219408" y="3883775"/>
              <a:ext cx="869400" cy="271800"/>
            </a:xfrm>
            <a:prstGeom prst="straightConnector1">
              <a:avLst/>
            </a:prstGeom>
            <a:noFill/>
            <a:ln cap="flat" cmpd="sng" w="19050">
              <a:solidFill>
                <a:srgbClr val="666666"/>
              </a:solidFill>
              <a:prstDash val="solid"/>
              <a:round/>
              <a:headEnd len="med" w="med" type="none"/>
              <a:tailEnd len="med" w="med" type="none"/>
            </a:ln>
          </p:spPr>
        </p:cxnSp>
      </p:grpSp>
      <p:grpSp>
        <p:nvGrpSpPr>
          <p:cNvPr id="1360" name="Google Shape;1360;p73"/>
          <p:cNvGrpSpPr/>
          <p:nvPr/>
        </p:nvGrpSpPr>
        <p:grpSpPr>
          <a:xfrm>
            <a:off x="5006343" y="3558863"/>
            <a:ext cx="2216674" cy="921632"/>
            <a:chOff x="5006343" y="3558863"/>
            <a:chExt cx="2216674" cy="921632"/>
          </a:xfrm>
        </p:grpSpPr>
        <p:sp>
          <p:nvSpPr>
            <p:cNvPr id="1361" name="Google Shape;1361;p73"/>
            <p:cNvSpPr/>
            <p:nvPr/>
          </p:nvSpPr>
          <p:spPr>
            <a:xfrm>
              <a:off x="5621938" y="3558863"/>
              <a:ext cx="985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2  4</a:t>
              </a:r>
              <a:endParaRPr sz="1800"/>
            </a:p>
          </p:txBody>
        </p:sp>
        <p:sp>
          <p:nvSpPr>
            <p:cNvPr id="1362" name="Google Shape;1362;p73"/>
            <p:cNvSpPr/>
            <p:nvPr/>
          </p:nvSpPr>
          <p:spPr>
            <a:xfrm>
              <a:off x="5006343" y="415559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a:t>
              </a:r>
              <a:endParaRPr sz="1800"/>
            </a:p>
          </p:txBody>
        </p:sp>
        <p:cxnSp>
          <p:nvCxnSpPr>
            <p:cNvPr id="1363" name="Google Shape;1363;p73"/>
            <p:cNvCxnSpPr>
              <a:endCxn id="1362" idx="0"/>
            </p:cNvCxnSpPr>
            <p:nvPr/>
          </p:nvCxnSpPr>
          <p:spPr>
            <a:xfrm flipH="1">
              <a:off x="5251593" y="3883795"/>
              <a:ext cx="856800" cy="271800"/>
            </a:xfrm>
            <a:prstGeom prst="straightConnector1">
              <a:avLst/>
            </a:prstGeom>
            <a:noFill/>
            <a:ln cap="flat" cmpd="sng" w="19050">
              <a:solidFill>
                <a:srgbClr val="666666"/>
              </a:solidFill>
              <a:prstDash val="solid"/>
              <a:round/>
              <a:headEnd len="med" w="med" type="none"/>
              <a:tailEnd len="med" w="med" type="none"/>
            </a:ln>
          </p:spPr>
        </p:cxnSp>
        <p:sp>
          <p:nvSpPr>
            <p:cNvPr id="1364" name="Google Shape;1364;p73"/>
            <p:cNvSpPr/>
            <p:nvPr/>
          </p:nvSpPr>
          <p:spPr>
            <a:xfrm>
              <a:off x="6732517" y="4155586"/>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5</a:t>
              </a:r>
              <a:endParaRPr sz="1800"/>
            </a:p>
          </p:txBody>
        </p:sp>
        <p:cxnSp>
          <p:nvCxnSpPr>
            <p:cNvPr id="1365" name="Google Shape;1365;p73"/>
            <p:cNvCxnSpPr>
              <a:endCxn id="1364" idx="0"/>
            </p:cNvCxnSpPr>
            <p:nvPr/>
          </p:nvCxnSpPr>
          <p:spPr>
            <a:xfrm>
              <a:off x="6108367" y="3883786"/>
              <a:ext cx="869400" cy="271800"/>
            </a:xfrm>
            <a:prstGeom prst="straightConnector1">
              <a:avLst/>
            </a:prstGeom>
            <a:noFill/>
            <a:ln cap="flat" cmpd="sng" w="19050">
              <a:solidFill>
                <a:srgbClr val="666666"/>
              </a:solidFill>
              <a:prstDash val="solid"/>
              <a:round/>
              <a:headEnd len="med" w="med" type="none"/>
              <a:tailEnd len="med" w="med" type="none"/>
            </a:ln>
          </p:spPr>
        </p:cxnSp>
        <p:sp>
          <p:nvSpPr>
            <p:cNvPr id="1366" name="Google Shape;1366;p73"/>
            <p:cNvSpPr/>
            <p:nvPr/>
          </p:nvSpPr>
          <p:spPr>
            <a:xfrm>
              <a:off x="5869430" y="4155586"/>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3</a:t>
              </a:r>
              <a:endParaRPr sz="1800"/>
            </a:p>
          </p:txBody>
        </p:sp>
        <p:cxnSp>
          <p:nvCxnSpPr>
            <p:cNvPr id="1367" name="Google Shape;1367;p73"/>
            <p:cNvCxnSpPr>
              <a:stCxn id="1361" idx="2"/>
              <a:endCxn id="1366" idx="0"/>
            </p:cNvCxnSpPr>
            <p:nvPr/>
          </p:nvCxnSpPr>
          <p:spPr>
            <a:xfrm>
              <a:off x="6114688" y="3883763"/>
              <a:ext cx="0" cy="271800"/>
            </a:xfrm>
            <a:prstGeom prst="straightConnector1">
              <a:avLst/>
            </a:prstGeom>
            <a:noFill/>
            <a:ln cap="flat" cmpd="sng" w="19050">
              <a:solidFill>
                <a:srgbClr val="666666"/>
              </a:solidFill>
              <a:prstDash val="solid"/>
              <a:round/>
              <a:headEnd len="med" w="med" type="none"/>
              <a:tailEnd len="med" w="med" type="none"/>
            </a:ln>
          </p:spPr>
        </p:cxnSp>
      </p:grpSp>
      <p:sp>
        <p:nvSpPr>
          <p:cNvPr id="1368" name="Google Shape;1368;p73"/>
          <p:cNvSpPr txBox="1"/>
          <p:nvPr/>
        </p:nvSpPr>
        <p:spPr>
          <a:xfrm>
            <a:off x="831488" y="972525"/>
            <a:ext cx="3000000" cy="461700"/>
          </a:xfrm>
          <a:prstGeom prst="rect">
            <a:avLst/>
          </a:prstGeom>
          <a:noFill/>
          <a:ln>
            <a:noFill/>
          </a:ln>
        </p:spPr>
        <p:txBody>
          <a:bodyPr anchorCtr="0" anchor="t" bIns="91425" lIns="91425" spcFirstLastPara="1" rIns="91425" wrap="square" tIns="91425">
            <a:spAutoFit/>
          </a:bodyPr>
          <a:lstStyle/>
          <a:p>
            <a:pPr indent="0" lvl="0" marL="0" rtl="0" algn="ctr">
              <a:spcBef>
                <a:spcPts val="600"/>
              </a:spcBef>
              <a:spcAft>
                <a:spcPts val="0"/>
              </a:spcAft>
              <a:buNone/>
            </a:pPr>
            <a:r>
              <a:rPr lang="en" sz="1800">
                <a:solidFill>
                  <a:schemeClr val="dk1"/>
                </a:solidFill>
                <a:latin typeface="Roboto"/>
                <a:ea typeface="Roboto"/>
                <a:cs typeface="Roboto"/>
                <a:sym typeface="Roboto"/>
              </a:rPr>
              <a:t>After adding 3.</a:t>
            </a:r>
            <a:endParaRPr/>
          </a:p>
        </p:txBody>
      </p:sp>
      <p:grpSp>
        <p:nvGrpSpPr>
          <p:cNvPr id="1369" name="Google Shape;1369;p73"/>
          <p:cNvGrpSpPr/>
          <p:nvPr/>
        </p:nvGrpSpPr>
        <p:grpSpPr>
          <a:xfrm>
            <a:off x="1223156" y="1543900"/>
            <a:ext cx="2216674" cy="921632"/>
            <a:chOff x="5006331" y="3615825"/>
            <a:chExt cx="2216674" cy="921632"/>
          </a:xfrm>
        </p:grpSpPr>
        <p:sp>
          <p:nvSpPr>
            <p:cNvPr id="1370" name="Google Shape;1370;p73"/>
            <p:cNvSpPr/>
            <p:nvPr/>
          </p:nvSpPr>
          <p:spPr>
            <a:xfrm>
              <a:off x="5006331" y="4212557"/>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a:t>
              </a:r>
              <a:endParaRPr sz="1800"/>
            </a:p>
          </p:txBody>
        </p:sp>
        <p:sp>
          <p:nvSpPr>
            <p:cNvPr id="1371" name="Google Shape;1371;p73"/>
            <p:cNvSpPr/>
            <p:nvPr/>
          </p:nvSpPr>
          <p:spPr>
            <a:xfrm>
              <a:off x="6732505" y="4212548"/>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3</a:t>
              </a:r>
              <a:endParaRPr sz="1800"/>
            </a:p>
          </p:txBody>
        </p:sp>
        <p:sp>
          <p:nvSpPr>
            <p:cNvPr id="1372" name="Google Shape;1372;p73"/>
            <p:cNvSpPr/>
            <p:nvPr/>
          </p:nvSpPr>
          <p:spPr>
            <a:xfrm>
              <a:off x="5863095" y="361582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a:t>
              </a:r>
              <a:endParaRPr sz="1800"/>
            </a:p>
          </p:txBody>
        </p:sp>
        <p:cxnSp>
          <p:nvCxnSpPr>
            <p:cNvPr id="1373" name="Google Shape;1373;p73"/>
            <p:cNvCxnSpPr>
              <a:stCxn id="1372" idx="2"/>
              <a:endCxn id="1370" idx="0"/>
            </p:cNvCxnSpPr>
            <p:nvPr/>
          </p:nvCxnSpPr>
          <p:spPr>
            <a:xfrm flipH="1">
              <a:off x="5251545" y="3940725"/>
              <a:ext cx="856800" cy="271800"/>
            </a:xfrm>
            <a:prstGeom prst="straightConnector1">
              <a:avLst/>
            </a:prstGeom>
            <a:noFill/>
            <a:ln cap="flat" cmpd="sng" w="19050">
              <a:solidFill>
                <a:srgbClr val="666666"/>
              </a:solidFill>
              <a:prstDash val="solid"/>
              <a:round/>
              <a:headEnd len="med" w="med" type="none"/>
              <a:tailEnd len="med" w="med" type="none"/>
            </a:ln>
          </p:spPr>
        </p:cxnSp>
        <p:cxnSp>
          <p:nvCxnSpPr>
            <p:cNvPr id="1374" name="Google Shape;1374;p73"/>
            <p:cNvCxnSpPr>
              <a:stCxn id="1372" idx="2"/>
              <a:endCxn id="1371" idx="0"/>
            </p:cNvCxnSpPr>
            <p:nvPr/>
          </p:nvCxnSpPr>
          <p:spPr>
            <a:xfrm>
              <a:off x="6108345" y="3940725"/>
              <a:ext cx="869400" cy="271800"/>
            </a:xfrm>
            <a:prstGeom prst="straightConnector1">
              <a:avLst/>
            </a:prstGeom>
            <a:noFill/>
            <a:ln cap="flat" cmpd="sng" w="19050">
              <a:solidFill>
                <a:srgbClr val="666666"/>
              </a:solidFill>
              <a:prstDash val="solid"/>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78" name="Shape 1378"/>
        <p:cNvGrpSpPr/>
        <p:nvPr/>
      </p:nvGrpSpPr>
      <p:grpSpPr>
        <a:xfrm>
          <a:off x="0" y="0"/>
          <a:ext cx="0" cy="0"/>
          <a:chOff x="0" y="0"/>
          <a:chExt cx="0" cy="0"/>
        </a:xfrm>
      </p:grpSpPr>
      <p:sp>
        <p:nvSpPr>
          <p:cNvPr id="1379" name="Google Shape;1379;p74"/>
          <p:cNvSpPr txBox="1"/>
          <p:nvPr/>
        </p:nvSpPr>
        <p:spPr>
          <a:xfrm>
            <a:off x="831488" y="972525"/>
            <a:ext cx="3000000" cy="461700"/>
          </a:xfrm>
          <a:prstGeom prst="rect">
            <a:avLst/>
          </a:prstGeom>
          <a:noFill/>
          <a:ln>
            <a:noFill/>
          </a:ln>
        </p:spPr>
        <p:txBody>
          <a:bodyPr anchorCtr="0" anchor="t" bIns="91425" lIns="91425" spcFirstLastPara="1" rIns="91425" wrap="square" tIns="91425">
            <a:spAutoFit/>
          </a:bodyPr>
          <a:lstStyle/>
          <a:p>
            <a:pPr indent="0" lvl="0" marL="0" rtl="0" algn="ctr">
              <a:spcBef>
                <a:spcPts val="600"/>
              </a:spcBef>
              <a:spcAft>
                <a:spcPts val="0"/>
              </a:spcAft>
              <a:buNone/>
            </a:pPr>
            <a:r>
              <a:rPr lang="en" sz="1800">
                <a:solidFill>
                  <a:schemeClr val="dk1"/>
                </a:solidFill>
                <a:latin typeface="Roboto"/>
                <a:ea typeface="Roboto"/>
                <a:cs typeface="Roboto"/>
                <a:sym typeface="Roboto"/>
              </a:rPr>
              <a:t>After adding 5.</a:t>
            </a:r>
            <a:endParaRPr/>
          </a:p>
        </p:txBody>
      </p:sp>
      <p:grpSp>
        <p:nvGrpSpPr>
          <p:cNvPr id="1380" name="Google Shape;1380;p74"/>
          <p:cNvGrpSpPr/>
          <p:nvPr/>
        </p:nvGrpSpPr>
        <p:grpSpPr>
          <a:xfrm>
            <a:off x="1223156" y="1515413"/>
            <a:ext cx="2216674" cy="921632"/>
            <a:chOff x="5006343" y="3558863"/>
            <a:chExt cx="2216674" cy="921632"/>
          </a:xfrm>
        </p:grpSpPr>
        <p:sp>
          <p:nvSpPr>
            <p:cNvPr id="1381" name="Google Shape;1381;p74"/>
            <p:cNvSpPr/>
            <p:nvPr/>
          </p:nvSpPr>
          <p:spPr>
            <a:xfrm>
              <a:off x="5621938" y="3558863"/>
              <a:ext cx="985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2  4</a:t>
              </a:r>
              <a:endParaRPr sz="1800"/>
            </a:p>
          </p:txBody>
        </p:sp>
        <p:sp>
          <p:nvSpPr>
            <p:cNvPr id="1382" name="Google Shape;1382;p74"/>
            <p:cNvSpPr/>
            <p:nvPr/>
          </p:nvSpPr>
          <p:spPr>
            <a:xfrm>
              <a:off x="5006343" y="4155595"/>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a:t>
              </a:r>
              <a:endParaRPr sz="1800"/>
            </a:p>
          </p:txBody>
        </p:sp>
        <p:cxnSp>
          <p:nvCxnSpPr>
            <p:cNvPr id="1383" name="Google Shape;1383;p74"/>
            <p:cNvCxnSpPr>
              <a:endCxn id="1382" idx="0"/>
            </p:cNvCxnSpPr>
            <p:nvPr/>
          </p:nvCxnSpPr>
          <p:spPr>
            <a:xfrm flipH="1">
              <a:off x="5251593" y="3883795"/>
              <a:ext cx="856800" cy="271800"/>
            </a:xfrm>
            <a:prstGeom prst="straightConnector1">
              <a:avLst/>
            </a:prstGeom>
            <a:noFill/>
            <a:ln cap="flat" cmpd="sng" w="19050">
              <a:solidFill>
                <a:srgbClr val="666666"/>
              </a:solidFill>
              <a:prstDash val="solid"/>
              <a:round/>
              <a:headEnd len="med" w="med" type="none"/>
              <a:tailEnd len="med" w="med" type="none"/>
            </a:ln>
          </p:spPr>
        </p:cxnSp>
        <p:sp>
          <p:nvSpPr>
            <p:cNvPr id="1384" name="Google Shape;1384;p74"/>
            <p:cNvSpPr/>
            <p:nvPr/>
          </p:nvSpPr>
          <p:spPr>
            <a:xfrm>
              <a:off x="6732517" y="4155586"/>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5</a:t>
              </a:r>
              <a:endParaRPr sz="1800"/>
            </a:p>
          </p:txBody>
        </p:sp>
        <p:cxnSp>
          <p:nvCxnSpPr>
            <p:cNvPr id="1385" name="Google Shape;1385;p74"/>
            <p:cNvCxnSpPr>
              <a:endCxn id="1384" idx="0"/>
            </p:cNvCxnSpPr>
            <p:nvPr/>
          </p:nvCxnSpPr>
          <p:spPr>
            <a:xfrm>
              <a:off x="6108367" y="3883786"/>
              <a:ext cx="869400" cy="271800"/>
            </a:xfrm>
            <a:prstGeom prst="straightConnector1">
              <a:avLst/>
            </a:prstGeom>
            <a:noFill/>
            <a:ln cap="flat" cmpd="sng" w="19050">
              <a:solidFill>
                <a:srgbClr val="666666"/>
              </a:solidFill>
              <a:prstDash val="solid"/>
              <a:round/>
              <a:headEnd len="med" w="med" type="none"/>
              <a:tailEnd len="med" w="med" type="none"/>
            </a:ln>
          </p:spPr>
        </p:cxnSp>
        <p:sp>
          <p:nvSpPr>
            <p:cNvPr id="1386" name="Google Shape;1386;p74"/>
            <p:cNvSpPr/>
            <p:nvPr/>
          </p:nvSpPr>
          <p:spPr>
            <a:xfrm>
              <a:off x="5869430" y="4155586"/>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3</a:t>
              </a:r>
              <a:endParaRPr sz="1800"/>
            </a:p>
          </p:txBody>
        </p:sp>
        <p:cxnSp>
          <p:nvCxnSpPr>
            <p:cNvPr id="1387" name="Google Shape;1387;p74"/>
            <p:cNvCxnSpPr>
              <a:stCxn id="1381" idx="2"/>
              <a:endCxn id="1386" idx="0"/>
            </p:cNvCxnSpPr>
            <p:nvPr/>
          </p:nvCxnSpPr>
          <p:spPr>
            <a:xfrm>
              <a:off x="6114688" y="3883763"/>
              <a:ext cx="0" cy="271800"/>
            </a:xfrm>
            <a:prstGeom prst="straightConnector1">
              <a:avLst/>
            </a:prstGeom>
            <a:noFill/>
            <a:ln cap="flat" cmpd="sng" w="19050">
              <a:solidFill>
                <a:srgbClr val="666666"/>
              </a:solidFill>
              <a:prstDash val="solid"/>
              <a:round/>
              <a:headEnd len="med" w="med" type="none"/>
              <a:tailEnd len="med" w="med" type="none"/>
            </a:ln>
          </p:spPr>
        </p:cxnSp>
      </p:grpSp>
      <p:sp>
        <p:nvSpPr>
          <p:cNvPr id="1388" name="Google Shape;1388;p7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Exercise</a:t>
            </a:r>
            <a:endParaRPr/>
          </a:p>
        </p:txBody>
      </p:sp>
      <p:sp>
        <p:nvSpPr>
          <p:cNvPr id="1389" name="Google Shape;1389;p74"/>
          <p:cNvSpPr txBox="1"/>
          <p:nvPr>
            <p:ph idx="1" type="body"/>
          </p:nvPr>
        </p:nvSpPr>
        <p:spPr>
          <a:xfrm>
            <a:off x="107050" y="402200"/>
            <a:ext cx="8864700" cy="556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Add 1, 2, 3, 4, 5, 6, 7 (in that order) into a 2-3 tree. For L=2, pass the middle item up.</a:t>
            </a:r>
            <a:endParaRPr/>
          </a:p>
        </p:txBody>
      </p:sp>
      <p:sp>
        <p:nvSpPr>
          <p:cNvPr id="1390" name="Google Shape;1390;p74"/>
          <p:cNvSpPr txBox="1"/>
          <p:nvPr/>
        </p:nvSpPr>
        <p:spPr>
          <a:xfrm>
            <a:off x="4758675" y="958575"/>
            <a:ext cx="2712000" cy="461700"/>
          </a:xfrm>
          <a:prstGeom prst="rect">
            <a:avLst/>
          </a:prstGeom>
          <a:noFill/>
          <a:ln>
            <a:noFill/>
          </a:ln>
        </p:spPr>
        <p:txBody>
          <a:bodyPr anchorCtr="0" anchor="t" bIns="91425" lIns="91425" spcFirstLastPara="1" rIns="91425" wrap="square" tIns="91425">
            <a:spAutoFit/>
          </a:bodyPr>
          <a:lstStyle/>
          <a:p>
            <a:pPr indent="0" lvl="0" marL="0" rtl="0" algn="ctr">
              <a:spcBef>
                <a:spcPts val="600"/>
              </a:spcBef>
              <a:spcAft>
                <a:spcPts val="0"/>
              </a:spcAft>
              <a:buNone/>
            </a:pPr>
            <a:r>
              <a:rPr lang="en" sz="1800">
                <a:solidFill>
                  <a:schemeClr val="dk1"/>
                </a:solidFill>
                <a:latin typeface="Roboto"/>
                <a:ea typeface="Roboto"/>
                <a:cs typeface="Roboto"/>
                <a:sym typeface="Roboto"/>
              </a:rPr>
              <a:t>Adding 6.</a:t>
            </a:r>
            <a:endParaRPr/>
          </a:p>
        </p:txBody>
      </p:sp>
      <p:sp>
        <p:nvSpPr>
          <p:cNvPr id="1391" name="Google Shape;1391;p74"/>
          <p:cNvSpPr txBox="1"/>
          <p:nvPr/>
        </p:nvSpPr>
        <p:spPr>
          <a:xfrm>
            <a:off x="107050" y="2577650"/>
            <a:ext cx="8359200" cy="461700"/>
          </a:xfrm>
          <a:prstGeom prst="rect">
            <a:avLst/>
          </a:prstGeom>
          <a:noFill/>
          <a:ln>
            <a:noFill/>
          </a:ln>
        </p:spPr>
        <p:txBody>
          <a:bodyPr anchorCtr="0" anchor="t" bIns="91425" lIns="91425" spcFirstLastPara="1" rIns="91425" wrap="square" tIns="91425">
            <a:spAutoFit/>
          </a:bodyPr>
          <a:lstStyle/>
          <a:p>
            <a:pPr indent="0" lvl="0" marL="0" rtl="0" algn="l">
              <a:spcBef>
                <a:spcPts val="600"/>
              </a:spcBef>
              <a:spcAft>
                <a:spcPts val="0"/>
              </a:spcAft>
              <a:buNone/>
            </a:pPr>
            <a:r>
              <a:rPr lang="en" sz="1800">
                <a:solidFill>
                  <a:schemeClr val="dk1"/>
                </a:solidFill>
                <a:latin typeface="Roboto"/>
                <a:ea typeface="Roboto"/>
                <a:cs typeface="Roboto"/>
                <a:sym typeface="Roboto"/>
              </a:rPr>
              <a:t>Adding 7. Node is too full, so we need to split.</a:t>
            </a:r>
            <a:endParaRPr/>
          </a:p>
        </p:txBody>
      </p:sp>
      <p:grpSp>
        <p:nvGrpSpPr>
          <p:cNvPr id="1392" name="Google Shape;1392;p74"/>
          <p:cNvGrpSpPr/>
          <p:nvPr/>
        </p:nvGrpSpPr>
        <p:grpSpPr>
          <a:xfrm>
            <a:off x="4882593" y="1515425"/>
            <a:ext cx="2464169" cy="921632"/>
            <a:chOff x="3151956" y="1397000"/>
            <a:chExt cx="2464169" cy="921632"/>
          </a:xfrm>
        </p:grpSpPr>
        <p:sp>
          <p:nvSpPr>
            <p:cNvPr id="1393" name="Google Shape;1393;p74"/>
            <p:cNvSpPr/>
            <p:nvPr/>
          </p:nvSpPr>
          <p:spPr>
            <a:xfrm>
              <a:off x="4630625" y="1993725"/>
              <a:ext cx="985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5  6</a:t>
              </a:r>
              <a:endParaRPr sz="1800"/>
            </a:p>
          </p:txBody>
        </p:sp>
        <p:sp>
          <p:nvSpPr>
            <p:cNvPr id="1394" name="Google Shape;1394;p74"/>
            <p:cNvSpPr/>
            <p:nvPr/>
          </p:nvSpPr>
          <p:spPr>
            <a:xfrm>
              <a:off x="3767550" y="1397000"/>
              <a:ext cx="985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2  4</a:t>
              </a:r>
              <a:endParaRPr sz="1800"/>
            </a:p>
          </p:txBody>
        </p:sp>
        <p:sp>
          <p:nvSpPr>
            <p:cNvPr id="1395" name="Google Shape;1395;p74"/>
            <p:cNvSpPr/>
            <p:nvPr/>
          </p:nvSpPr>
          <p:spPr>
            <a:xfrm>
              <a:off x="3151956" y="1993732"/>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a:t>
              </a:r>
              <a:endParaRPr sz="1800"/>
            </a:p>
          </p:txBody>
        </p:sp>
        <p:cxnSp>
          <p:nvCxnSpPr>
            <p:cNvPr id="1396" name="Google Shape;1396;p74"/>
            <p:cNvCxnSpPr>
              <a:endCxn id="1395" idx="0"/>
            </p:cNvCxnSpPr>
            <p:nvPr/>
          </p:nvCxnSpPr>
          <p:spPr>
            <a:xfrm flipH="1">
              <a:off x="3397206" y="1721932"/>
              <a:ext cx="856800" cy="271800"/>
            </a:xfrm>
            <a:prstGeom prst="straightConnector1">
              <a:avLst/>
            </a:prstGeom>
            <a:noFill/>
            <a:ln cap="flat" cmpd="sng" w="19050">
              <a:solidFill>
                <a:srgbClr val="666666"/>
              </a:solidFill>
              <a:prstDash val="solid"/>
              <a:round/>
              <a:headEnd len="med" w="med" type="none"/>
              <a:tailEnd len="med" w="med" type="none"/>
            </a:ln>
          </p:spPr>
        </p:cxnSp>
        <p:cxnSp>
          <p:nvCxnSpPr>
            <p:cNvPr id="1397" name="Google Shape;1397;p74"/>
            <p:cNvCxnSpPr/>
            <p:nvPr/>
          </p:nvCxnSpPr>
          <p:spPr>
            <a:xfrm>
              <a:off x="4253980" y="1721923"/>
              <a:ext cx="869400" cy="271800"/>
            </a:xfrm>
            <a:prstGeom prst="straightConnector1">
              <a:avLst/>
            </a:prstGeom>
            <a:noFill/>
            <a:ln cap="flat" cmpd="sng" w="19050">
              <a:solidFill>
                <a:srgbClr val="666666"/>
              </a:solidFill>
              <a:prstDash val="solid"/>
              <a:round/>
              <a:headEnd len="med" w="med" type="none"/>
              <a:tailEnd len="med" w="med" type="none"/>
            </a:ln>
          </p:spPr>
        </p:cxnSp>
        <p:sp>
          <p:nvSpPr>
            <p:cNvPr id="1398" name="Google Shape;1398;p74"/>
            <p:cNvSpPr/>
            <p:nvPr/>
          </p:nvSpPr>
          <p:spPr>
            <a:xfrm>
              <a:off x="4015042" y="1993723"/>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3</a:t>
              </a:r>
              <a:endParaRPr sz="1800"/>
            </a:p>
          </p:txBody>
        </p:sp>
        <p:cxnSp>
          <p:nvCxnSpPr>
            <p:cNvPr id="1399" name="Google Shape;1399;p74"/>
            <p:cNvCxnSpPr>
              <a:stCxn id="1394" idx="2"/>
              <a:endCxn id="1398" idx="0"/>
            </p:cNvCxnSpPr>
            <p:nvPr/>
          </p:nvCxnSpPr>
          <p:spPr>
            <a:xfrm>
              <a:off x="4260300" y="1721900"/>
              <a:ext cx="0" cy="271800"/>
            </a:xfrm>
            <a:prstGeom prst="straightConnector1">
              <a:avLst/>
            </a:prstGeom>
            <a:noFill/>
            <a:ln cap="flat" cmpd="sng" w="19050">
              <a:solidFill>
                <a:srgbClr val="666666"/>
              </a:solidFill>
              <a:prstDash val="solid"/>
              <a:round/>
              <a:headEnd len="med" w="med" type="none"/>
              <a:tailEnd len="med" w="med" type="none"/>
            </a:ln>
          </p:spPr>
        </p:cxnSp>
      </p:grpSp>
      <p:grpSp>
        <p:nvGrpSpPr>
          <p:cNvPr id="1400" name="Google Shape;1400;p74"/>
          <p:cNvGrpSpPr/>
          <p:nvPr/>
        </p:nvGrpSpPr>
        <p:grpSpPr>
          <a:xfrm>
            <a:off x="458631" y="3325350"/>
            <a:ext cx="2464169" cy="875332"/>
            <a:chOff x="458631" y="3858750"/>
            <a:chExt cx="2464169" cy="875332"/>
          </a:xfrm>
        </p:grpSpPr>
        <p:sp>
          <p:nvSpPr>
            <p:cNvPr id="1401" name="Google Shape;1401;p74"/>
            <p:cNvSpPr/>
            <p:nvPr/>
          </p:nvSpPr>
          <p:spPr>
            <a:xfrm>
              <a:off x="1937300" y="4409175"/>
              <a:ext cx="985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5  6  7</a:t>
              </a:r>
              <a:endParaRPr sz="1800"/>
            </a:p>
          </p:txBody>
        </p:sp>
        <p:sp>
          <p:nvSpPr>
            <p:cNvPr id="1402" name="Google Shape;1402;p74"/>
            <p:cNvSpPr/>
            <p:nvPr/>
          </p:nvSpPr>
          <p:spPr>
            <a:xfrm>
              <a:off x="1074225" y="3858750"/>
              <a:ext cx="985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2  4</a:t>
              </a:r>
              <a:endParaRPr sz="1800"/>
            </a:p>
          </p:txBody>
        </p:sp>
        <p:sp>
          <p:nvSpPr>
            <p:cNvPr id="1403" name="Google Shape;1403;p74"/>
            <p:cNvSpPr/>
            <p:nvPr/>
          </p:nvSpPr>
          <p:spPr>
            <a:xfrm>
              <a:off x="458631" y="4409182"/>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a:t>
              </a:r>
              <a:endParaRPr sz="1800"/>
            </a:p>
          </p:txBody>
        </p:sp>
        <p:cxnSp>
          <p:nvCxnSpPr>
            <p:cNvPr id="1404" name="Google Shape;1404;p74"/>
            <p:cNvCxnSpPr>
              <a:stCxn id="1402" idx="2"/>
              <a:endCxn id="1403" idx="0"/>
            </p:cNvCxnSpPr>
            <p:nvPr/>
          </p:nvCxnSpPr>
          <p:spPr>
            <a:xfrm flipH="1">
              <a:off x="703875" y="4183650"/>
              <a:ext cx="863100" cy="225600"/>
            </a:xfrm>
            <a:prstGeom prst="straightConnector1">
              <a:avLst/>
            </a:prstGeom>
            <a:noFill/>
            <a:ln cap="flat" cmpd="sng" w="19050">
              <a:solidFill>
                <a:srgbClr val="666666"/>
              </a:solidFill>
              <a:prstDash val="solid"/>
              <a:round/>
              <a:headEnd len="med" w="med" type="none"/>
              <a:tailEnd len="med" w="med" type="none"/>
            </a:ln>
          </p:spPr>
        </p:cxnSp>
        <p:cxnSp>
          <p:nvCxnSpPr>
            <p:cNvPr id="1405" name="Google Shape;1405;p74"/>
            <p:cNvCxnSpPr>
              <a:stCxn id="1402" idx="2"/>
              <a:endCxn id="1401" idx="0"/>
            </p:cNvCxnSpPr>
            <p:nvPr/>
          </p:nvCxnSpPr>
          <p:spPr>
            <a:xfrm>
              <a:off x="1566975" y="4183650"/>
              <a:ext cx="863100" cy="225600"/>
            </a:xfrm>
            <a:prstGeom prst="straightConnector1">
              <a:avLst/>
            </a:prstGeom>
            <a:noFill/>
            <a:ln cap="flat" cmpd="sng" w="19050">
              <a:solidFill>
                <a:srgbClr val="666666"/>
              </a:solidFill>
              <a:prstDash val="solid"/>
              <a:round/>
              <a:headEnd len="med" w="med" type="none"/>
              <a:tailEnd len="med" w="med" type="none"/>
            </a:ln>
          </p:spPr>
        </p:cxnSp>
        <p:sp>
          <p:nvSpPr>
            <p:cNvPr id="1406" name="Google Shape;1406;p74"/>
            <p:cNvSpPr/>
            <p:nvPr/>
          </p:nvSpPr>
          <p:spPr>
            <a:xfrm>
              <a:off x="1321717" y="4409173"/>
              <a:ext cx="49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3</a:t>
              </a:r>
              <a:endParaRPr sz="1800"/>
            </a:p>
          </p:txBody>
        </p:sp>
        <p:cxnSp>
          <p:nvCxnSpPr>
            <p:cNvPr id="1407" name="Google Shape;1407;p74"/>
            <p:cNvCxnSpPr>
              <a:stCxn id="1402" idx="2"/>
              <a:endCxn id="1406" idx="0"/>
            </p:cNvCxnSpPr>
            <p:nvPr/>
          </p:nvCxnSpPr>
          <p:spPr>
            <a:xfrm>
              <a:off x="1566975" y="4183650"/>
              <a:ext cx="0" cy="225600"/>
            </a:xfrm>
            <a:prstGeom prst="straightConnector1">
              <a:avLst/>
            </a:prstGeom>
            <a:noFill/>
            <a:ln cap="flat" cmpd="sng" w="19050">
              <a:solidFill>
                <a:srgbClr val="666666"/>
              </a:solidFill>
              <a:prstDash val="solid"/>
              <a:round/>
              <a:headEnd len="med" w="med" type="none"/>
              <a:tailEnd len="med" w="med" type="none"/>
            </a:ln>
          </p:spPr>
        </p:cxnSp>
      </p:grpSp>
      <p:grpSp>
        <p:nvGrpSpPr>
          <p:cNvPr id="1408" name="Google Shape;1408;p74"/>
          <p:cNvGrpSpPr/>
          <p:nvPr/>
        </p:nvGrpSpPr>
        <p:grpSpPr>
          <a:xfrm>
            <a:off x="6271150" y="2772007"/>
            <a:ext cx="2195100" cy="1428675"/>
            <a:chOff x="6271150" y="3305407"/>
            <a:chExt cx="2195100" cy="1428675"/>
          </a:xfrm>
        </p:grpSpPr>
        <p:sp>
          <p:nvSpPr>
            <p:cNvPr id="1409" name="Google Shape;1409;p74"/>
            <p:cNvSpPr/>
            <p:nvPr/>
          </p:nvSpPr>
          <p:spPr>
            <a:xfrm>
              <a:off x="6591200" y="3858757"/>
              <a:ext cx="40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a:t>
              </a:r>
              <a:endParaRPr sz="1800"/>
            </a:p>
          </p:txBody>
        </p:sp>
        <p:sp>
          <p:nvSpPr>
            <p:cNvPr id="1410" name="Google Shape;1410;p74"/>
            <p:cNvSpPr/>
            <p:nvPr/>
          </p:nvSpPr>
          <p:spPr>
            <a:xfrm>
              <a:off x="7778323" y="3858757"/>
              <a:ext cx="40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6</a:t>
              </a:r>
              <a:endParaRPr sz="1800"/>
            </a:p>
          </p:txBody>
        </p:sp>
        <p:sp>
          <p:nvSpPr>
            <p:cNvPr id="1411" name="Google Shape;1411;p74"/>
            <p:cNvSpPr/>
            <p:nvPr/>
          </p:nvSpPr>
          <p:spPr>
            <a:xfrm>
              <a:off x="7184763" y="3305407"/>
              <a:ext cx="40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4</a:t>
              </a:r>
              <a:endParaRPr sz="1800"/>
            </a:p>
          </p:txBody>
        </p:sp>
        <p:sp>
          <p:nvSpPr>
            <p:cNvPr id="1412" name="Google Shape;1412;p74"/>
            <p:cNvSpPr/>
            <p:nvPr/>
          </p:nvSpPr>
          <p:spPr>
            <a:xfrm>
              <a:off x="6271150" y="4409182"/>
              <a:ext cx="40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a:t>
              </a:r>
              <a:endParaRPr sz="1800"/>
            </a:p>
          </p:txBody>
        </p:sp>
        <p:sp>
          <p:nvSpPr>
            <p:cNvPr id="1413" name="Google Shape;1413;p74"/>
            <p:cNvSpPr/>
            <p:nvPr/>
          </p:nvSpPr>
          <p:spPr>
            <a:xfrm>
              <a:off x="6915050" y="4409182"/>
              <a:ext cx="40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3</a:t>
              </a:r>
              <a:endParaRPr sz="1800"/>
            </a:p>
          </p:txBody>
        </p:sp>
        <p:sp>
          <p:nvSpPr>
            <p:cNvPr id="1414" name="Google Shape;1414;p74"/>
            <p:cNvSpPr/>
            <p:nvPr/>
          </p:nvSpPr>
          <p:spPr>
            <a:xfrm>
              <a:off x="7498050" y="4409182"/>
              <a:ext cx="40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5</a:t>
              </a:r>
              <a:endParaRPr sz="1800"/>
            </a:p>
          </p:txBody>
        </p:sp>
        <p:sp>
          <p:nvSpPr>
            <p:cNvPr id="1415" name="Google Shape;1415;p74"/>
            <p:cNvSpPr/>
            <p:nvPr/>
          </p:nvSpPr>
          <p:spPr>
            <a:xfrm>
              <a:off x="8065750" y="4409182"/>
              <a:ext cx="40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7</a:t>
              </a:r>
              <a:endParaRPr sz="1800"/>
            </a:p>
          </p:txBody>
        </p:sp>
        <p:cxnSp>
          <p:nvCxnSpPr>
            <p:cNvPr id="1416" name="Google Shape;1416;p74"/>
            <p:cNvCxnSpPr>
              <a:stCxn id="1411" idx="2"/>
              <a:endCxn id="1409" idx="0"/>
            </p:cNvCxnSpPr>
            <p:nvPr/>
          </p:nvCxnSpPr>
          <p:spPr>
            <a:xfrm flipH="1">
              <a:off x="6791313" y="3630307"/>
              <a:ext cx="593700" cy="228600"/>
            </a:xfrm>
            <a:prstGeom prst="straightConnector1">
              <a:avLst/>
            </a:prstGeom>
            <a:noFill/>
            <a:ln cap="flat" cmpd="sng" w="19050">
              <a:solidFill>
                <a:srgbClr val="666666"/>
              </a:solidFill>
              <a:prstDash val="solid"/>
              <a:round/>
              <a:headEnd len="med" w="med" type="none"/>
              <a:tailEnd len="med" w="med" type="none"/>
            </a:ln>
          </p:spPr>
        </p:cxnSp>
        <p:cxnSp>
          <p:nvCxnSpPr>
            <p:cNvPr id="1417" name="Google Shape;1417;p74"/>
            <p:cNvCxnSpPr>
              <a:stCxn id="1409" idx="2"/>
              <a:endCxn id="1413" idx="0"/>
            </p:cNvCxnSpPr>
            <p:nvPr/>
          </p:nvCxnSpPr>
          <p:spPr>
            <a:xfrm>
              <a:off x="6791450" y="4183657"/>
              <a:ext cx="324000" cy="225600"/>
            </a:xfrm>
            <a:prstGeom prst="straightConnector1">
              <a:avLst/>
            </a:prstGeom>
            <a:noFill/>
            <a:ln cap="flat" cmpd="sng" w="19050">
              <a:solidFill>
                <a:srgbClr val="666666"/>
              </a:solidFill>
              <a:prstDash val="solid"/>
              <a:round/>
              <a:headEnd len="med" w="med" type="none"/>
              <a:tailEnd len="med" w="med" type="none"/>
            </a:ln>
          </p:spPr>
        </p:cxnSp>
        <p:cxnSp>
          <p:nvCxnSpPr>
            <p:cNvPr id="1418" name="Google Shape;1418;p74"/>
            <p:cNvCxnSpPr>
              <a:stCxn id="1409" idx="2"/>
              <a:endCxn id="1412" idx="0"/>
            </p:cNvCxnSpPr>
            <p:nvPr/>
          </p:nvCxnSpPr>
          <p:spPr>
            <a:xfrm flipH="1">
              <a:off x="6471350" y="4183657"/>
              <a:ext cx="320100" cy="225600"/>
            </a:xfrm>
            <a:prstGeom prst="straightConnector1">
              <a:avLst/>
            </a:prstGeom>
            <a:noFill/>
            <a:ln cap="flat" cmpd="sng" w="19050">
              <a:solidFill>
                <a:srgbClr val="666666"/>
              </a:solidFill>
              <a:prstDash val="solid"/>
              <a:round/>
              <a:headEnd len="med" w="med" type="none"/>
              <a:tailEnd len="med" w="med" type="none"/>
            </a:ln>
          </p:spPr>
        </p:cxnSp>
        <p:cxnSp>
          <p:nvCxnSpPr>
            <p:cNvPr id="1419" name="Google Shape;1419;p74"/>
            <p:cNvCxnSpPr>
              <a:stCxn id="1410" idx="2"/>
              <a:endCxn id="1414" idx="0"/>
            </p:cNvCxnSpPr>
            <p:nvPr/>
          </p:nvCxnSpPr>
          <p:spPr>
            <a:xfrm flipH="1">
              <a:off x="7698373" y="4183657"/>
              <a:ext cx="280200" cy="225600"/>
            </a:xfrm>
            <a:prstGeom prst="straightConnector1">
              <a:avLst/>
            </a:prstGeom>
            <a:noFill/>
            <a:ln cap="flat" cmpd="sng" w="19050">
              <a:solidFill>
                <a:srgbClr val="666666"/>
              </a:solidFill>
              <a:prstDash val="solid"/>
              <a:round/>
              <a:headEnd len="med" w="med" type="none"/>
              <a:tailEnd len="med" w="med" type="none"/>
            </a:ln>
          </p:spPr>
        </p:cxnSp>
        <p:cxnSp>
          <p:nvCxnSpPr>
            <p:cNvPr id="1420" name="Google Shape;1420;p74"/>
            <p:cNvCxnSpPr>
              <a:stCxn id="1410" idx="2"/>
              <a:endCxn id="1415" idx="0"/>
            </p:cNvCxnSpPr>
            <p:nvPr/>
          </p:nvCxnSpPr>
          <p:spPr>
            <a:xfrm>
              <a:off x="7978573" y="4183657"/>
              <a:ext cx="287400" cy="225600"/>
            </a:xfrm>
            <a:prstGeom prst="straightConnector1">
              <a:avLst/>
            </a:prstGeom>
            <a:noFill/>
            <a:ln cap="flat" cmpd="sng" w="19050">
              <a:solidFill>
                <a:srgbClr val="666666"/>
              </a:solidFill>
              <a:prstDash val="solid"/>
              <a:round/>
              <a:headEnd len="med" w="med" type="none"/>
              <a:tailEnd len="med" w="med" type="none"/>
            </a:ln>
          </p:spPr>
        </p:cxnSp>
        <p:cxnSp>
          <p:nvCxnSpPr>
            <p:cNvPr id="1421" name="Google Shape;1421;p74"/>
            <p:cNvCxnSpPr>
              <a:stCxn id="1411" idx="2"/>
              <a:endCxn id="1410" idx="0"/>
            </p:cNvCxnSpPr>
            <p:nvPr/>
          </p:nvCxnSpPr>
          <p:spPr>
            <a:xfrm>
              <a:off x="7385013" y="3630307"/>
              <a:ext cx="593700" cy="228600"/>
            </a:xfrm>
            <a:prstGeom prst="straightConnector1">
              <a:avLst/>
            </a:prstGeom>
            <a:noFill/>
            <a:ln cap="flat" cmpd="sng" w="19050">
              <a:solidFill>
                <a:srgbClr val="666666"/>
              </a:solidFill>
              <a:prstDash val="solid"/>
              <a:round/>
              <a:headEnd len="med" w="med" type="none"/>
              <a:tailEnd len="med" w="med" type="none"/>
            </a:ln>
          </p:spPr>
        </p:cxnSp>
      </p:grpSp>
      <p:grpSp>
        <p:nvGrpSpPr>
          <p:cNvPr id="1422" name="Google Shape;1422;p74"/>
          <p:cNvGrpSpPr/>
          <p:nvPr/>
        </p:nvGrpSpPr>
        <p:grpSpPr>
          <a:xfrm>
            <a:off x="3251014" y="3325385"/>
            <a:ext cx="2691904" cy="875330"/>
            <a:chOff x="3288639" y="3894110"/>
            <a:chExt cx="2691904" cy="875330"/>
          </a:xfrm>
        </p:grpSpPr>
        <p:sp>
          <p:nvSpPr>
            <p:cNvPr id="1423" name="Google Shape;1423;p74"/>
            <p:cNvSpPr/>
            <p:nvPr/>
          </p:nvSpPr>
          <p:spPr>
            <a:xfrm>
              <a:off x="4075438" y="3894110"/>
              <a:ext cx="12114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2  4  6</a:t>
              </a:r>
              <a:endParaRPr sz="1800"/>
            </a:p>
          </p:txBody>
        </p:sp>
        <p:sp>
          <p:nvSpPr>
            <p:cNvPr id="1424" name="Google Shape;1424;p74"/>
            <p:cNvSpPr/>
            <p:nvPr/>
          </p:nvSpPr>
          <p:spPr>
            <a:xfrm>
              <a:off x="3288639" y="4444535"/>
              <a:ext cx="4659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a:t>
              </a:r>
              <a:endParaRPr sz="1800"/>
            </a:p>
          </p:txBody>
        </p:sp>
        <p:sp>
          <p:nvSpPr>
            <p:cNvPr id="1425" name="Google Shape;1425;p74"/>
            <p:cNvSpPr/>
            <p:nvPr/>
          </p:nvSpPr>
          <p:spPr>
            <a:xfrm>
              <a:off x="4737556" y="4444535"/>
              <a:ext cx="5010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5</a:t>
              </a:r>
              <a:endParaRPr sz="1800"/>
            </a:p>
          </p:txBody>
        </p:sp>
        <p:cxnSp>
          <p:nvCxnSpPr>
            <p:cNvPr id="1426" name="Google Shape;1426;p74"/>
            <p:cNvCxnSpPr>
              <a:stCxn id="1424" idx="0"/>
            </p:cNvCxnSpPr>
            <p:nvPr/>
          </p:nvCxnSpPr>
          <p:spPr>
            <a:xfrm flipH="1" rot="10800000">
              <a:off x="3521589" y="4219535"/>
              <a:ext cx="793800" cy="225000"/>
            </a:xfrm>
            <a:prstGeom prst="straightConnector1">
              <a:avLst/>
            </a:prstGeom>
            <a:noFill/>
            <a:ln cap="flat" cmpd="sng" w="19050">
              <a:solidFill>
                <a:srgbClr val="666666"/>
              </a:solidFill>
              <a:prstDash val="solid"/>
              <a:round/>
              <a:headEnd len="med" w="med" type="none"/>
              <a:tailEnd len="med" w="med" type="none"/>
            </a:ln>
          </p:spPr>
        </p:cxnSp>
        <p:cxnSp>
          <p:nvCxnSpPr>
            <p:cNvPr id="1427" name="Google Shape;1427;p74"/>
            <p:cNvCxnSpPr>
              <a:stCxn id="1425" idx="0"/>
            </p:cNvCxnSpPr>
            <p:nvPr/>
          </p:nvCxnSpPr>
          <p:spPr>
            <a:xfrm rot="10800000">
              <a:off x="4801456" y="4219535"/>
              <a:ext cx="186600" cy="225000"/>
            </a:xfrm>
            <a:prstGeom prst="straightConnector1">
              <a:avLst/>
            </a:prstGeom>
            <a:noFill/>
            <a:ln cap="flat" cmpd="sng" w="19050">
              <a:solidFill>
                <a:srgbClr val="666666"/>
              </a:solidFill>
              <a:prstDash val="solid"/>
              <a:round/>
              <a:headEnd len="med" w="med" type="none"/>
              <a:tailEnd len="med" w="med" type="none"/>
            </a:ln>
          </p:spPr>
        </p:cxnSp>
        <p:sp>
          <p:nvSpPr>
            <p:cNvPr id="1428" name="Google Shape;1428;p74"/>
            <p:cNvSpPr/>
            <p:nvPr/>
          </p:nvSpPr>
          <p:spPr>
            <a:xfrm>
              <a:off x="3995555" y="4444539"/>
              <a:ext cx="5010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3</a:t>
              </a:r>
              <a:endParaRPr sz="1800"/>
            </a:p>
          </p:txBody>
        </p:sp>
        <p:cxnSp>
          <p:nvCxnSpPr>
            <p:cNvPr id="1429" name="Google Shape;1429;p74"/>
            <p:cNvCxnSpPr>
              <a:endCxn id="1428" idx="0"/>
            </p:cNvCxnSpPr>
            <p:nvPr/>
          </p:nvCxnSpPr>
          <p:spPr>
            <a:xfrm flipH="1">
              <a:off x="4246055" y="4219539"/>
              <a:ext cx="314700" cy="225000"/>
            </a:xfrm>
            <a:prstGeom prst="straightConnector1">
              <a:avLst/>
            </a:prstGeom>
            <a:noFill/>
            <a:ln cap="flat" cmpd="sng" w="19050">
              <a:solidFill>
                <a:srgbClr val="666666"/>
              </a:solidFill>
              <a:prstDash val="solid"/>
              <a:round/>
              <a:headEnd len="med" w="med" type="none"/>
              <a:tailEnd len="med" w="med" type="none"/>
            </a:ln>
          </p:spPr>
        </p:cxnSp>
        <p:sp>
          <p:nvSpPr>
            <p:cNvPr id="1430" name="Google Shape;1430;p74"/>
            <p:cNvSpPr/>
            <p:nvPr/>
          </p:nvSpPr>
          <p:spPr>
            <a:xfrm>
              <a:off x="5479543" y="4444535"/>
              <a:ext cx="5010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7</a:t>
              </a:r>
              <a:endParaRPr sz="1800"/>
            </a:p>
          </p:txBody>
        </p:sp>
        <p:cxnSp>
          <p:nvCxnSpPr>
            <p:cNvPr id="1431" name="Google Shape;1431;p74"/>
            <p:cNvCxnSpPr>
              <a:stCxn id="1430" idx="0"/>
            </p:cNvCxnSpPr>
            <p:nvPr/>
          </p:nvCxnSpPr>
          <p:spPr>
            <a:xfrm rot="10800000">
              <a:off x="5043643" y="4216235"/>
              <a:ext cx="686400" cy="228300"/>
            </a:xfrm>
            <a:prstGeom prst="straightConnector1">
              <a:avLst/>
            </a:prstGeom>
            <a:noFill/>
            <a:ln cap="flat" cmpd="sng" w="19050">
              <a:solidFill>
                <a:srgbClr val="666666"/>
              </a:solidFill>
              <a:prstDash val="solid"/>
              <a:round/>
              <a:headEnd len="med" w="med" type="none"/>
              <a:tailEnd len="med" w="med" type="none"/>
            </a:ln>
          </p:spPr>
        </p:cxnSp>
      </p:grpSp>
      <p:sp>
        <p:nvSpPr>
          <p:cNvPr id="1432" name="Google Shape;1432;p74"/>
          <p:cNvSpPr txBox="1"/>
          <p:nvPr/>
        </p:nvSpPr>
        <p:spPr>
          <a:xfrm>
            <a:off x="458625" y="4334750"/>
            <a:ext cx="2464200" cy="461700"/>
          </a:xfrm>
          <a:prstGeom prst="rect">
            <a:avLst/>
          </a:prstGeom>
          <a:noFill/>
          <a:ln>
            <a:noFill/>
          </a:ln>
        </p:spPr>
        <p:txBody>
          <a:bodyPr anchorCtr="0" anchor="t" bIns="91425" lIns="91425" spcFirstLastPara="1" rIns="91425" wrap="square" tIns="91425">
            <a:spAutoFit/>
          </a:bodyPr>
          <a:lstStyle/>
          <a:p>
            <a:pPr indent="0" lvl="0" marL="0" rtl="0" algn="ctr">
              <a:spcBef>
                <a:spcPts val="600"/>
              </a:spcBef>
              <a:spcAft>
                <a:spcPts val="0"/>
              </a:spcAft>
              <a:buNone/>
            </a:pPr>
            <a:r>
              <a:rPr lang="en" sz="1800">
                <a:solidFill>
                  <a:schemeClr val="dk1"/>
                </a:solidFill>
                <a:latin typeface="Roboto"/>
                <a:ea typeface="Roboto"/>
                <a:cs typeface="Roboto"/>
                <a:sym typeface="Roboto"/>
              </a:rPr>
              <a:t>Before split</a:t>
            </a:r>
            <a:endParaRPr/>
          </a:p>
        </p:txBody>
      </p:sp>
      <p:sp>
        <p:nvSpPr>
          <p:cNvPr id="1433" name="Google Shape;1433;p74"/>
          <p:cNvSpPr txBox="1"/>
          <p:nvPr/>
        </p:nvSpPr>
        <p:spPr>
          <a:xfrm>
            <a:off x="3251025" y="4334750"/>
            <a:ext cx="2679000" cy="461700"/>
          </a:xfrm>
          <a:prstGeom prst="rect">
            <a:avLst/>
          </a:prstGeom>
          <a:noFill/>
          <a:ln>
            <a:noFill/>
          </a:ln>
        </p:spPr>
        <p:txBody>
          <a:bodyPr anchorCtr="0" anchor="t" bIns="91425" lIns="91425" spcFirstLastPara="1" rIns="91425" wrap="square" tIns="91425">
            <a:spAutoFit/>
          </a:bodyPr>
          <a:lstStyle/>
          <a:p>
            <a:pPr indent="0" lvl="0" marL="0" rtl="0" algn="ctr">
              <a:spcBef>
                <a:spcPts val="600"/>
              </a:spcBef>
              <a:spcAft>
                <a:spcPts val="0"/>
              </a:spcAft>
              <a:buNone/>
            </a:pPr>
            <a:r>
              <a:rPr lang="en" sz="1800">
                <a:solidFill>
                  <a:schemeClr val="dk1"/>
                </a:solidFill>
                <a:latin typeface="Roboto"/>
                <a:ea typeface="Roboto"/>
                <a:cs typeface="Roboto"/>
                <a:sym typeface="Roboto"/>
              </a:rPr>
              <a:t>After one split</a:t>
            </a:r>
            <a:endParaRPr/>
          </a:p>
        </p:txBody>
      </p:sp>
      <p:sp>
        <p:nvSpPr>
          <p:cNvPr id="1434" name="Google Shape;1434;p74"/>
          <p:cNvSpPr txBox="1"/>
          <p:nvPr/>
        </p:nvSpPr>
        <p:spPr>
          <a:xfrm>
            <a:off x="6029200" y="4334750"/>
            <a:ext cx="2679000" cy="461700"/>
          </a:xfrm>
          <a:prstGeom prst="rect">
            <a:avLst/>
          </a:prstGeom>
          <a:noFill/>
          <a:ln>
            <a:noFill/>
          </a:ln>
        </p:spPr>
        <p:txBody>
          <a:bodyPr anchorCtr="0" anchor="t" bIns="91425" lIns="91425" spcFirstLastPara="1" rIns="91425" wrap="square" tIns="91425">
            <a:spAutoFit/>
          </a:bodyPr>
          <a:lstStyle/>
          <a:p>
            <a:pPr indent="0" lvl="0" marL="0" rtl="0" algn="ctr">
              <a:spcBef>
                <a:spcPts val="600"/>
              </a:spcBef>
              <a:spcAft>
                <a:spcPts val="0"/>
              </a:spcAft>
              <a:buNone/>
            </a:pPr>
            <a:r>
              <a:rPr lang="en" sz="1800">
                <a:solidFill>
                  <a:schemeClr val="dk1"/>
                </a:solidFill>
                <a:latin typeface="Roboto"/>
                <a:ea typeface="Roboto"/>
                <a:cs typeface="Roboto"/>
                <a:sym typeface="Roboto"/>
              </a:rPr>
              <a:t>After two splits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38" name="Shape 1438"/>
        <p:cNvGrpSpPr/>
        <p:nvPr/>
      </p:nvGrpSpPr>
      <p:grpSpPr>
        <a:xfrm>
          <a:off x="0" y="0"/>
          <a:ext cx="0" cy="0"/>
          <a:chOff x="0" y="0"/>
          <a:chExt cx="0" cy="0"/>
        </a:xfrm>
      </p:grpSpPr>
      <p:sp>
        <p:nvSpPr>
          <p:cNvPr id="1439" name="Google Shape;1439;p7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Exercise</a:t>
            </a:r>
            <a:endParaRPr/>
          </a:p>
        </p:txBody>
      </p:sp>
      <p:sp>
        <p:nvSpPr>
          <p:cNvPr id="1440" name="Google Shape;1440;p75"/>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a:t>
            </a:r>
            <a:r>
              <a:rPr lang="en"/>
              <a:t>dd the numbers 1, 2, 3, 4, 5, 6, then 7 (in that order) into a regular BST.</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Then try adding 1, 2, 3, 4, 5, 6, then 7 (in that order) into a 2-3 tree.</a:t>
            </a:r>
            <a:endParaRPr/>
          </a:p>
          <a:p>
            <a:pPr indent="-342900" lvl="0" marL="457200" rtl="0" algn="l">
              <a:spcBef>
                <a:spcPts val="600"/>
              </a:spcBef>
              <a:spcAft>
                <a:spcPts val="0"/>
              </a:spcAft>
              <a:buSzPts val="1800"/>
              <a:buChar char="●"/>
            </a:pPr>
            <a:r>
              <a:rPr lang="en"/>
              <a:t>Interactive demo: </a:t>
            </a:r>
            <a:r>
              <a:rPr lang="en" u="sng">
                <a:solidFill>
                  <a:schemeClr val="hlink"/>
                </a:solidFill>
                <a:hlinkClick r:id="rId3"/>
              </a:rPr>
              <a:t>https://tinyurl.com/balanceYD</a:t>
            </a:r>
            <a:r>
              <a:rPr lang="en"/>
              <a:t> or </a:t>
            </a:r>
            <a:r>
              <a:rPr lang="en" u="sng">
                <a:solidFill>
                  <a:schemeClr val="hlink"/>
                </a:solidFill>
                <a:hlinkClick r:id="rId4"/>
              </a:rPr>
              <a:t>this link</a:t>
            </a:r>
            <a:r>
              <a:rPr lang="en"/>
              <a:t>.</a:t>
            </a:r>
            <a:endParaRPr/>
          </a:p>
          <a:p>
            <a:pPr indent="-342900" lvl="0" marL="457200" rtl="0" algn="l">
              <a:spcBef>
                <a:spcPts val="600"/>
              </a:spcBef>
              <a:spcAft>
                <a:spcPts val="0"/>
              </a:spcAft>
              <a:buSzPts val="1800"/>
              <a:buChar char="●"/>
            </a:pPr>
            <a:r>
              <a:rPr lang="en"/>
              <a:t>In this demo </a:t>
            </a:r>
            <a:r>
              <a:rPr lang="en"/>
              <a:t>“max-degree” means the maximum number of children, i.e. 3.</a:t>
            </a:r>
            <a:endParaRPr/>
          </a:p>
          <a:p>
            <a:pPr indent="0" lvl="0" marL="0" rtl="0" algn="l">
              <a:spcBef>
                <a:spcPts val="600"/>
              </a:spcBef>
              <a:spcAft>
                <a:spcPts val="0"/>
              </a:spcAft>
              <a:buNone/>
            </a:pPr>
            <a:r>
              <a:t/>
            </a:r>
            <a:endParaRPr/>
          </a:p>
        </p:txBody>
      </p:sp>
      <p:sp>
        <p:nvSpPr>
          <p:cNvPr id="1441" name="Google Shape;1441;p75"/>
          <p:cNvSpPr/>
          <p:nvPr/>
        </p:nvSpPr>
        <p:spPr>
          <a:xfrm>
            <a:off x="2181813" y="934987"/>
            <a:ext cx="3666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a:t>
            </a:r>
            <a:endParaRPr sz="1800"/>
          </a:p>
        </p:txBody>
      </p:sp>
      <p:sp>
        <p:nvSpPr>
          <p:cNvPr id="1442" name="Google Shape;1442;p75"/>
          <p:cNvSpPr/>
          <p:nvPr/>
        </p:nvSpPr>
        <p:spPr>
          <a:xfrm>
            <a:off x="2623656" y="1097437"/>
            <a:ext cx="3666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a:t>
            </a:r>
            <a:endParaRPr sz="1800"/>
          </a:p>
        </p:txBody>
      </p:sp>
      <p:sp>
        <p:nvSpPr>
          <p:cNvPr id="1443" name="Google Shape;1443;p75"/>
          <p:cNvSpPr/>
          <p:nvPr/>
        </p:nvSpPr>
        <p:spPr>
          <a:xfrm>
            <a:off x="3065500" y="1259887"/>
            <a:ext cx="3666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3</a:t>
            </a:r>
            <a:endParaRPr sz="1800"/>
          </a:p>
        </p:txBody>
      </p:sp>
      <p:sp>
        <p:nvSpPr>
          <p:cNvPr id="1444" name="Google Shape;1444;p75"/>
          <p:cNvSpPr/>
          <p:nvPr/>
        </p:nvSpPr>
        <p:spPr>
          <a:xfrm>
            <a:off x="3507344" y="1422337"/>
            <a:ext cx="3666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4</a:t>
            </a:r>
            <a:endParaRPr sz="1800"/>
          </a:p>
        </p:txBody>
      </p:sp>
      <p:sp>
        <p:nvSpPr>
          <p:cNvPr id="1445" name="Google Shape;1445;p75"/>
          <p:cNvSpPr/>
          <p:nvPr/>
        </p:nvSpPr>
        <p:spPr>
          <a:xfrm>
            <a:off x="3949188" y="1584787"/>
            <a:ext cx="3666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5</a:t>
            </a:r>
            <a:endParaRPr sz="1800"/>
          </a:p>
        </p:txBody>
      </p:sp>
      <p:sp>
        <p:nvSpPr>
          <p:cNvPr id="1446" name="Google Shape;1446;p75"/>
          <p:cNvSpPr/>
          <p:nvPr/>
        </p:nvSpPr>
        <p:spPr>
          <a:xfrm>
            <a:off x="4391032" y="1747237"/>
            <a:ext cx="3666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6</a:t>
            </a:r>
            <a:endParaRPr sz="1800"/>
          </a:p>
        </p:txBody>
      </p:sp>
      <p:sp>
        <p:nvSpPr>
          <p:cNvPr id="1447" name="Google Shape;1447;p75"/>
          <p:cNvSpPr/>
          <p:nvPr/>
        </p:nvSpPr>
        <p:spPr>
          <a:xfrm>
            <a:off x="4832876" y="1909687"/>
            <a:ext cx="3666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7</a:t>
            </a:r>
            <a:endParaRPr sz="1800"/>
          </a:p>
        </p:txBody>
      </p:sp>
      <p:cxnSp>
        <p:nvCxnSpPr>
          <p:cNvPr id="1448" name="Google Shape;1448;p75"/>
          <p:cNvCxnSpPr>
            <a:endCxn id="1442" idx="1"/>
          </p:cNvCxnSpPr>
          <p:nvPr/>
        </p:nvCxnSpPr>
        <p:spPr>
          <a:xfrm>
            <a:off x="2548356" y="1097287"/>
            <a:ext cx="75300" cy="162600"/>
          </a:xfrm>
          <a:prstGeom prst="straightConnector1">
            <a:avLst/>
          </a:prstGeom>
          <a:noFill/>
          <a:ln cap="flat" cmpd="sng" w="19050">
            <a:solidFill>
              <a:schemeClr val="dk2"/>
            </a:solidFill>
            <a:prstDash val="solid"/>
            <a:round/>
            <a:headEnd len="med" w="med" type="none"/>
            <a:tailEnd len="med" w="med" type="none"/>
          </a:ln>
        </p:spPr>
      </p:cxnSp>
      <p:cxnSp>
        <p:nvCxnSpPr>
          <p:cNvPr id="1449" name="Google Shape;1449;p75"/>
          <p:cNvCxnSpPr>
            <a:stCxn id="1442" idx="3"/>
            <a:endCxn id="1443" idx="1"/>
          </p:cNvCxnSpPr>
          <p:nvPr/>
        </p:nvCxnSpPr>
        <p:spPr>
          <a:xfrm>
            <a:off x="2990256" y="1259887"/>
            <a:ext cx="75300" cy="162600"/>
          </a:xfrm>
          <a:prstGeom prst="straightConnector1">
            <a:avLst/>
          </a:prstGeom>
          <a:noFill/>
          <a:ln cap="flat" cmpd="sng" w="19050">
            <a:solidFill>
              <a:schemeClr val="dk2"/>
            </a:solidFill>
            <a:prstDash val="solid"/>
            <a:round/>
            <a:headEnd len="med" w="med" type="none"/>
            <a:tailEnd len="med" w="med" type="none"/>
          </a:ln>
        </p:spPr>
      </p:cxnSp>
      <p:cxnSp>
        <p:nvCxnSpPr>
          <p:cNvPr id="1450" name="Google Shape;1450;p75"/>
          <p:cNvCxnSpPr>
            <a:stCxn id="1443" idx="3"/>
            <a:endCxn id="1444" idx="1"/>
          </p:cNvCxnSpPr>
          <p:nvPr/>
        </p:nvCxnSpPr>
        <p:spPr>
          <a:xfrm>
            <a:off x="3432100" y="1422337"/>
            <a:ext cx="75300" cy="162600"/>
          </a:xfrm>
          <a:prstGeom prst="straightConnector1">
            <a:avLst/>
          </a:prstGeom>
          <a:noFill/>
          <a:ln cap="flat" cmpd="sng" w="19050">
            <a:solidFill>
              <a:schemeClr val="dk2"/>
            </a:solidFill>
            <a:prstDash val="solid"/>
            <a:round/>
            <a:headEnd len="med" w="med" type="none"/>
            <a:tailEnd len="med" w="med" type="none"/>
          </a:ln>
        </p:spPr>
      </p:cxnSp>
      <p:cxnSp>
        <p:nvCxnSpPr>
          <p:cNvPr id="1451" name="Google Shape;1451;p75"/>
          <p:cNvCxnSpPr>
            <a:stCxn id="1444" idx="3"/>
            <a:endCxn id="1445" idx="1"/>
          </p:cNvCxnSpPr>
          <p:nvPr/>
        </p:nvCxnSpPr>
        <p:spPr>
          <a:xfrm>
            <a:off x="3873944" y="1584787"/>
            <a:ext cx="75300" cy="162300"/>
          </a:xfrm>
          <a:prstGeom prst="straightConnector1">
            <a:avLst/>
          </a:prstGeom>
          <a:noFill/>
          <a:ln cap="flat" cmpd="sng" w="19050">
            <a:solidFill>
              <a:schemeClr val="dk2"/>
            </a:solidFill>
            <a:prstDash val="solid"/>
            <a:round/>
            <a:headEnd len="med" w="med" type="none"/>
            <a:tailEnd len="med" w="med" type="none"/>
          </a:ln>
        </p:spPr>
      </p:cxnSp>
      <p:cxnSp>
        <p:nvCxnSpPr>
          <p:cNvPr id="1452" name="Google Shape;1452;p75"/>
          <p:cNvCxnSpPr>
            <a:stCxn id="1445" idx="3"/>
            <a:endCxn id="1446" idx="1"/>
          </p:cNvCxnSpPr>
          <p:nvPr/>
        </p:nvCxnSpPr>
        <p:spPr>
          <a:xfrm>
            <a:off x="4315788" y="1747237"/>
            <a:ext cx="75300" cy="162600"/>
          </a:xfrm>
          <a:prstGeom prst="straightConnector1">
            <a:avLst/>
          </a:prstGeom>
          <a:noFill/>
          <a:ln cap="flat" cmpd="sng" w="19050">
            <a:solidFill>
              <a:schemeClr val="dk2"/>
            </a:solidFill>
            <a:prstDash val="solid"/>
            <a:round/>
            <a:headEnd len="med" w="med" type="none"/>
            <a:tailEnd len="med" w="med" type="none"/>
          </a:ln>
        </p:spPr>
      </p:cxnSp>
      <p:cxnSp>
        <p:nvCxnSpPr>
          <p:cNvPr id="1453" name="Google Shape;1453;p75"/>
          <p:cNvCxnSpPr>
            <a:stCxn id="1446" idx="3"/>
            <a:endCxn id="1447" idx="1"/>
          </p:cNvCxnSpPr>
          <p:nvPr/>
        </p:nvCxnSpPr>
        <p:spPr>
          <a:xfrm>
            <a:off x="4757632" y="1909687"/>
            <a:ext cx="75300" cy="162600"/>
          </a:xfrm>
          <a:prstGeom prst="straightConnector1">
            <a:avLst/>
          </a:prstGeom>
          <a:noFill/>
          <a:ln cap="flat" cmpd="sng" w="19050">
            <a:solidFill>
              <a:schemeClr val="dk2"/>
            </a:solidFill>
            <a:prstDash val="solid"/>
            <a:round/>
            <a:headEnd len="med" w="med" type="none"/>
            <a:tailEnd len="med" w="med" type="none"/>
          </a:ln>
        </p:spPr>
      </p:cxnSp>
      <p:sp>
        <p:nvSpPr>
          <p:cNvPr id="1454" name="Google Shape;1454;p75"/>
          <p:cNvSpPr/>
          <p:nvPr/>
        </p:nvSpPr>
        <p:spPr>
          <a:xfrm>
            <a:off x="3687400" y="4153882"/>
            <a:ext cx="40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a:t>
            </a:r>
            <a:endParaRPr sz="1800"/>
          </a:p>
        </p:txBody>
      </p:sp>
      <p:sp>
        <p:nvSpPr>
          <p:cNvPr id="1455" name="Google Shape;1455;p75"/>
          <p:cNvSpPr/>
          <p:nvPr/>
        </p:nvSpPr>
        <p:spPr>
          <a:xfrm>
            <a:off x="4874523" y="4153882"/>
            <a:ext cx="40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6</a:t>
            </a:r>
            <a:endParaRPr sz="1800"/>
          </a:p>
        </p:txBody>
      </p:sp>
      <p:sp>
        <p:nvSpPr>
          <p:cNvPr id="1456" name="Google Shape;1456;p75"/>
          <p:cNvSpPr/>
          <p:nvPr/>
        </p:nvSpPr>
        <p:spPr>
          <a:xfrm>
            <a:off x="4240300" y="3641257"/>
            <a:ext cx="40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4</a:t>
            </a:r>
            <a:endParaRPr sz="1800"/>
          </a:p>
        </p:txBody>
      </p:sp>
      <p:sp>
        <p:nvSpPr>
          <p:cNvPr id="1457" name="Google Shape;1457;p75"/>
          <p:cNvSpPr/>
          <p:nvPr/>
        </p:nvSpPr>
        <p:spPr>
          <a:xfrm>
            <a:off x="3367350" y="4666507"/>
            <a:ext cx="40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a:t>
            </a:r>
            <a:endParaRPr sz="1800"/>
          </a:p>
        </p:txBody>
      </p:sp>
      <p:sp>
        <p:nvSpPr>
          <p:cNvPr id="1458" name="Google Shape;1458;p75"/>
          <p:cNvSpPr/>
          <p:nvPr/>
        </p:nvSpPr>
        <p:spPr>
          <a:xfrm>
            <a:off x="4011250" y="4666507"/>
            <a:ext cx="40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3</a:t>
            </a:r>
            <a:endParaRPr sz="1800"/>
          </a:p>
        </p:txBody>
      </p:sp>
      <p:sp>
        <p:nvSpPr>
          <p:cNvPr id="1459" name="Google Shape;1459;p75"/>
          <p:cNvSpPr/>
          <p:nvPr/>
        </p:nvSpPr>
        <p:spPr>
          <a:xfrm>
            <a:off x="4594250" y="4666507"/>
            <a:ext cx="40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5</a:t>
            </a:r>
            <a:endParaRPr sz="1800"/>
          </a:p>
        </p:txBody>
      </p:sp>
      <p:sp>
        <p:nvSpPr>
          <p:cNvPr id="1460" name="Google Shape;1460;p75"/>
          <p:cNvSpPr/>
          <p:nvPr/>
        </p:nvSpPr>
        <p:spPr>
          <a:xfrm>
            <a:off x="5161950" y="4666507"/>
            <a:ext cx="40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7</a:t>
            </a:r>
            <a:endParaRPr sz="1800"/>
          </a:p>
        </p:txBody>
      </p:sp>
      <p:cxnSp>
        <p:nvCxnSpPr>
          <p:cNvPr id="1461" name="Google Shape;1461;p75"/>
          <p:cNvCxnSpPr>
            <a:stCxn id="1456" idx="2"/>
            <a:endCxn id="1454" idx="0"/>
          </p:cNvCxnSpPr>
          <p:nvPr/>
        </p:nvCxnSpPr>
        <p:spPr>
          <a:xfrm flipH="1">
            <a:off x="3887650" y="3966157"/>
            <a:ext cx="552900" cy="187800"/>
          </a:xfrm>
          <a:prstGeom prst="straightConnector1">
            <a:avLst/>
          </a:prstGeom>
          <a:noFill/>
          <a:ln cap="flat" cmpd="sng" w="19050">
            <a:solidFill>
              <a:srgbClr val="666666"/>
            </a:solidFill>
            <a:prstDash val="solid"/>
            <a:round/>
            <a:headEnd len="med" w="med" type="none"/>
            <a:tailEnd len="med" w="med" type="none"/>
          </a:ln>
        </p:spPr>
      </p:cxnSp>
      <p:cxnSp>
        <p:nvCxnSpPr>
          <p:cNvPr id="1462" name="Google Shape;1462;p75"/>
          <p:cNvCxnSpPr>
            <a:stCxn id="1454" idx="2"/>
            <a:endCxn id="1458" idx="0"/>
          </p:cNvCxnSpPr>
          <p:nvPr/>
        </p:nvCxnSpPr>
        <p:spPr>
          <a:xfrm>
            <a:off x="3887650" y="4478782"/>
            <a:ext cx="324000" cy="187800"/>
          </a:xfrm>
          <a:prstGeom prst="straightConnector1">
            <a:avLst/>
          </a:prstGeom>
          <a:noFill/>
          <a:ln cap="flat" cmpd="sng" w="19050">
            <a:solidFill>
              <a:srgbClr val="666666"/>
            </a:solidFill>
            <a:prstDash val="solid"/>
            <a:round/>
            <a:headEnd len="med" w="med" type="none"/>
            <a:tailEnd len="med" w="med" type="none"/>
          </a:ln>
        </p:spPr>
      </p:cxnSp>
      <p:cxnSp>
        <p:nvCxnSpPr>
          <p:cNvPr id="1463" name="Google Shape;1463;p75"/>
          <p:cNvCxnSpPr>
            <a:stCxn id="1454" idx="2"/>
            <a:endCxn id="1457" idx="0"/>
          </p:cNvCxnSpPr>
          <p:nvPr/>
        </p:nvCxnSpPr>
        <p:spPr>
          <a:xfrm flipH="1">
            <a:off x="3567550" y="4478782"/>
            <a:ext cx="320100" cy="187800"/>
          </a:xfrm>
          <a:prstGeom prst="straightConnector1">
            <a:avLst/>
          </a:prstGeom>
          <a:noFill/>
          <a:ln cap="flat" cmpd="sng" w="19050">
            <a:solidFill>
              <a:srgbClr val="666666"/>
            </a:solidFill>
            <a:prstDash val="solid"/>
            <a:round/>
            <a:headEnd len="med" w="med" type="none"/>
            <a:tailEnd len="med" w="med" type="none"/>
          </a:ln>
        </p:spPr>
      </p:cxnSp>
      <p:cxnSp>
        <p:nvCxnSpPr>
          <p:cNvPr id="1464" name="Google Shape;1464;p75"/>
          <p:cNvCxnSpPr>
            <a:stCxn id="1455" idx="2"/>
            <a:endCxn id="1459" idx="0"/>
          </p:cNvCxnSpPr>
          <p:nvPr/>
        </p:nvCxnSpPr>
        <p:spPr>
          <a:xfrm flipH="1">
            <a:off x="4794573" y="4478782"/>
            <a:ext cx="280200" cy="187800"/>
          </a:xfrm>
          <a:prstGeom prst="straightConnector1">
            <a:avLst/>
          </a:prstGeom>
          <a:noFill/>
          <a:ln cap="flat" cmpd="sng" w="19050">
            <a:solidFill>
              <a:srgbClr val="666666"/>
            </a:solidFill>
            <a:prstDash val="solid"/>
            <a:round/>
            <a:headEnd len="med" w="med" type="none"/>
            <a:tailEnd len="med" w="med" type="none"/>
          </a:ln>
        </p:spPr>
      </p:cxnSp>
      <p:cxnSp>
        <p:nvCxnSpPr>
          <p:cNvPr id="1465" name="Google Shape;1465;p75"/>
          <p:cNvCxnSpPr>
            <a:stCxn id="1455" idx="2"/>
            <a:endCxn id="1460" idx="0"/>
          </p:cNvCxnSpPr>
          <p:nvPr/>
        </p:nvCxnSpPr>
        <p:spPr>
          <a:xfrm>
            <a:off x="5074773" y="4478782"/>
            <a:ext cx="287400" cy="187800"/>
          </a:xfrm>
          <a:prstGeom prst="straightConnector1">
            <a:avLst/>
          </a:prstGeom>
          <a:noFill/>
          <a:ln cap="flat" cmpd="sng" w="19050">
            <a:solidFill>
              <a:srgbClr val="666666"/>
            </a:solidFill>
            <a:prstDash val="solid"/>
            <a:round/>
            <a:headEnd len="med" w="med" type="none"/>
            <a:tailEnd len="med" w="med" type="none"/>
          </a:ln>
        </p:spPr>
      </p:cxnSp>
      <p:cxnSp>
        <p:nvCxnSpPr>
          <p:cNvPr id="1466" name="Google Shape;1466;p75"/>
          <p:cNvCxnSpPr>
            <a:stCxn id="1456" idx="2"/>
            <a:endCxn id="1455" idx="0"/>
          </p:cNvCxnSpPr>
          <p:nvPr/>
        </p:nvCxnSpPr>
        <p:spPr>
          <a:xfrm>
            <a:off x="4440550" y="3966157"/>
            <a:ext cx="634200" cy="187800"/>
          </a:xfrm>
          <a:prstGeom prst="straightConnector1">
            <a:avLst/>
          </a:prstGeom>
          <a:noFill/>
          <a:ln cap="flat" cmpd="sng" w="19050">
            <a:solidFill>
              <a:srgbClr val="666666"/>
            </a:solidFill>
            <a:prstDash val="solid"/>
            <a:round/>
            <a:headEnd len="med" w="med" type="none"/>
            <a:tailEnd len="med" w="med" type="none"/>
          </a:ln>
        </p:spPr>
      </p:cxnSp>
      <p:sp>
        <p:nvSpPr>
          <p:cNvPr id="1467" name="Google Shape;1467;p75"/>
          <p:cNvSpPr txBox="1"/>
          <p:nvPr/>
        </p:nvSpPr>
        <p:spPr>
          <a:xfrm>
            <a:off x="6349050" y="4055625"/>
            <a:ext cx="2297100" cy="52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All leaves are at depth 2.</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1471" name="Shape 1471"/>
        <p:cNvGrpSpPr/>
        <p:nvPr/>
      </p:nvGrpSpPr>
      <p:grpSpPr>
        <a:xfrm>
          <a:off x="0" y="0"/>
          <a:ext cx="0" cy="0"/>
          <a:chOff x="0" y="0"/>
          <a:chExt cx="0" cy="0"/>
        </a:xfrm>
      </p:grpSpPr>
      <p:sp>
        <p:nvSpPr>
          <p:cNvPr id="1472" name="Google Shape;1472;p7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Exercise 2: </a:t>
            </a:r>
            <a:r>
              <a:rPr lang="en"/>
              <a:t>Recorded Video Viewers Only</a:t>
            </a:r>
            <a:endParaRPr/>
          </a:p>
        </p:txBody>
      </p:sp>
      <p:sp>
        <p:nvSpPr>
          <p:cNvPr id="1473" name="Google Shape;1473;p7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Find an order such that if you add the items 1, 2, 3, 4, 5, 6, and 7 in that order, the resulting 2-3 tree has height 1.</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77" name="Shape 1477"/>
        <p:cNvGrpSpPr/>
        <p:nvPr/>
      </p:nvGrpSpPr>
      <p:grpSpPr>
        <a:xfrm>
          <a:off x="0" y="0"/>
          <a:ext cx="0" cy="0"/>
          <a:chOff x="0" y="0"/>
          <a:chExt cx="0" cy="0"/>
        </a:xfrm>
      </p:grpSpPr>
      <p:sp>
        <p:nvSpPr>
          <p:cNvPr id="1478" name="Google Shape;1478;p7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Exercise 2</a:t>
            </a:r>
            <a:endParaRPr/>
          </a:p>
        </p:txBody>
      </p:sp>
      <p:sp>
        <p:nvSpPr>
          <p:cNvPr id="1479" name="Google Shape;1479;p77"/>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Find an order such that if you add the items 1, 2, 3, 4, 5, 6, and 7 in that order, the resulting 2-3 tree has height 1.</a:t>
            </a:r>
            <a:endParaRPr/>
          </a:p>
          <a:p>
            <a:pPr indent="-342900" lvl="0" marL="457200" rtl="0" algn="l">
              <a:spcBef>
                <a:spcPts val="600"/>
              </a:spcBef>
              <a:spcAft>
                <a:spcPts val="0"/>
              </a:spcAft>
              <a:buSzPts val="1800"/>
              <a:buChar char="●"/>
            </a:pPr>
            <a:r>
              <a:rPr lang="en"/>
              <a:t>One possible answer: 2, 3, 4, 5, 6, 1, 7</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N</a:t>
            </a:r>
            <a:r>
              <a:rPr lang="en"/>
              <a:t>ot sure why? Make sure to see </a:t>
            </a:r>
            <a:r>
              <a:rPr lang="en" u="sng">
                <a:solidFill>
                  <a:schemeClr val="hlink"/>
                </a:solidFill>
                <a:hlinkClick r:id="rId3"/>
              </a:rPr>
              <a:t>https://tinyurl.com/balanceYD</a:t>
            </a:r>
            <a:r>
              <a:rPr lang="en"/>
              <a:t>.</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No matter the insertion order you choose, resulting B-Tree is always bushy!</a:t>
            </a:r>
            <a:endParaRPr/>
          </a:p>
          <a:p>
            <a:pPr indent="-342900" lvl="0" marL="457200" rtl="0" algn="l">
              <a:spcBef>
                <a:spcPts val="600"/>
              </a:spcBef>
              <a:spcAft>
                <a:spcPts val="0"/>
              </a:spcAft>
              <a:buSzPts val="1800"/>
              <a:buChar char="●"/>
            </a:pPr>
            <a:r>
              <a:rPr lang="en"/>
              <a:t>May vary in height a little bit, but overall guaranteed to be bushy.</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
        <p:nvSpPr>
          <p:cNvPr id="1480" name="Google Shape;1480;p77"/>
          <p:cNvSpPr/>
          <p:nvPr/>
        </p:nvSpPr>
        <p:spPr>
          <a:xfrm>
            <a:off x="4285419" y="1889325"/>
            <a:ext cx="5742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3  5</a:t>
            </a:r>
            <a:endParaRPr sz="1800"/>
          </a:p>
        </p:txBody>
      </p:sp>
      <p:sp>
        <p:nvSpPr>
          <p:cNvPr id="1481" name="Google Shape;1481;p77"/>
          <p:cNvSpPr/>
          <p:nvPr/>
        </p:nvSpPr>
        <p:spPr>
          <a:xfrm>
            <a:off x="3441138" y="2517750"/>
            <a:ext cx="5742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1  2</a:t>
            </a:r>
            <a:endParaRPr sz="1800"/>
          </a:p>
        </p:txBody>
      </p:sp>
      <p:sp>
        <p:nvSpPr>
          <p:cNvPr id="1482" name="Google Shape;1482;p77"/>
          <p:cNvSpPr/>
          <p:nvPr/>
        </p:nvSpPr>
        <p:spPr>
          <a:xfrm>
            <a:off x="5128663" y="2517750"/>
            <a:ext cx="5742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6  7</a:t>
            </a:r>
            <a:endParaRPr sz="1800"/>
          </a:p>
        </p:txBody>
      </p:sp>
      <p:sp>
        <p:nvSpPr>
          <p:cNvPr id="1483" name="Google Shape;1483;p77"/>
          <p:cNvSpPr/>
          <p:nvPr/>
        </p:nvSpPr>
        <p:spPr>
          <a:xfrm>
            <a:off x="4285419" y="2517750"/>
            <a:ext cx="5742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4</a:t>
            </a:r>
            <a:endParaRPr sz="1800"/>
          </a:p>
        </p:txBody>
      </p:sp>
      <p:cxnSp>
        <p:nvCxnSpPr>
          <p:cNvPr id="1484" name="Google Shape;1484;p77"/>
          <p:cNvCxnSpPr>
            <a:stCxn id="1480" idx="2"/>
            <a:endCxn id="1481" idx="0"/>
          </p:cNvCxnSpPr>
          <p:nvPr/>
        </p:nvCxnSpPr>
        <p:spPr>
          <a:xfrm flipH="1">
            <a:off x="3728319" y="2214225"/>
            <a:ext cx="844200" cy="303600"/>
          </a:xfrm>
          <a:prstGeom prst="straightConnector1">
            <a:avLst/>
          </a:prstGeom>
          <a:noFill/>
          <a:ln cap="flat" cmpd="sng" w="19050">
            <a:solidFill>
              <a:srgbClr val="666666"/>
            </a:solidFill>
            <a:prstDash val="solid"/>
            <a:round/>
            <a:headEnd len="med" w="med" type="none"/>
            <a:tailEnd len="med" w="med" type="none"/>
          </a:ln>
        </p:spPr>
      </p:cxnSp>
      <p:cxnSp>
        <p:nvCxnSpPr>
          <p:cNvPr id="1485" name="Google Shape;1485;p77"/>
          <p:cNvCxnSpPr>
            <a:stCxn id="1480" idx="2"/>
            <a:endCxn id="1483" idx="0"/>
          </p:cNvCxnSpPr>
          <p:nvPr/>
        </p:nvCxnSpPr>
        <p:spPr>
          <a:xfrm>
            <a:off x="4572519" y="2214225"/>
            <a:ext cx="0" cy="303600"/>
          </a:xfrm>
          <a:prstGeom prst="straightConnector1">
            <a:avLst/>
          </a:prstGeom>
          <a:noFill/>
          <a:ln cap="flat" cmpd="sng" w="19050">
            <a:solidFill>
              <a:srgbClr val="666666"/>
            </a:solidFill>
            <a:prstDash val="solid"/>
            <a:round/>
            <a:headEnd len="med" w="med" type="none"/>
            <a:tailEnd len="med" w="med" type="none"/>
          </a:ln>
        </p:spPr>
      </p:cxnSp>
      <p:cxnSp>
        <p:nvCxnSpPr>
          <p:cNvPr id="1486" name="Google Shape;1486;p77"/>
          <p:cNvCxnSpPr>
            <a:stCxn id="1480" idx="2"/>
            <a:endCxn id="1482" idx="0"/>
          </p:cNvCxnSpPr>
          <p:nvPr/>
        </p:nvCxnSpPr>
        <p:spPr>
          <a:xfrm>
            <a:off x="4572519" y="2214225"/>
            <a:ext cx="843300" cy="303600"/>
          </a:xfrm>
          <a:prstGeom prst="straightConnector1">
            <a:avLst/>
          </a:prstGeom>
          <a:noFill/>
          <a:ln cap="flat" cmpd="sng" w="19050">
            <a:solidFill>
              <a:srgbClr val="666666"/>
            </a:solidFill>
            <a:prstDash val="solid"/>
            <a:round/>
            <a:headEnd len="med" w="med" type="none"/>
            <a:tailEnd len="med" w="med" type="none"/>
          </a:ln>
        </p:spPr>
      </p:cxnSp>
      <p:sp>
        <p:nvSpPr>
          <p:cNvPr id="1487" name="Google Shape;1487;p77"/>
          <p:cNvSpPr txBox="1"/>
          <p:nvPr/>
        </p:nvSpPr>
        <p:spPr>
          <a:xfrm>
            <a:off x="6516900" y="2419500"/>
            <a:ext cx="2297100" cy="52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All leaves are at depth 1.</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1" name="Shape 1491"/>
        <p:cNvGrpSpPr/>
        <p:nvPr/>
      </p:nvGrpSpPr>
      <p:grpSpPr>
        <a:xfrm>
          <a:off x="0" y="0"/>
          <a:ext cx="0" cy="0"/>
          <a:chOff x="0" y="0"/>
          <a:chExt cx="0" cy="0"/>
        </a:xfrm>
      </p:grpSpPr>
      <p:sp>
        <p:nvSpPr>
          <p:cNvPr id="1492" name="Google Shape;1492;p7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B-Tree Invariants</a:t>
            </a:r>
            <a:endParaRPr/>
          </a:p>
        </p:txBody>
      </p:sp>
      <p:sp>
        <p:nvSpPr>
          <p:cNvPr id="1493" name="Google Shape;1493;p78"/>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Because of the way B-Trees are constructed, we get two nice invariants:</a:t>
            </a:r>
            <a:endParaRPr/>
          </a:p>
          <a:p>
            <a:pPr indent="-342900" lvl="0" marL="457200" rtl="0" algn="l">
              <a:spcBef>
                <a:spcPts val="600"/>
              </a:spcBef>
              <a:spcAft>
                <a:spcPts val="0"/>
              </a:spcAft>
              <a:buSzPts val="1800"/>
              <a:buChar char="●"/>
            </a:pPr>
            <a:r>
              <a:rPr lang="en"/>
              <a:t>All leaves must be the same distance from the root.</a:t>
            </a:r>
            <a:endParaRPr/>
          </a:p>
          <a:p>
            <a:pPr indent="-342900" lvl="0" marL="457200" rtl="0" algn="l">
              <a:spcBef>
                <a:spcPts val="600"/>
              </a:spcBef>
              <a:spcAft>
                <a:spcPts val="0"/>
              </a:spcAft>
              <a:buSzPts val="1800"/>
              <a:buChar char="●"/>
            </a:pPr>
            <a:r>
              <a:rPr lang="en"/>
              <a:t>A non-leaf node with k items must have exactly k+1 children.</a:t>
            </a:r>
            <a:endParaRPr/>
          </a:p>
          <a:p>
            <a:pPr indent="-342900" lvl="0" marL="457200" rtl="0" algn="l">
              <a:spcBef>
                <a:spcPts val="600"/>
              </a:spcBef>
              <a:spcAft>
                <a:spcPts val="0"/>
              </a:spcAft>
              <a:buSzPts val="1800"/>
              <a:buChar char="●"/>
            </a:pPr>
            <a:r>
              <a:rPr lang="en"/>
              <a:t>Example: The tree given below is impossible.</a:t>
            </a:r>
            <a:endParaRPr/>
          </a:p>
          <a:p>
            <a:pPr indent="-342900" lvl="1" marL="914400" rtl="0" algn="l">
              <a:spcBef>
                <a:spcPts val="600"/>
              </a:spcBef>
              <a:spcAft>
                <a:spcPts val="0"/>
              </a:spcAft>
              <a:buSzPts val="1800"/>
              <a:buChar char="○"/>
            </a:pPr>
            <a:r>
              <a:rPr lang="en"/>
              <a:t>Leaves ([1] and [5 6 7]) are a different distance from the source.</a:t>
            </a:r>
            <a:endParaRPr/>
          </a:p>
          <a:p>
            <a:pPr indent="-342900" lvl="1" marL="914400" rtl="0" algn="l">
              <a:spcBef>
                <a:spcPts val="600"/>
              </a:spcBef>
              <a:spcAft>
                <a:spcPts val="0"/>
              </a:spcAft>
              <a:buSzPts val="1800"/>
              <a:buChar char="○"/>
            </a:pPr>
            <a:r>
              <a:rPr lang="en"/>
              <a:t>Non-leaf node [2 3] has two items but only only one child. Should have three children.</a:t>
            </a:r>
            <a:endParaRPr/>
          </a:p>
        </p:txBody>
      </p:sp>
      <p:sp>
        <p:nvSpPr>
          <p:cNvPr id="1494" name="Google Shape;1494;p78"/>
          <p:cNvSpPr/>
          <p:nvPr/>
        </p:nvSpPr>
        <p:spPr>
          <a:xfrm>
            <a:off x="3625750" y="3507625"/>
            <a:ext cx="6231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2 3</a:t>
            </a:r>
            <a:endParaRPr sz="1800"/>
          </a:p>
        </p:txBody>
      </p:sp>
      <p:sp>
        <p:nvSpPr>
          <p:cNvPr id="1495" name="Google Shape;1495;p78"/>
          <p:cNvSpPr/>
          <p:nvPr/>
        </p:nvSpPr>
        <p:spPr>
          <a:xfrm>
            <a:off x="4833375" y="3507625"/>
            <a:ext cx="9063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5  6  7</a:t>
            </a:r>
            <a:endParaRPr sz="1800"/>
          </a:p>
        </p:txBody>
      </p:sp>
      <p:sp>
        <p:nvSpPr>
          <p:cNvPr id="1496" name="Google Shape;1496;p78"/>
          <p:cNvSpPr/>
          <p:nvPr/>
        </p:nvSpPr>
        <p:spPr>
          <a:xfrm>
            <a:off x="4326175" y="2995007"/>
            <a:ext cx="40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4</a:t>
            </a:r>
            <a:endParaRPr sz="1800"/>
          </a:p>
        </p:txBody>
      </p:sp>
      <p:sp>
        <p:nvSpPr>
          <p:cNvPr id="1497" name="Google Shape;1497;p78"/>
          <p:cNvSpPr/>
          <p:nvPr/>
        </p:nvSpPr>
        <p:spPr>
          <a:xfrm>
            <a:off x="3453225" y="4020257"/>
            <a:ext cx="40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1</a:t>
            </a:r>
            <a:endParaRPr sz="1800"/>
          </a:p>
        </p:txBody>
      </p:sp>
      <p:cxnSp>
        <p:nvCxnSpPr>
          <p:cNvPr id="1498" name="Google Shape;1498;p78"/>
          <p:cNvCxnSpPr>
            <a:stCxn id="1496" idx="2"/>
            <a:endCxn id="1494" idx="0"/>
          </p:cNvCxnSpPr>
          <p:nvPr/>
        </p:nvCxnSpPr>
        <p:spPr>
          <a:xfrm flipH="1">
            <a:off x="3937225" y="3319907"/>
            <a:ext cx="589200" cy="187800"/>
          </a:xfrm>
          <a:prstGeom prst="straightConnector1">
            <a:avLst/>
          </a:prstGeom>
          <a:noFill/>
          <a:ln cap="flat" cmpd="sng" w="19050">
            <a:solidFill>
              <a:srgbClr val="666666"/>
            </a:solidFill>
            <a:prstDash val="solid"/>
            <a:round/>
            <a:headEnd len="med" w="med" type="none"/>
            <a:tailEnd len="med" w="med" type="none"/>
          </a:ln>
        </p:spPr>
      </p:cxnSp>
      <p:cxnSp>
        <p:nvCxnSpPr>
          <p:cNvPr id="1499" name="Google Shape;1499;p78"/>
          <p:cNvCxnSpPr>
            <a:stCxn id="1494" idx="2"/>
            <a:endCxn id="1497" idx="0"/>
          </p:cNvCxnSpPr>
          <p:nvPr/>
        </p:nvCxnSpPr>
        <p:spPr>
          <a:xfrm flipH="1">
            <a:off x="3653500" y="3832525"/>
            <a:ext cx="283800" cy="187800"/>
          </a:xfrm>
          <a:prstGeom prst="straightConnector1">
            <a:avLst/>
          </a:prstGeom>
          <a:noFill/>
          <a:ln cap="flat" cmpd="sng" w="19050">
            <a:solidFill>
              <a:srgbClr val="666666"/>
            </a:solidFill>
            <a:prstDash val="solid"/>
            <a:round/>
            <a:headEnd len="med" w="med" type="none"/>
            <a:tailEnd len="med" w="med" type="none"/>
          </a:ln>
        </p:spPr>
      </p:cxnSp>
      <p:cxnSp>
        <p:nvCxnSpPr>
          <p:cNvPr id="1500" name="Google Shape;1500;p78"/>
          <p:cNvCxnSpPr>
            <a:stCxn id="1496" idx="2"/>
            <a:endCxn id="1495" idx="0"/>
          </p:cNvCxnSpPr>
          <p:nvPr/>
        </p:nvCxnSpPr>
        <p:spPr>
          <a:xfrm>
            <a:off x="4526425" y="3319907"/>
            <a:ext cx="760200" cy="187800"/>
          </a:xfrm>
          <a:prstGeom prst="straightConnector1">
            <a:avLst/>
          </a:prstGeom>
          <a:noFill/>
          <a:ln cap="flat" cmpd="sng" w="19050">
            <a:solidFill>
              <a:srgbClr val="666666"/>
            </a:solidFill>
            <a:prstDash val="solid"/>
            <a:round/>
            <a:headEnd len="med" w="med" type="none"/>
            <a:tailEnd len="med" w="med" type="none"/>
          </a:ln>
        </p:spPr>
      </p:cxnSp>
      <p:sp>
        <p:nvSpPr>
          <p:cNvPr id="1501" name="Google Shape;1501;p78"/>
          <p:cNvSpPr txBox="1"/>
          <p:nvPr>
            <p:ph idx="1" type="body"/>
          </p:nvPr>
        </p:nvSpPr>
        <p:spPr>
          <a:xfrm>
            <a:off x="271425" y="4434100"/>
            <a:ext cx="8715600" cy="495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We have not proven these invariants rigorously, but try thinking them through.</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05" name="Shape 1505"/>
        <p:cNvGrpSpPr/>
        <p:nvPr/>
      </p:nvGrpSpPr>
      <p:grpSpPr>
        <a:xfrm>
          <a:off x="0" y="0"/>
          <a:ext cx="0" cy="0"/>
          <a:chOff x="0" y="0"/>
          <a:chExt cx="0" cy="0"/>
        </a:xfrm>
      </p:grpSpPr>
      <p:sp>
        <p:nvSpPr>
          <p:cNvPr id="1506" name="Google Shape;1506;p7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B-Tree Invariants</a:t>
            </a:r>
            <a:endParaRPr/>
          </a:p>
        </p:txBody>
      </p:sp>
      <p:sp>
        <p:nvSpPr>
          <p:cNvPr id="1507" name="Google Shape;1507;p79"/>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Because of the way B-Trees are constructed, we get two nice invariants:</a:t>
            </a:r>
            <a:endParaRPr/>
          </a:p>
          <a:p>
            <a:pPr indent="-342900" lvl="0" marL="457200" rtl="0" algn="l">
              <a:spcBef>
                <a:spcPts val="600"/>
              </a:spcBef>
              <a:spcAft>
                <a:spcPts val="0"/>
              </a:spcAft>
              <a:buSzPts val="1800"/>
              <a:buChar char="●"/>
            </a:pPr>
            <a:r>
              <a:rPr lang="en"/>
              <a:t>All leaves must be the same distance from the root.</a:t>
            </a:r>
            <a:endParaRPr/>
          </a:p>
          <a:p>
            <a:pPr indent="-342900" lvl="0" marL="457200" rtl="0" algn="l">
              <a:spcBef>
                <a:spcPts val="600"/>
              </a:spcBef>
              <a:spcAft>
                <a:spcPts val="0"/>
              </a:spcAft>
              <a:buSzPts val="1800"/>
              <a:buChar char="●"/>
            </a:pPr>
            <a:r>
              <a:rPr lang="en"/>
              <a:t>A non-leaf node with k items must have exactly k+1 children.</a:t>
            </a:r>
            <a:endParaRPr/>
          </a:p>
          <a:p>
            <a:pPr indent="0" lvl="0" marL="0" marR="0" rtl="0" algn="l">
              <a:lnSpc>
                <a:spcPct val="100000"/>
              </a:lnSpc>
              <a:spcBef>
                <a:spcPts val="600"/>
              </a:spcBef>
              <a:spcAft>
                <a:spcPts val="0"/>
              </a:spcAft>
              <a:buNone/>
            </a:pPr>
            <a:r>
              <a:t/>
            </a:r>
            <a:endParaRPr/>
          </a:p>
          <a:p>
            <a:pPr indent="0" lvl="0" marL="0" marR="0" rtl="0" algn="l">
              <a:lnSpc>
                <a:spcPct val="100000"/>
              </a:lnSpc>
              <a:spcBef>
                <a:spcPts val="600"/>
              </a:spcBef>
              <a:spcAft>
                <a:spcPts val="0"/>
              </a:spcAft>
              <a:buNone/>
            </a:pPr>
            <a:r>
              <a:rPr lang="en"/>
              <a:t>These invariants guarantee that our trees will be bushy.</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1" name="Shape 1511"/>
        <p:cNvGrpSpPr/>
        <p:nvPr/>
      </p:nvGrpSpPr>
      <p:grpSpPr>
        <a:xfrm>
          <a:off x="0" y="0"/>
          <a:ext cx="0" cy="0"/>
          <a:chOff x="0" y="0"/>
          <a:chExt cx="0" cy="0"/>
        </a:xfrm>
      </p:grpSpPr>
      <p:sp>
        <p:nvSpPr>
          <p:cNvPr id="1512" name="Google Shape;1512;p80"/>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Binary Search Trees</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BST Height, Big O vs. Worst Case Big Theta</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Worst Case Performance</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B-Trees</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Splitting Juicy Nodes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Chain Reaction Splitting</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B-Tree Terminology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Invariants</a:t>
            </a:r>
            <a:endParaRPr>
              <a:solidFill>
                <a:srgbClr val="B7B7B7"/>
              </a:solidFill>
            </a:endParaRPr>
          </a:p>
          <a:p>
            <a:pPr indent="-342900" lvl="0" marL="457200" rtl="0" algn="l">
              <a:spcBef>
                <a:spcPts val="0"/>
              </a:spcBef>
              <a:spcAft>
                <a:spcPts val="0"/>
              </a:spcAft>
              <a:buClr>
                <a:schemeClr val="accent3"/>
              </a:buClr>
              <a:buSzPts val="1800"/>
              <a:buChar char="•"/>
            </a:pPr>
            <a:r>
              <a:rPr b="1" lang="en">
                <a:solidFill>
                  <a:schemeClr val="accent3"/>
                </a:solidFill>
                <a:latin typeface="Roboto"/>
                <a:ea typeface="Roboto"/>
                <a:cs typeface="Roboto"/>
                <a:sym typeface="Roboto"/>
              </a:rPr>
              <a:t>Worst Case Performance</a:t>
            </a:r>
            <a:endParaRPr>
              <a:solidFill>
                <a:srgbClr val="B7B7B7"/>
              </a:solidFill>
            </a:endParaRPr>
          </a:p>
        </p:txBody>
      </p:sp>
      <p:sp>
        <p:nvSpPr>
          <p:cNvPr id="1513" name="Google Shape;1513;p80"/>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Worst Case Performance</a:t>
            </a:r>
            <a:endParaRPr/>
          </a:p>
        </p:txBody>
      </p:sp>
      <p:sp>
        <p:nvSpPr>
          <p:cNvPr id="1514" name="Google Shape;1514;p80"/>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17, CS61B, Fall 2023</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18" name="Shape 1518"/>
        <p:cNvGrpSpPr/>
        <p:nvPr/>
      </p:nvGrpSpPr>
      <p:grpSpPr>
        <a:xfrm>
          <a:off x="0" y="0"/>
          <a:ext cx="0" cy="0"/>
          <a:chOff x="0" y="0"/>
          <a:chExt cx="0" cy="0"/>
        </a:xfrm>
      </p:grpSpPr>
      <p:sp>
        <p:nvSpPr>
          <p:cNvPr id="1519" name="Google Shape;1519;p8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Height of a B-Tree with Limit L</a:t>
            </a:r>
            <a:endParaRPr/>
          </a:p>
        </p:txBody>
      </p:sp>
      <p:sp>
        <p:nvSpPr>
          <p:cNvPr id="1520" name="Google Shape;1520;p81"/>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L: Max number of items per node.</a:t>
            </a:r>
            <a:endParaRPr/>
          </a:p>
          <a:p>
            <a:pPr indent="0" lvl="0" marL="0" rtl="0" algn="l">
              <a:spcBef>
                <a:spcPts val="600"/>
              </a:spcBef>
              <a:spcAft>
                <a:spcPts val="0"/>
              </a:spcAft>
              <a:buNone/>
            </a:pPr>
            <a:r>
              <a:rPr lang="en"/>
              <a:t>Height: Between ~log</a:t>
            </a:r>
            <a:r>
              <a:rPr baseline="-25000" lang="en"/>
              <a:t>L+1</a:t>
            </a:r>
            <a:r>
              <a:rPr lang="en"/>
              <a:t>(N) and ~log</a:t>
            </a:r>
            <a:r>
              <a:rPr baseline="-25000" lang="en"/>
              <a:t>2</a:t>
            </a:r>
            <a:r>
              <a:rPr lang="en"/>
              <a:t>(N)</a:t>
            </a:r>
            <a:endParaRPr/>
          </a:p>
          <a:p>
            <a:pPr indent="-342900" lvl="0" marL="457200" rtl="0" algn="l">
              <a:spcBef>
                <a:spcPts val="600"/>
              </a:spcBef>
              <a:spcAft>
                <a:spcPts val="0"/>
              </a:spcAft>
              <a:buSzPts val="1800"/>
              <a:buChar char="●"/>
            </a:pPr>
            <a:r>
              <a:rPr lang="en"/>
              <a:t>Largest possible height is all non-leaf nodes have 1 item.</a:t>
            </a:r>
            <a:endParaRPr/>
          </a:p>
          <a:p>
            <a:pPr indent="-342900" lvl="0" marL="457200" rtl="0" algn="l">
              <a:spcBef>
                <a:spcPts val="600"/>
              </a:spcBef>
              <a:spcAft>
                <a:spcPts val="0"/>
              </a:spcAft>
              <a:buSzPts val="1800"/>
              <a:buChar char="●"/>
            </a:pPr>
            <a:r>
              <a:rPr lang="en"/>
              <a:t>Smallest possible height is all nodes have L items.</a:t>
            </a:r>
            <a:endParaRPr/>
          </a:p>
          <a:p>
            <a:pPr indent="-342900" lvl="0" marL="457200" rtl="0" algn="l">
              <a:spcBef>
                <a:spcPts val="600"/>
              </a:spcBef>
              <a:spcAft>
                <a:spcPts val="0"/>
              </a:spcAft>
              <a:buSzPts val="1800"/>
              <a:buChar char="●"/>
            </a:pPr>
            <a:r>
              <a:rPr lang="en"/>
              <a:t>Overall height is therefore Θ(log N). </a:t>
            </a:r>
            <a:endParaRPr/>
          </a:p>
        </p:txBody>
      </p:sp>
      <p:sp>
        <p:nvSpPr>
          <p:cNvPr id="1521" name="Google Shape;1521;p81"/>
          <p:cNvSpPr txBox="1"/>
          <p:nvPr/>
        </p:nvSpPr>
        <p:spPr>
          <a:xfrm>
            <a:off x="865800" y="4292600"/>
            <a:ext cx="1758000" cy="73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N: 26 items</a:t>
            </a:r>
            <a:endParaRPr/>
          </a:p>
          <a:p>
            <a:pPr indent="0" lvl="0" marL="0" rtl="0" algn="l">
              <a:spcBef>
                <a:spcPts val="0"/>
              </a:spcBef>
              <a:spcAft>
                <a:spcPts val="0"/>
              </a:spcAft>
              <a:buNone/>
            </a:pPr>
            <a:r>
              <a:rPr lang="en"/>
              <a:t>L: 2 max per node</a:t>
            </a:r>
            <a:endParaRPr/>
          </a:p>
          <a:p>
            <a:pPr indent="0" lvl="0" marL="0" rtl="0" algn="l">
              <a:spcBef>
                <a:spcPts val="0"/>
              </a:spcBef>
              <a:spcAft>
                <a:spcPts val="0"/>
              </a:spcAft>
              <a:buNone/>
            </a:pPr>
            <a:r>
              <a:rPr lang="en"/>
              <a:t>H: 2</a:t>
            </a:r>
            <a:endParaRPr/>
          </a:p>
        </p:txBody>
      </p:sp>
      <p:sp>
        <p:nvSpPr>
          <p:cNvPr id="1522" name="Google Shape;1522;p81"/>
          <p:cNvSpPr txBox="1"/>
          <p:nvPr/>
        </p:nvSpPr>
        <p:spPr>
          <a:xfrm>
            <a:off x="3056825" y="4539975"/>
            <a:ext cx="2253000" cy="4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Height grows with log</a:t>
            </a:r>
            <a:r>
              <a:rPr baseline="-25000" lang="en"/>
              <a:t>3</a:t>
            </a:r>
            <a:r>
              <a:rPr lang="en"/>
              <a:t>(N)</a:t>
            </a:r>
            <a:endParaRPr/>
          </a:p>
        </p:txBody>
      </p:sp>
      <p:sp>
        <p:nvSpPr>
          <p:cNvPr id="1523" name="Google Shape;1523;p81"/>
          <p:cNvSpPr/>
          <p:nvPr/>
        </p:nvSpPr>
        <p:spPr>
          <a:xfrm>
            <a:off x="7166750" y="1272532"/>
            <a:ext cx="40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t>*</a:t>
            </a:r>
            <a:endParaRPr b="1" sz="1800"/>
          </a:p>
        </p:txBody>
      </p:sp>
      <p:sp>
        <p:nvSpPr>
          <p:cNvPr id="1524" name="Google Shape;1524;p81"/>
          <p:cNvSpPr/>
          <p:nvPr/>
        </p:nvSpPr>
        <p:spPr>
          <a:xfrm>
            <a:off x="8353873" y="1272532"/>
            <a:ext cx="40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t>*</a:t>
            </a:r>
            <a:endParaRPr b="1" sz="1800"/>
          </a:p>
        </p:txBody>
      </p:sp>
      <p:sp>
        <p:nvSpPr>
          <p:cNvPr id="1525" name="Google Shape;1525;p81"/>
          <p:cNvSpPr/>
          <p:nvPr/>
        </p:nvSpPr>
        <p:spPr>
          <a:xfrm>
            <a:off x="7719650" y="759907"/>
            <a:ext cx="40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t>*</a:t>
            </a:r>
            <a:endParaRPr b="1" sz="1800"/>
          </a:p>
        </p:txBody>
      </p:sp>
      <p:sp>
        <p:nvSpPr>
          <p:cNvPr id="1526" name="Google Shape;1526;p81"/>
          <p:cNvSpPr/>
          <p:nvPr/>
        </p:nvSpPr>
        <p:spPr>
          <a:xfrm>
            <a:off x="6754800" y="1785150"/>
            <a:ext cx="4923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t>* *</a:t>
            </a:r>
            <a:endParaRPr b="1" sz="1800"/>
          </a:p>
        </p:txBody>
      </p:sp>
      <p:sp>
        <p:nvSpPr>
          <p:cNvPr id="1527" name="Google Shape;1527;p81"/>
          <p:cNvSpPr/>
          <p:nvPr/>
        </p:nvSpPr>
        <p:spPr>
          <a:xfrm>
            <a:off x="7490600" y="1785157"/>
            <a:ext cx="40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t>*</a:t>
            </a:r>
            <a:endParaRPr b="1" sz="1800"/>
          </a:p>
        </p:txBody>
      </p:sp>
      <p:sp>
        <p:nvSpPr>
          <p:cNvPr id="1528" name="Google Shape;1528;p81"/>
          <p:cNvSpPr/>
          <p:nvPr/>
        </p:nvSpPr>
        <p:spPr>
          <a:xfrm>
            <a:off x="8073600" y="1785157"/>
            <a:ext cx="40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t>*</a:t>
            </a:r>
            <a:endParaRPr b="1" sz="1800"/>
          </a:p>
        </p:txBody>
      </p:sp>
      <p:sp>
        <p:nvSpPr>
          <p:cNvPr id="1529" name="Google Shape;1529;p81"/>
          <p:cNvSpPr/>
          <p:nvPr/>
        </p:nvSpPr>
        <p:spPr>
          <a:xfrm>
            <a:off x="8641300" y="1785157"/>
            <a:ext cx="4005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t>*</a:t>
            </a:r>
            <a:endParaRPr b="1" sz="1800"/>
          </a:p>
        </p:txBody>
      </p:sp>
      <p:cxnSp>
        <p:nvCxnSpPr>
          <p:cNvPr id="1530" name="Google Shape;1530;p81"/>
          <p:cNvCxnSpPr>
            <a:stCxn id="1525" idx="2"/>
            <a:endCxn id="1523" idx="0"/>
          </p:cNvCxnSpPr>
          <p:nvPr/>
        </p:nvCxnSpPr>
        <p:spPr>
          <a:xfrm flipH="1">
            <a:off x="7367000" y="1084807"/>
            <a:ext cx="552900" cy="187800"/>
          </a:xfrm>
          <a:prstGeom prst="straightConnector1">
            <a:avLst/>
          </a:prstGeom>
          <a:noFill/>
          <a:ln cap="flat" cmpd="sng" w="19050">
            <a:solidFill>
              <a:srgbClr val="666666"/>
            </a:solidFill>
            <a:prstDash val="solid"/>
            <a:round/>
            <a:headEnd len="med" w="med" type="none"/>
            <a:tailEnd len="med" w="med" type="none"/>
          </a:ln>
        </p:spPr>
      </p:cxnSp>
      <p:cxnSp>
        <p:nvCxnSpPr>
          <p:cNvPr id="1531" name="Google Shape;1531;p81"/>
          <p:cNvCxnSpPr>
            <a:stCxn id="1523" idx="2"/>
            <a:endCxn id="1527" idx="0"/>
          </p:cNvCxnSpPr>
          <p:nvPr/>
        </p:nvCxnSpPr>
        <p:spPr>
          <a:xfrm>
            <a:off x="7367000" y="1597432"/>
            <a:ext cx="324000" cy="187800"/>
          </a:xfrm>
          <a:prstGeom prst="straightConnector1">
            <a:avLst/>
          </a:prstGeom>
          <a:noFill/>
          <a:ln cap="flat" cmpd="sng" w="19050">
            <a:solidFill>
              <a:srgbClr val="666666"/>
            </a:solidFill>
            <a:prstDash val="solid"/>
            <a:round/>
            <a:headEnd len="med" w="med" type="none"/>
            <a:tailEnd len="med" w="med" type="none"/>
          </a:ln>
        </p:spPr>
      </p:cxnSp>
      <p:cxnSp>
        <p:nvCxnSpPr>
          <p:cNvPr id="1532" name="Google Shape;1532;p81"/>
          <p:cNvCxnSpPr>
            <a:stCxn id="1523" idx="2"/>
            <a:endCxn id="1526" idx="0"/>
          </p:cNvCxnSpPr>
          <p:nvPr/>
        </p:nvCxnSpPr>
        <p:spPr>
          <a:xfrm flipH="1">
            <a:off x="7001000" y="1597432"/>
            <a:ext cx="366000" cy="187800"/>
          </a:xfrm>
          <a:prstGeom prst="straightConnector1">
            <a:avLst/>
          </a:prstGeom>
          <a:noFill/>
          <a:ln cap="flat" cmpd="sng" w="19050">
            <a:solidFill>
              <a:srgbClr val="666666"/>
            </a:solidFill>
            <a:prstDash val="solid"/>
            <a:round/>
            <a:headEnd len="med" w="med" type="none"/>
            <a:tailEnd len="med" w="med" type="none"/>
          </a:ln>
        </p:spPr>
      </p:cxnSp>
      <p:cxnSp>
        <p:nvCxnSpPr>
          <p:cNvPr id="1533" name="Google Shape;1533;p81"/>
          <p:cNvCxnSpPr>
            <a:stCxn id="1524" idx="2"/>
            <a:endCxn id="1528" idx="0"/>
          </p:cNvCxnSpPr>
          <p:nvPr/>
        </p:nvCxnSpPr>
        <p:spPr>
          <a:xfrm flipH="1">
            <a:off x="8273923" y="1597432"/>
            <a:ext cx="280200" cy="187800"/>
          </a:xfrm>
          <a:prstGeom prst="straightConnector1">
            <a:avLst/>
          </a:prstGeom>
          <a:noFill/>
          <a:ln cap="flat" cmpd="sng" w="19050">
            <a:solidFill>
              <a:srgbClr val="666666"/>
            </a:solidFill>
            <a:prstDash val="solid"/>
            <a:round/>
            <a:headEnd len="med" w="med" type="none"/>
            <a:tailEnd len="med" w="med" type="none"/>
          </a:ln>
        </p:spPr>
      </p:cxnSp>
      <p:cxnSp>
        <p:nvCxnSpPr>
          <p:cNvPr id="1534" name="Google Shape;1534;p81"/>
          <p:cNvCxnSpPr>
            <a:stCxn id="1524" idx="2"/>
            <a:endCxn id="1529" idx="0"/>
          </p:cNvCxnSpPr>
          <p:nvPr/>
        </p:nvCxnSpPr>
        <p:spPr>
          <a:xfrm>
            <a:off x="8554123" y="1597432"/>
            <a:ext cx="287400" cy="187800"/>
          </a:xfrm>
          <a:prstGeom prst="straightConnector1">
            <a:avLst/>
          </a:prstGeom>
          <a:noFill/>
          <a:ln cap="flat" cmpd="sng" w="19050">
            <a:solidFill>
              <a:srgbClr val="666666"/>
            </a:solidFill>
            <a:prstDash val="solid"/>
            <a:round/>
            <a:headEnd len="med" w="med" type="none"/>
            <a:tailEnd len="med" w="med" type="none"/>
          </a:ln>
        </p:spPr>
      </p:cxnSp>
      <p:cxnSp>
        <p:nvCxnSpPr>
          <p:cNvPr id="1535" name="Google Shape;1535;p81"/>
          <p:cNvCxnSpPr>
            <a:stCxn id="1525" idx="2"/>
            <a:endCxn id="1524" idx="0"/>
          </p:cNvCxnSpPr>
          <p:nvPr/>
        </p:nvCxnSpPr>
        <p:spPr>
          <a:xfrm>
            <a:off x="7919900" y="1084807"/>
            <a:ext cx="634200" cy="187800"/>
          </a:xfrm>
          <a:prstGeom prst="straightConnector1">
            <a:avLst/>
          </a:prstGeom>
          <a:noFill/>
          <a:ln cap="flat" cmpd="sng" w="19050">
            <a:solidFill>
              <a:srgbClr val="666666"/>
            </a:solidFill>
            <a:prstDash val="solid"/>
            <a:round/>
            <a:headEnd len="med" w="med" type="none"/>
            <a:tailEnd len="med" w="med" type="none"/>
          </a:ln>
        </p:spPr>
      </p:cxnSp>
      <p:sp>
        <p:nvSpPr>
          <p:cNvPr id="1536" name="Google Shape;1536;p81"/>
          <p:cNvSpPr txBox="1"/>
          <p:nvPr/>
        </p:nvSpPr>
        <p:spPr>
          <a:xfrm>
            <a:off x="6754800" y="2145375"/>
            <a:ext cx="2488500" cy="130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N: 8 items</a:t>
            </a:r>
            <a:endParaRPr/>
          </a:p>
          <a:p>
            <a:pPr indent="0" lvl="0" marL="0" rtl="0" algn="l">
              <a:spcBef>
                <a:spcPts val="0"/>
              </a:spcBef>
              <a:spcAft>
                <a:spcPts val="0"/>
              </a:spcAft>
              <a:buNone/>
            </a:pPr>
            <a:r>
              <a:rPr lang="en"/>
              <a:t>L: 2 max per node</a:t>
            </a:r>
            <a:endParaRPr/>
          </a:p>
          <a:p>
            <a:pPr indent="0" lvl="0" marL="0" rtl="0" algn="l">
              <a:spcBef>
                <a:spcPts val="0"/>
              </a:spcBef>
              <a:spcAft>
                <a:spcPts val="0"/>
              </a:spcAft>
              <a:buNone/>
            </a:pPr>
            <a:r>
              <a:rPr lang="en"/>
              <a:t>H: 2</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Height grows with </a:t>
            </a:r>
            <a:r>
              <a:rPr lang="en">
                <a:solidFill>
                  <a:schemeClr val="dk1"/>
                </a:solidFill>
              </a:rPr>
              <a:t>log</a:t>
            </a:r>
            <a:r>
              <a:rPr baseline="-25000" lang="en">
                <a:solidFill>
                  <a:schemeClr val="dk1"/>
                </a:solidFill>
              </a:rPr>
              <a:t>2</a:t>
            </a:r>
            <a:r>
              <a:rPr lang="en">
                <a:solidFill>
                  <a:schemeClr val="dk1"/>
                </a:solidFill>
              </a:rPr>
              <a:t>(N)</a:t>
            </a:r>
            <a:endParaRPr>
              <a:solidFill>
                <a:schemeClr val="dk1"/>
              </a:solidFill>
            </a:endParaRPr>
          </a:p>
          <a:p>
            <a:pPr indent="0" lvl="0" marL="0" rtl="0" algn="l">
              <a:spcBef>
                <a:spcPts val="0"/>
              </a:spcBef>
              <a:spcAft>
                <a:spcPts val="0"/>
              </a:spcAft>
              <a:buNone/>
            </a:pPr>
            <a:r>
              <a:rPr lang="en"/>
              <a:t> </a:t>
            </a:r>
            <a:endParaRPr/>
          </a:p>
        </p:txBody>
      </p:sp>
      <p:cxnSp>
        <p:nvCxnSpPr>
          <p:cNvPr id="1537" name="Google Shape;1537;p81"/>
          <p:cNvCxnSpPr/>
          <p:nvPr/>
        </p:nvCxnSpPr>
        <p:spPr>
          <a:xfrm flipH="1" rot="10800000">
            <a:off x="6460400" y="1489850"/>
            <a:ext cx="476100" cy="151500"/>
          </a:xfrm>
          <a:prstGeom prst="straightConnector1">
            <a:avLst/>
          </a:prstGeom>
          <a:noFill/>
          <a:ln cap="flat" cmpd="sng" w="9525">
            <a:solidFill>
              <a:schemeClr val="dk2"/>
            </a:solidFill>
            <a:prstDash val="solid"/>
            <a:round/>
            <a:headEnd len="med" w="med" type="none"/>
            <a:tailEnd len="med" w="med" type="triangle"/>
          </a:ln>
        </p:spPr>
      </p:cxnSp>
      <p:sp>
        <p:nvSpPr>
          <p:cNvPr id="1538" name="Google Shape;1538;p81"/>
          <p:cNvSpPr txBox="1"/>
          <p:nvPr/>
        </p:nvSpPr>
        <p:spPr>
          <a:xfrm>
            <a:off x="5968050" y="1945025"/>
            <a:ext cx="185100" cy="18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grpSp>
        <p:nvGrpSpPr>
          <p:cNvPr id="1539" name="Google Shape;1539;p81"/>
          <p:cNvGrpSpPr/>
          <p:nvPr/>
        </p:nvGrpSpPr>
        <p:grpSpPr>
          <a:xfrm>
            <a:off x="90600" y="2668600"/>
            <a:ext cx="6190800" cy="1603800"/>
            <a:chOff x="90600" y="2363800"/>
            <a:chExt cx="6190800" cy="1603800"/>
          </a:xfrm>
        </p:grpSpPr>
        <p:sp>
          <p:nvSpPr>
            <p:cNvPr id="1540" name="Google Shape;1540;p81"/>
            <p:cNvSpPr/>
            <p:nvPr/>
          </p:nvSpPr>
          <p:spPr>
            <a:xfrm>
              <a:off x="2898900" y="2363800"/>
              <a:ext cx="5742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t>*  *</a:t>
              </a:r>
              <a:endParaRPr b="1" sz="1800"/>
            </a:p>
          </p:txBody>
        </p:sp>
        <p:sp>
          <p:nvSpPr>
            <p:cNvPr id="1541" name="Google Shape;1541;p81"/>
            <p:cNvSpPr/>
            <p:nvPr/>
          </p:nvSpPr>
          <p:spPr>
            <a:xfrm>
              <a:off x="752075" y="2916025"/>
              <a:ext cx="5742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t>*  *</a:t>
              </a:r>
              <a:endParaRPr b="1" sz="1800"/>
            </a:p>
          </p:txBody>
        </p:sp>
        <p:sp>
          <p:nvSpPr>
            <p:cNvPr id="1542" name="Google Shape;1542;p81"/>
            <p:cNvSpPr/>
            <p:nvPr/>
          </p:nvSpPr>
          <p:spPr>
            <a:xfrm>
              <a:off x="5063300" y="2916025"/>
              <a:ext cx="5742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t>*  *</a:t>
              </a:r>
              <a:endParaRPr b="1" sz="1800"/>
            </a:p>
          </p:txBody>
        </p:sp>
        <p:sp>
          <p:nvSpPr>
            <p:cNvPr id="1543" name="Google Shape;1543;p81"/>
            <p:cNvSpPr/>
            <p:nvPr/>
          </p:nvSpPr>
          <p:spPr>
            <a:xfrm>
              <a:off x="2907688" y="2916025"/>
              <a:ext cx="5742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t>*  *</a:t>
              </a:r>
              <a:endParaRPr b="1" sz="1800"/>
            </a:p>
          </p:txBody>
        </p:sp>
        <p:sp>
          <p:nvSpPr>
            <p:cNvPr id="1544" name="Google Shape;1544;p81"/>
            <p:cNvSpPr/>
            <p:nvPr/>
          </p:nvSpPr>
          <p:spPr>
            <a:xfrm>
              <a:off x="90600" y="3642700"/>
              <a:ext cx="5742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t>*  *</a:t>
              </a:r>
              <a:endParaRPr b="1" sz="1800"/>
            </a:p>
          </p:txBody>
        </p:sp>
        <p:sp>
          <p:nvSpPr>
            <p:cNvPr id="1545" name="Google Shape;1545;p81"/>
            <p:cNvSpPr/>
            <p:nvPr/>
          </p:nvSpPr>
          <p:spPr>
            <a:xfrm>
              <a:off x="741000" y="3642700"/>
              <a:ext cx="5742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t>*  *</a:t>
              </a:r>
              <a:endParaRPr b="1" sz="1800"/>
            </a:p>
          </p:txBody>
        </p:sp>
        <p:sp>
          <p:nvSpPr>
            <p:cNvPr id="1546" name="Google Shape;1546;p81"/>
            <p:cNvSpPr/>
            <p:nvPr/>
          </p:nvSpPr>
          <p:spPr>
            <a:xfrm>
              <a:off x="1384900" y="3642700"/>
              <a:ext cx="5742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t>*  *</a:t>
              </a:r>
              <a:endParaRPr b="1" sz="1800"/>
            </a:p>
          </p:txBody>
        </p:sp>
        <p:sp>
          <p:nvSpPr>
            <p:cNvPr id="1547" name="Google Shape;1547;p81"/>
            <p:cNvSpPr/>
            <p:nvPr/>
          </p:nvSpPr>
          <p:spPr>
            <a:xfrm>
              <a:off x="2248500" y="3642700"/>
              <a:ext cx="5742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t>*  *</a:t>
              </a:r>
              <a:endParaRPr b="1" sz="1800"/>
            </a:p>
          </p:txBody>
        </p:sp>
        <p:sp>
          <p:nvSpPr>
            <p:cNvPr id="1548" name="Google Shape;1548;p81"/>
            <p:cNvSpPr/>
            <p:nvPr/>
          </p:nvSpPr>
          <p:spPr>
            <a:xfrm>
              <a:off x="2898900" y="3642700"/>
              <a:ext cx="5742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t>*  *</a:t>
              </a:r>
              <a:endParaRPr b="1" sz="1800"/>
            </a:p>
          </p:txBody>
        </p:sp>
        <p:sp>
          <p:nvSpPr>
            <p:cNvPr id="1549" name="Google Shape;1549;p81"/>
            <p:cNvSpPr/>
            <p:nvPr/>
          </p:nvSpPr>
          <p:spPr>
            <a:xfrm>
              <a:off x="3542800" y="3642700"/>
              <a:ext cx="5742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t>*  *</a:t>
              </a:r>
              <a:endParaRPr b="1" sz="1800"/>
            </a:p>
          </p:txBody>
        </p:sp>
        <p:sp>
          <p:nvSpPr>
            <p:cNvPr id="1550" name="Google Shape;1550;p81"/>
            <p:cNvSpPr/>
            <p:nvPr/>
          </p:nvSpPr>
          <p:spPr>
            <a:xfrm>
              <a:off x="4412900" y="3642700"/>
              <a:ext cx="5742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t>*  *</a:t>
              </a:r>
              <a:endParaRPr b="1" sz="1800"/>
            </a:p>
          </p:txBody>
        </p:sp>
        <p:sp>
          <p:nvSpPr>
            <p:cNvPr id="1551" name="Google Shape;1551;p81"/>
            <p:cNvSpPr/>
            <p:nvPr/>
          </p:nvSpPr>
          <p:spPr>
            <a:xfrm>
              <a:off x="5063300" y="3642700"/>
              <a:ext cx="5742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t>*  *</a:t>
              </a:r>
              <a:endParaRPr b="1" sz="1800"/>
            </a:p>
          </p:txBody>
        </p:sp>
        <p:sp>
          <p:nvSpPr>
            <p:cNvPr id="1552" name="Google Shape;1552;p81"/>
            <p:cNvSpPr/>
            <p:nvPr/>
          </p:nvSpPr>
          <p:spPr>
            <a:xfrm>
              <a:off x="5707200" y="3642700"/>
              <a:ext cx="574200" cy="324900"/>
            </a:xfrm>
            <a:prstGeom prst="rect">
              <a:avLst/>
            </a:prstGeom>
            <a:solidFill>
              <a:srgbClr val="B6D7A8"/>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t>*  *</a:t>
              </a:r>
              <a:endParaRPr b="1" sz="1800"/>
            </a:p>
          </p:txBody>
        </p:sp>
        <p:cxnSp>
          <p:nvCxnSpPr>
            <p:cNvPr id="1553" name="Google Shape;1553;p81"/>
            <p:cNvCxnSpPr>
              <a:stCxn id="1540" idx="2"/>
              <a:endCxn id="1541" idx="0"/>
            </p:cNvCxnSpPr>
            <p:nvPr/>
          </p:nvCxnSpPr>
          <p:spPr>
            <a:xfrm flipH="1">
              <a:off x="1039200" y="2688700"/>
              <a:ext cx="2146800" cy="227400"/>
            </a:xfrm>
            <a:prstGeom prst="straightConnector1">
              <a:avLst/>
            </a:prstGeom>
            <a:noFill/>
            <a:ln cap="flat" cmpd="sng" w="19050">
              <a:solidFill>
                <a:srgbClr val="666666"/>
              </a:solidFill>
              <a:prstDash val="solid"/>
              <a:round/>
              <a:headEnd len="med" w="med" type="none"/>
              <a:tailEnd len="med" w="med" type="none"/>
            </a:ln>
          </p:spPr>
        </p:cxnSp>
        <p:cxnSp>
          <p:nvCxnSpPr>
            <p:cNvPr id="1554" name="Google Shape;1554;p81"/>
            <p:cNvCxnSpPr>
              <a:stCxn id="1541" idx="2"/>
              <a:endCxn id="1544" idx="0"/>
            </p:cNvCxnSpPr>
            <p:nvPr/>
          </p:nvCxnSpPr>
          <p:spPr>
            <a:xfrm flipH="1">
              <a:off x="377675" y="3240925"/>
              <a:ext cx="661500" cy="401700"/>
            </a:xfrm>
            <a:prstGeom prst="straightConnector1">
              <a:avLst/>
            </a:prstGeom>
            <a:noFill/>
            <a:ln cap="flat" cmpd="sng" w="19050">
              <a:solidFill>
                <a:srgbClr val="666666"/>
              </a:solidFill>
              <a:prstDash val="solid"/>
              <a:round/>
              <a:headEnd len="med" w="med" type="none"/>
              <a:tailEnd len="med" w="med" type="none"/>
            </a:ln>
          </p:spPr>
        </p:cxnSp>
        <p:cxnSp>
          <p:nvCxnSpPr>
            <p:cNvPr id="1555" name="Google Shape;1555;p81"/>
            <p:cNvCxnSpPr>
              <a:stCxn id="1541" idx="2"/>
              <a:endCxn id="1545" idx="0"/>
            </p:cNvCxnSpPr>
            <p:nvPr/>
          </p:nvCxnSpPr>
          <p:spPr>
            <a:xfrm flipH="1">
              <a:off x="1028075" y="3240925"/>
              <a:ext cx="11100" cy="401700"/>
            </a:xfrm>
            <a:prstGeom prst="straightConnector1">
              <a:avLst/>
            </a:prstGeom>
            <a:noFill/>
            <a:ln cap="flat" cmpd="sng" w="19050">
              <a:solidFill>
                <a:srgbClr val="666666"/>
              </a:solidFill>
              <a:prstDash val="solid"/>
              <a:round/>
              <a:headEnd len="med" w="med" type="none"/>
              <a:tailEnd len="med" w="med" type="none"/>
            </a:ln>
          </p:spPr>
        </p:cxnSp>
        <p:cxnSp>
          <p:nvCxnSpPr>
            <p:cNvPr id="1556" name="Google Shape;1556;p81"/>
            <p:cNvCxnSpPr>
              <a:stCxn id="1541" idx="2"/>
              <a:endCxn id="1546" idx="0"/>
            </p:cNvCxnSpPr>
            <p:nvPr/>
          </p:nvCxnSpPr>
          <p:spPr>
            <a:xfrm>
              <a:off x="1039175" y="3240925"/>
              <a:ext cx="632700" cy="401700"/>
            </a:xfrm>
            <a:prstGeom prst="straightConnector1">
              <a:avLst/>
            </a:prstGeom>
            <a:noFill/>
            <a:ln cap="flat" cmpd="sng" w="19050">
              <a:solidFill>
                <a:srgbClr val="666666"/>
              </a:solidFill>
              <a:prstDash val="solid"/>
              <a:round/>
              <a:headEnd len="med" w="med" type="none"/>
              <a:tailEnd len="med" w="med" type="none"/>
            </a:ln>
          </p:spPr>
        </p:cxnSp>
        <p:cxnSp>
          <p:nvCxnSpPr>
            <p:cNvPr id="1557" name="Google Shape;1557;p81"/>
            <p:cNvCxnSpPr>
              <a:stCxn id="1540" idx="2"/>
              <a:endCxn id="1543" idx="0"/>
            </p:cNvCxnSpPr>
            <p:nvPr/>
          </p:nvCxnSpPr>
          <p:spPr>
            <a:xfrm>
              <a:off x="3186000" y="2688700"/>
              <a:ext cx="8700" cy="227400"/>
            </a:xfrm>
            <a:prstGeom prst="straightConnector1">
              <a:avLst/>
            </a:prstGeom>
            <a:noFill/>
            <a:ln cap="flat" cmpd="sng" w="19050">
              <a:solidFill>
                <a:srgbClr val="666666"/>
              </a:solidFill>
              <a:prstDash val="solid"/>
              <a:round/>
              <a:headEnd len="med" w="med" type="none"/>
              <a:tailEnd len="med" w="med" type="none"/>
            </a:ln>
          </p:spPr>
        </p:cxnSp>
        <p:cxnSp>
          <p:nvCxnSpPr>
            <p:cNvPr id="1558" name="Google Shape;1558;p81"/>
            <p:cNvCxnSpPr>
              <a:stCxn id="1543" idx="2"/>
              <a:endCxn id="1547" idx="0"/>
            </p:cNvCxnSpPr>
            <p:nvPr/>
          </p:nvCxnSpPr>
          <p:spPr>
            <a:xfrm flipH="1">
              <a:off x="2535688" y="3240925"/>
              <a:ext cx="659100" cy="401700"/>
            </a:xfrm>
            <a:prstGeom prst="straightConnector1">
              <a:avLst/>
            </a:prstGeom>
            <a:noFill/>
            <a:ln cap="flat" cmpd="sng" w="19050">
              <a:solidFill>
                <a:srgbClr val="666666"/>
              </a:solidFill>
              <a:prstDash val="solid"/>
              <a:round/>
              <a:headEnd len="med" w="med" type="none"/>
              <a:tailEnd len="med" w="med" type="none"/>
            </a:ln>
          </p:spPr>
        </p:cxnSp>
        <p:cxnSp>
          <p:nvCxnSpPr>
            <p:cNvPr id="1559" name="Google Shape;1559;p81"/>
            <p:cNvCxnSpPr>
              <a:stCxn id="1543" idx="2"/>
              <a:endCxn id="1548" idx="0"/>
            </p:cNvCxnSpPr>
            <p:nvPr/>
          </p:nvCxnSpPr>
          <p:spPr>
            <a:xfrm flipH="1">
              <a:off x="3186088" y="3240925"/>
              <a:ext cx="8700" cy="401700"/>
            </a:xfrm>
            <a:prstGeom prst="straightConnector1">
              <a:avLst/>
            </a:prstGeom>
            <a:noFill/>
            <a:ln cap="flat" cmpd="sng" w="19050">
              <a:solidFill>
                <a:srgbClr val="666666"/>
              </a:solidFill>
              <a:prstDash val="solid"/>
              <a:round/>
              <a:headEnd len="med" w="med" type="none"/>
              <a:tailEnd len="med" w="med" type="none"/>
            </a:ln>
          </p:spPr>
        </p:cxnSp>
        <p:cxnSp>
          <p:nvCxnSpPr>
            <p:cNvPr id="1560" name="Google Shape;1560;p81"/>
            <p:cNvCxnSpPr>
              <a:stCxn id="1543" idx="2"/>
              <a:endCxn id="1549" idx="0"/>
            </p:cNvCxnSpPr>
            <p:nvPr/>
          </p:nvCxnSpPr>
          <p:spPr>
            <a:xfrm>
              <a:off x="3194788" y="3240925"/>
              <a:ext cx="635100" cy="401700"/>
            </a:xfrm>
            <a:prstGeom prst="straightConnector1">
              <a:avLst/>
            </a:prstGeom>
            <a:noFill/>
            <a:ln cap="flat" cmpd="sng" w="19050">
              <a:solidFill>
                <a:srgbClr val="666666"/>
              </a:solidFill>
              <a:prstDash val="solid"/>
              <a:round/>
              <a:headEnd len="med" w="med" type="none"/>
              <a:tailEnd len="med" w="med" type="none"/>
            </a:ln>
          </p:spPr>
        </p:cxnSp>
        <p:cxnSp>
          <p:nvCxnSpPr>
            <p:cNvPr id="1561" name="Google Shape;1561;p81"/>
            <p:cNvCxnSpPr>
              <a:stCxn id="1542" idx="2"/>
              <a:endCxn id="1550" idx="0"/>
            </p:cNvCxnSpPr>
            <p:nvPr/>
          </p:nvCxnSpPr>
          <p:spPr>
            <a:xfrm flipH="1">
              <a:off x="4700000" y="3240925"/>
              <a:ext cx="650400" cy="401700"/>
            </a:xfrm>
            <a:prstGeom prst="straightConnector1">
              <a:avLst/>
            </a:prstGeom>
            <a:noFill/>
            <a:ln cap="flat" cmpd="sng" w="19050">
              <a:solidFill>
                <a:srgbClr val="666666"/>
              </a:solidFill>
              <a:prstDash val="solid"/>
              <a:round/>
              <a:headEnd len="med" w="med" type="none"/>
              <a:tailEnd len="med" w="med" type="none"/>
            </a:ln>
          </p:spPr>
        </p:cxnSp>
        <p:cxnSp>
          <p:nvCxnSpPr>
            <p:cNvPr id="1562" name="Google Shape;1562;p81"/>
            <p:cNvCxnSpPr>
              <a:stCxn id="1542" idx="2"/>
              <a:endCxn id="1551" idx="0"/>
            </p:cNvCxnSpPr>
            <p:nvPr/>
          </p:nvCxnSpPr>
          <p:spPr>
            <a:xfrm>
              <a:off x="5350400" y="3240925"/>
              <a:ext cx="0" cy="401700"/>
            </a:xfrm>
            <a:prstGeom prst="straightConnector1">
              <a:avLst/>
            </a:prstGeom>
            <a:noFill/>
            <a:ln cap="flat" cmpd="sng" w="19050">
              <a:solidFill>
                <a:srgbClr val="666666"/>
              </a:solidFill>
              <a:prstDash val="solid"/>
              <a:round/>
              <a:headEnd len="med" w="med" type="none"/>
              <a:tailEnd len="med" w="med" type="none"/>
            </a:ln>
          </p:spPr>
        </p:cxnSp>
        <p:cxnSp>
          <p:nvCxnSpPr>
            <p:cNvPr id="1563" name="Google Shape;1563;p81"/>
            <p:cNvCxnSpPr>
              <a:stCxn id="1542" idx="2"/>
              <a:endCxn id="1552" idx="0"/>
            </p:cNvCxnSpPr>
            <p:nvPr/>
          </p:nvCxnSpPr>
          <p:spPr>
            <a:xfrm>
              <a:off x="5350400" y="3240925"/>
              <a:ext cx="643800" cy="401700"/>
            </a:xfrm>
            <a:prstGeom prst="straightConnector1">
              <a:avLst/>
            </a:prstGeom>
            <a:noFill/>
            <a:ln cap="flat" cmpd="sng" w="19050">
              <a:solidFill>
                <a:srgbClr val="666666"/>
              </a:solidFill>
              <a:prstDash val="solid"/>
              <a:round/>
              <a:headEnd len="med" w="med" type="none"/>
              <a:tailEnd len="med" w="med" type="none"/>
            </a:ln>
          </p:spPr>
        </p:cxnSp>
        <p:cxnSp>
          <p:nvCxnSpPr>
            <p:cNvPr id="1564" name="Google Shape;1564;p81"/>
            <p:cNvCxnSpPr>
              <a:stCxn id="1540" idx="2"/>
              <a:endCxn id="1542" idx="0"/>
            </p:cNvCxnSpPr>
            <p:nvPr/>
          </p:nvCxnSpPr>
          <p:spPr>
            <a:xfrm>
              <a:off x="3186000" y="2688700"/>
              <a:ext cx="2164500" cy="227400"/>
            </a:xfrm>
            <a:prstGeom prst="straightConnector1">
              <a:avLst/>
            </a:prstGeom>
            <a:noFill/>
            <a:ln cap="flat" cmpd="sng" w="19050">
              <a:solidFill>
                <a:srgbClr val="666666"/>
              </a:solidFill>
              <a:prstDash val="solid"/>
              <a:round/>
              <a:headEnd len="med" w="med" type="none"/>
              <a:tailEnd len="med" w="med" type="none"/>
            </a:ln>
          </p:spPr>
        </p:cxnSp>
        <p:sp>
          <p:nvSpPr>
            <p:cNvPr id="1565" name="Google Shape;1565;p81"/>
            <p:cNvSpPr txBox="1"/>
            <p:nvPr/>
          </p:nvSpPr>
          <p:spPr>
            <a:xfrm>
              <a:off x="3546350" y="2424700"/>
              <a:ext cx="185100" cy="18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grpSp>
      <p:cxnSp>
        <p:nvCxnSpPr>
          <p:cNvPr id="1566" name="Google Shape;1566;p81"/>
          <p:cNvCxnSpPr>
            <a:stCxn id="1538" idx="3"/>
            <a:endCxn id="1565" idx="0"/>
          </p:cNvCxnSpPr>
          <p:nvPr/>
        </p:nvCxnSpPr>
        <p:spPr>
          <a:xfrm flipH="1">
            <a:off x="3638850" y="2038925"/>
            <a:ext cx="2514300" cy="690600"/>
          </a:xfrm>
          <a:prstGeom prst="curvedConnector4">
            <a:avLst>
              <a:gd fmla="val -9471" name="adj1"/>
              <a:gd fmla="val 56797" name="adj2"/>
            </a:avLst>
          </a:prstGeom>
          <a:noFill/>
          <a:ln cap="flat" cmpd="sng" w="9525">
            <a:solidFill>
              <a:schemeClr val="dk2"/>
            </a:solidFill>
            <a:prstDash val="solid"/>
            <a:round/>
            <a:headEnd len="med" w="med" type="none"/>
            <a:tailEnd len="med" w="med" type="triangle"/>
          </a:ln>
        </p:spPr>
      </p:cxnSp>
      <p:sp>
        <p:nvSpPr>
          <p:cNvPr id="1567" name="Google Shape;1567;p81"/>
          <p:cNvSpPr txBox="1"/>
          <p:nvPr/>
        </p:nvSpPr>
        <p:spPr>
          <a:xfrm>
            <a:off x="7660288" y="1019103"/>
            <a:ext cx="660600" cy="24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near</a:t>
            </a:r>
            <a:endParaRPr/>
          </a:p>
          <a:p>
            <a:pPr indent="0" lvl="0" marL="0" rtl="0" algn="l">
              <a:spcBef>
                <a:spcPts val="0"/>
              </a:spcBef>
              <a:spcAft>
                <a:spcPts val="0"/>
              </a:spcAft>
              <a:buNone/>
            </a:pPr>
            <a:r>
              <a:rPr lang="en"/>
              <a:t>worstcase</a:t>
            </a:r>
            <a:endParaRPr/>
          </a:p>
        </p:txBody>
      </p:sp>
      <p:sp>
        <p:nvSpPr>
          <p:cNvPr id="1568" name="Google Shape;1568;p81"/>
          <p:cNvSpPr txBox="1"/>
          <p:nvPr/>
        </p:nvSpPr>
        <p:spPr>
          <a:xfrm>
            <a:off x="1874600" y="3169475"/>
            <a:ext cx="660600" cy="24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best</a:t>
            </a:r>
            <a:endParaRPr/>
          </a:p>
          <a:p>
            <a:pPr indent="0" lvl="0" marL="0" rtl="0" algn="l">
              <a:spcBef>
                <a:spcPts val="0"/>
              </a:spcBef>
              <a:spcAft>
                <a:spcPts val="0"/>
              </a:spcAft>
              <a:buNone/>
            </a:pPr>
            <a:r>
              <a:rPr lang="en"/>
              <a:t>case</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2" name="Shape 1572"/>
        <p:cNvGrpSpPr/>
        <p:nvPr/>
      </p:nvGrpSpPr>
      <p:grpSpPr>
        <a:xfrm>
          <a:off x="0" y="0"/>
          <a:ext cx="0" cy="0"/>
          <a:chOff x="0" y="0"/>
          <a:chExt cx="0" cy="0"/>
        </a:xfrm>
      </p:grpSpPr>
      <p:sp>
        <p:nvSpPr>
          <p:cNvPr id="1573" name="Google Shape;1573;p8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Runtime for </a:t>
            </a:r>
            <a:r>
              <a:rPr lang="en">
                <a:latin typeface="Consolas"/>
                <a:ea typeface="Consolas"/>
                <a:cs typeface="Consolas"/>
                <a:sym typeface="Consolas"/>
              </a:rPr>
              <a:t>contains</a:t>
            </a:r>
            <a:endParaRPr>
              <a:latin typeface="Consolas"/>
              <a:ea typeface="Consolas"/>
              <a:cs typeface="Consolas"/>
              <a:sym typeface="Consolas"/>
            </a:endParaRPr>
          </a:p>
        </p:txBody>
      </p:sp>
      <p:sp>
        <p:nvSpPr>
          <p:cNvPr id="1574" name="Google Shape;1574;p82"/>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Runtime for contains:</a:t>
            </a:r>
            <a:endParaRPr/>
          </a:p>
          <a:p>
            <a:pPr indent="-342900" lvl="0" marL="457200" rtl="0" algn="l">
              <a:spcBef>
                <a:spcPts val="600"/>
              </a:spcBef>
              <a:spcAft>
                <a:spcPts val="0"/>
              </a:spcAft>
              <a:buSzPts val="1800"/>
              <a:buChar char="●"/>
            </a:pPr>
            <a:r>
              <a:rPr lang="en"/>
              <a:t>Worst case number of nodes to inspect: H + 1</a:t>
            </a:r>
            <a:endParaRPr/>
          </a:p>
          <a:p>
            <a:pPr indent="-342900" lvl="0" marL="457200" rtl="0" algn="l">
              <a:spcBef>
                <a:spcPts val="600"/>
              </a:spcBef>
              <a:spcAft>
                <a:spcPts val="0"/>
              </a:spcAft>
              <a:buSzPts val="1800"/>
              <a:buChar char="●"/>
            </a:pPr>
            <a:r>
              <a:rPr lang="en"/>
              <a:t>Worst case number of items to inspect per node: L</a:t>
            </a:r>
            <a:endParaRPr/>
          </a:p>
          <a:p>
            <a:pPr indent="-342900" lvl="0" marL="457200" rtl="0" algn="l">
              <a:spcBef>
                <a:spcPts val="600"/>
              </a:spcBef>
              <a:spcAft>
                <a:spcPts val="0"/>
              </a:spcAft>
              <a:buSzPts val="1800"/>
              <a:buChar char="●"/>
            </a:pPr>
            <a:r>
              <a:rPr lang="en"/>
              <a:t>Overall runtime: O(HL)</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Since H = Θ(log N), overall runtime is O(L log N).</a:t>
            </a:r>
            <a:endParaRPr/>
          </a:p>
          <a:p>
            <a:pPr indent="-342900" lvl="0" marL="457200" rtl="0" algn="l">
              <a:spcBef>
                <a:spcPts val="600"/>
              </a:spcBef>
              <a:spcAft>
                <a:spcPts val="0"/>
              </a:spcAft>
              <a:buSzPts val="1800"/>
              <a:buChar char="●"/>
            </a:pPr>
            <a:r>
              <a:rPr lang="en"/>
              <a:t>Since L is a constant, runtime is therefore O(log N).</a:t>
            </a:r>
            <a:endParaRPr/>
          </a:p>
        </p:txBody>
      </p:sp>
      <p:sp>
        <p:nvSpPr>
          <p:cNvPr id="1575" name="Google Shape;1575;p82"/>
          <p:cNvSpPr txBox="1"/>
          <p:nvPr/>
        </p:nvSpPr>
        <p:spPr>
          <a:xfrm>
            <a:off x="5968050" y="1662237"/>
            <a:ext cx="185100" cy="18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1576" name="Google Shape;1576;p82"/>
          <p:cNvPicPr preferRelativeResize="0"/>
          <p:nvPr/>
        </p:nvPicPr>
        <p:blipFill>
          <a:blip r:embed="rId3">
            <a:alphaModFix/>
          </a:blip>
          <a:stretch>
            <a:fillRect/>
          </a:stretch>
        </p:blipFill>
        <p:spPr>
          <a:xfrm>
            <a:off x="5310500" y="1569487"/>
            <a:ext cx="3694851" cy="1025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4">
                                            <p:txEl>
                                              <p:pRg end="0" st="0"/>
                                            </p:txEl>
                                          </p:spTgt>
                                        </p:tgtEl>
                                        <p:attrNameLst>
                                          <p:attrName>style.visibility</p:attrName>
                                        </p:attrNameLst>
                                      </p:cBhvr>
                                      <p:to>
                                        <p:strVal val="visible"/>
                                      </p:to>
                                    </p:set>
                                    <p:animEffect filter="fade" transition="in">
                                      <p:cBhvr>
                                        <p:cTn dur="1"/>
                                        <p:tgtEl>
                                          <p:spTgt spid="157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4">
                                            <p:txEl>
                                              <p:pRg end="1" st="1"/>
                                            </p:txEl>
                                          </p:spTgt>
                                        </p:tgtEl>
                                        <p:attrNameLst>
                                          <p:attrName>style.visibility</p:attrName>
                                        </p:attrNameLst>
                                      </p:cBhvr>
                                      <p:to>
                                        <p:strVal val="visible"/>
                                      </p:to>
                                    </p:set>
                                    <p:animEffect filter="fade" transition="in">
                                      <p:cBhvr>
                                        <p:cTn dur="1"/>
                                        <p:tgtEl>
                                          <p:spTgt spid="157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4">
                                            <p:txEl>
                                              <p:pRg end="2" st="2"/>
                                            </p:txEl>
                                          </p:spTgt>
                                        </p:tgtEl>
                                        <p:attrNameLst>
                                          <p:attrName>style.visibility</p:attrName>
                                        </p:attrNameLst>
                                      </p:cBhvr>
                                      <p:to>
                                        <p:strVal val="visible"/>
                                      </p:to>
                                    </p:set>
                                    <p:animEffect filter="fade" transition="in">
                                      <p:cBhvr>
                                        <p:cTn dur="1"/>
                                        <p:tgtEl>
                                          <p:spTgt spid="157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4">
                                            <p:txEl>
                                              <p:pRg end="3" st="3"/>
                                            </p:txEl>
                                          </p:spTgt>
                                        </p:tgtEl>
                                        <p:attrNameLst>
                                          <p:attrName>style.visibility</p:attrName>
                                        </p:attrNameLst>
                                      </p:cBhvr>
                                      <p:to>
                                        <p:strVal val="visible"/>
                                      </p:to>
                                    </p:set>
                                    <p:animEffect filter="fade" transition="in">
                                      <p:cBhvr>
                                        <p:cTn dur="1"/>
                                        <p:tgtEl>
                                          <p:spTgt spid="157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4">
                                            <p:txEl>
                                              <p:pRg end="4" st="4"/>
                                            </p:txEl>
                                          </p:spTgt>
                                        </p:tgtEl>
                                        <p:attrNameLst>
                                          <p:attrName>style.visibility</p:attrName>
                                        </p:attrNameLst>
                                      </p:cBhvr>
                                      <p:to>
                                        <p:strVal val="visible"/>
                                      </p:to>
                                    </p:set>
                                    <p:animEffect filter="fade" transition="in">
                                      <p:cBhvr>
                                        <p:cTn dur="1"/>
                                        <p:tgtEl>
                                          <p:spTgt spid="157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4">
                                            <p:txEl>
                                              <p:pRg end="5" st="5"/>
                                            </p:txEl>
                                          </p:spTgt>
                                        </p:tgtEl>
                                        <p:attrNameLst>
                                          <p:attrName>style.visibility</p:attrName>
                                        </p:attrNameLst>
                                      </p:cBhvr>
                                      <p:to>
                                        <p:strVal val="visible"/>
                                      </p:to>
                                    </p:set>
                                    <p:animEffect filter="fade" transition="in">
                                      <p:cBhvr>
                                        <p:cTn dur="1"/>
                                        <p:tgtEl>
                                          <p:spTgt spid="157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4">
                                            <p:txEl>
                                              <p:pRg end="6" st="6"/>
                                            </p:txEl>
                                          </p:spTgt>
                                        </p:tgtEl>
                                        <p:attrNameLst>
                                          <p:attrName>style.visibility</p:attrName>
                                        </p:attrNameLst>
                                      </p:cBhvr>
                                      <p:to>
                                        <p:strVal val="visible"/>
                                      </p:to>
                                    </p:set>
                                    <p:animEffect filter="fade" transition="in">
                                      <p:cBhvr>
                                        <p:cTn dur="1"/>
                                        <p:tgtEl>
                                          <p:spTgt spid="1574">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80" name="Shape 1580"/>
        <p:cNvGrpSpPr/>
        <p:nvPr/>
      </p:nvGrpSpPr>
      <p:grpSpPr>
        <a:xfrm>
          <a:off x="0" y="0"/>
          <a:ext cx="0" cy="0"/>
          <a:chOff x="0" y="0"/>
          <a:chExt cx="0" cy="0"/>
        </a:xfrm>
      </p:grpSpPr>
      <p:sp>
        <p:nvSpPr>
          <p:cNvPr id="1581" name="Google Shape;1581;p8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Runtime for </a:t>
            </a:r>
            <a:r>
              <a:rPr lang="en">
                <a:latin typeface="Consolas"/>
                <a:ea typeface="Consolas"/>
                <a:cs typeface="Consolas"/>
                <a:sym typeface="Consolas"/>
              </a:rPr>
              <a:t>add</a:t>
            </a:r>
            <a:endParaRPr>
              <a:latin typeface="Consolas"/>
              <a:ea typeface="Consolas"/>
              <a:cs typeface="Consolas"/>
              <a:sym typeface="Consolas"/>
            </a:endParaRPr>
          </a:p>
        </p:txBody>
      </p:sp>
      <p:sp>
        <p:nvSpPr>
          <p:cNvPr id="1582" name="Google Shape;1582;p83"/>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Runtime for </a:t>
            </a:r>
            <a:r>
              <a:rPr lang="en">
                <a:latin typeface="Consolas"/>
                <a:ea typeface="Consolas"/>
                <a:cs typeface="Consolas"/>
                <a:sym typeface="Consolas"/>
              </a:rPr>
              <a:t>add</a:t>
            </a:r>
            <a:r>
              <a:rPr lang="en"/>
              <a:t>:</a:t>
            </a:r>
            <a:endParaRPr/>
          </a:p>
          <a:p>
            <a:pPr indent="-342900" lvl="0" marL="457200" rtl="0" algn="l">
              <a:spcBef>
                <a:spcPts val="600"/>
              </a:spcBef>
              <a:spcAft>
                <a:spcPts val="0"/>
              </a:spcAft>
              <a:buSzPts val="1800"/>
              <a:buChar char="●"/>
            </a:pPr>
            <a:r>
              <a:rPr lang="en"/>
              <a:t>Worst case number of nodes to inspect: H + 1</a:t>
            </a:r>
            <a:endParaRPr/>
          </a:p>
          <a:p>
            <a:pPr indent="-342900" lvl="0" marL="457200" rtl="0" algn="l">
              <a:spcBef>
                <a:spcPts val="600"/>
              </a:spcBef>
              <a:spcAft>
                <a:spcPts val="0"/>
              </a:spcAft>
              <a:buSzPts val="1800"/>
              <a:buChar char="●"/>
            </a:pPr>
            <a:r>
              <a:rPr lang="en"/>
              <a:t>Worst case number of items to inspect per node: L</a:t>
            </a:r>
            <a:endParaRPr/>
          </a:p>
          <a:p>
            <a:pPr indent="-342900" lvl="0" marL="457200" rtl="0" algn="l">
              <a:spcBef>
                <a:spcPts val="600"/>
              </a:spcBef>
              <a:spcAft>
                <a:spcPts val="0"/>
              </a:spcAft>
              <a:buSzPts val="1800"/>
              <a:buChar char="●"/>
            </a:pPr>
            <a:r>
              <a:rPr lang="en"/>
              <a:t>Worst case number of split operations: H + 1</a:t>
            </a:r>
            <a:endParaRPr/>
          </a:p>
          <a:p>
            <a:pPr indent="-342900" lvl="0" marL="457200" rtl="0" algn="l">
              <a:spcBef>
                <a:spcPts val="600"/>
              </a:spcBef>
              <a:spcAft>
                <a:spcPts val="0"/>
              </a:spcAft>
              <a:buSzPts val="1800"/>
              <a:buChar char="●"/>
            </a:pPr>
            <a:r>
              <a:rPr lang="en"/>
              <a:t>Overall runtime: O(HL)</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Since H = Θ(log N), overall runtime is O(L log N).</a:t>
            </a:r>
            <a:endParaRPr/>
          </a:p>
          <a:p>
            <a:pPr indent="-342900" lvl="0" marL="457200" rtl="0" algn="l">
              <a:spcBef>
                <a:spcPts val="600"/>
              </a:spcBef>
              <a:spcAft>
                <a:spcPts val="0"/>
              </a:spcAft>
              <a:buSzPts val="1800"/>
              <a:buChar char="●"/>
            </a:pPr>
            <a:r>
              <a:rPr lang="en"/>
              <a:t>Since L is a constant, runtime is therefore O(log N).</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Bottom line: contains and add are both O(log N).</a:t>
            </a:r>
            <a:endParaRPr/>
          </a:p>
        </p:txBody>
      </p:sp>
      <p:sp>
        <p:nvSpPr>
          <p:cNvPr id="1583" name="Google Shape;1583;p83"/>
          <p:cNvSpPr txBox="1"/>
          <p:nvPr/>
        </p:nvSpPr>
        <p:spPr>
          <a:xfrm>
            <a:off x="5968050" y="1945025"/>
            <a:ext cx="185100" cy="18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1584" name="Google Shape;1584;p83"/>
          <p:cNvPicPr preferRelativeResize="0"/>
          <p:nvPr/>
        </p:nvPicPr>
        <p:blipFill>
          <a:blip r:embed="rId3">
            <a:alphaModFix/>
          </a:blip>
          <a:stretch>
            <a:fillRect/>
          </a:stretch>
        </p:blipFill>
        <p:spPr>
          <a:xfrm>
            <a:off x="5310500" y="1852275"/>
            <a:ext cx="3694851" cy="102572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8" name="Shape 1588"/>
        <p:cNvGrpSpPr/>
        <p:nvPr/>
      </p:nvGrpSpPr>
      <p:grpSpPr>
        <a:xfrm>
          <a:off x="0" y="0"/>
          <a:ext cx="0" cy="0"/>
          <a:chOff x="0" y="0"/>
          <a:chExt cx="0" cy="0"/>
        </a:xfrm>
      </p:grpSpPr>
      <p:sp>
        <p:nvSpPr>
          <p:cNvPr id="1589" name="Google Shape;1589;p8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
        <p:nvSpPr>
          <p:cNvPr id="1590" name="Google Shape;1590;p8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BSTs have best case height Θ(log N), and worst case height Θ(N).</a:t>
            </a:r>
            <a:endParaRPr/>
          </a:p>
          <a:p>
            <a:pPr indent="-342900" lvl="0" marL="457200" rtl="0" algn="l">
              <a:spcBef>
                <a:spcPts val="600"/>
              </a:spcBef>
              <a:spcAft>
                <a:spcPts val="0"/>
              </a:spcAft>
              <a:buSzPts val="1800"/>
              <a:buFont typeface="Roboto"/>
              <a:buChar char="●"/>
            </a:pPr>
            <a:r>
              <a:rPr lang="en"/>
              <a:t>Big O is not the same thing as worst case!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B-Trees are a modification of the binary search tree that avoids Θ(N) worst case.</a:t>
            </a:r>
            <a:endParaRPr/>
          </a:p>
          <a:p>
            <a:pPr indent="-342900" lvl="0" marL="457200" rtl="0" algn="l">
              <a:spcBef>
                <a:spcPts val="600"/>
              </a:spcBef>
              <a:spcAft>
                <a:spcPts val="0"/>
              </a:spcAft>
              <a:buSzPts val="1800"/>
              <a:buFont typeface="Roboto"/>
              <a:buChar char="●"/>
            </a:pPr>
            <a:r>
              <a:rPr lang="en"/>
              <a:t>Nodes may contain between 1 and L items.</a:t>
            </a:r>
            <a:endParaRPr/>
          </a:p>
          <a:p>
            <a:pPr indent="-342900" lvl="0" marL="457200" rtl="0" algn="l">
              <a:spcBef>
                <a:spcPts val="0"/>
              </a:spcBef>
              <a:spcAft>
                <a:spcPts val="0"/>
              </a:spcAft>
              <a:buSzPts val="1800"/>
              <a:buFont typeface="Calibri"/>
              <a:buChar char="●"/>
            </a:pPr>
            <a:r>
              <a:rPr lang="en"/>
              <a:t>contains works almost exactly like a normal BST.</a:t>
            </a:r>
            <a:endParaRPr/>
          </a:p>
          <a:p>
            <a:pPr indent="-342900" lvl="0" marL="457200" rtl="0" algn="l">
              <a:spcBef>
                <a:spcPts val="0"/>
              </a:spcBef>
              <a:spcAft>
                <a:spcPts val="0"/>
              </a:spcAft>
              <a:buSzPts val="1800"/>
              <a:buFont typeface="Calibri"/>
              <a:buChar char="●"/>
            </a:pPr>
            <a:r>
              <a:rPr lang="en"/>
              <a:t>add works by adding items to existing leaf nodes.</a:t>
            </a:r>
            <a:endParaRPr/>
          </a:p>
          <a:p>
            <a:pPr indent="-342900" lvl="1" marL="914400" rtl="0" algn="l">
              <a:spcBef>
                <a:spcPts val="0"/>
              </a:spcBef>
              <a:spcAft>
                <a:spcPts val="0"/>
              </a:spcAft>
              <a:buSzPts val="1800"/>
              <a:buFont typeface="Roboto"/>
              <a:buChar char="○"/>
            </a:pPr>
            <a:r>
              <a:rPr lang="en"/>
              <a:t>If nodes are too full, they split.</a:t>
            </a:r>
            <a:endParaRPr/>
          </a:p>
          <a:p>
            <a:pPr indent="-342900" lvl="0" marL="457200" rtl="0" algn="l">
              <a:spcBef>
                <a:spcPts val="0"/>
              </a:spcBef>
              <a:spcAft>
                <a:spcPts val="0"/>
              </a:spcAft>
              <a:buSzPts val="1800"/>
              <a:buFont typeface="Roboto"/>
              <a:buChar char="●"/>
            </a:pPr>
            <a:r>
              <a:rPr lang="en"/>
              <a:t>Resulting tree has perfect balance. Runtime for operations is O(log N).</a:t>
            </a:r>
            <a:endParaRPr/>
          </a:p>
          <a:p>
            <a:pPr indent="-342900" lvl="0" marL="457200" rtl="0" algn="l">
              <a:spcBef>
                <a:spcPts val="0"/>
              </a:spcBef>
              <a:spcAft>
                <a:spcPts val="0"/>
              </a:spcAft>
              <a:buSzPts val="1800"/>
              <a:buFont typeface="Roboto"/>
              <a:buChar char="●"/>
            </a:pPr>
            <a:r>
              <a:rPr lang="en"/>
              <a:t>Have not discussed deletion. See extra slides if you’re curious.</a:t>
            </a:r>
            <a:endParaRPr/>
          </a:p>
          <a:p>
            <a:pPr indent="-342900" lvl="0" marL="457200" rtl="0" algn="l">
              <a:spcBef>
                <a:spcPts val="0"/>
              </a:spcBef>
              <a:spcAft>
                <a:spcPts val="0"/>
              </a:spcAft>
              <a:buSzPts val="1800"/>
              <a:buFont typeface="Roboto"/>
              <a:buChar char="●"/>
            </a:pPr>
            <a:r>
              <a:rPr lang="en"/>
              <a:t>Have not discussed how splitting works if L &gt; 3 (see some other class).</a:t>
            </a:r>
            <a:endParaRPr/>
          </a:p>
          <a:p>
            <a:pPr indent="-342900" lvl="0" marL="457200" rtl="0" algn="l">
              <a:spcBef>
                <a:spcPts val="0"/>
              </a:spcBef>
              <a:spcAft>
                <a:spcPts val="0"/>
              </a:spcAft>
              <a:buSzPts val="1800"/>
              <a:buFont typeface="Roboto"/>
              <a:buChar char="●"/>
            </a:pPr>
            <a:r>
              <a:rPr lang="en"/>
              <a:t>B-trees are more complex, but they can efficiently handle ANY insertion order.</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u="sng">
                <a:solidFill>
                  <a:schemeClr val="hlink"/>
                </a:solidFill>
                <a:hlinkClick r:id="rId3"/>
              </a:rPr>
              <a:t>Extra slides cover deletion.</a:t>
            </a:r>
            <a:r>
              <a:rPr lang="en"/>
              <a:t> Not in scope for our class.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ecture">
  <a:themeElements>
    <a:clrScheme name="Simple Light">
      <a:dk1>
        <a:srgbClr val="000000"/>
      </a:dk1>
      <a:lt1>
        <a:srgbClr val="FFFFFF"/>
      </a:lt1>
      <a:dk2>
        <a:srgbClr val="666666"/>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