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5143500" cx="9144000"/>
  <p:notesSz cx="6858000" cy="9144000"/>
  <p:embeddedFontLst>
    <p:embeddedFont>
      <p:font typeface="Roboto Medium"/>
      <p:regular r:id="rId45"/>
      <p:bold r:id="rId46"/>
      <p:italic r:id="rId47"/>
      <p:boldItalic r:id="rId48"/>
    </p:embeddedFont>
    <p:embeddedFont>
      <p:font typeface="Roboto"/>
      <p:regular r:id="rId49"/>
      <p:bold r:id="rId50"/>
      <p:italic r:id="rId51"/>
      <p:boldItalic r:id="rId52"/>
    </p:embeddedFont>
    <p:embeddedFont>
      <p:font typeface="Roboto Light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font" Target="fonts/RobotoMedium-bold.fntdata"/><Relationship Id="rId45" Type="http://schemas.openxmlformats.org/officeDocument/2006/relationships/font" Target="fonts/RobotoMedium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RobotoMedium-boldItalic.fntdata"/><Relationship Id="rId47" Type="http://schemas.openxmlformats.org/officeDocument/2006/relationships/font" Target="fonts/RobotoMedium-italic.fntdata"/><Relationship Id="rId49" Type="http://schemas.openxmlformats.org/officeDocument/2006/relationships/font" Target="fonts/Robot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Roboto-italic.fntdata"/><Relationship Id="rId50" Type="http://schemas.openxmlformats.org/officeDocument/2006/relationships/font" Target="fonts/Roboto-bold.fntdata"/><Relationship Id="rId53" Type="http://schemas.openxmlformats.org/officeDocument/2006/relationships/font" Target="fonts/RobotoLight-regular.fntdata"/><Relationship Id="rId52" Type="http://schemas.openxmlformats.org/officeDocument/2006/relationships/font" Target="fonts/Roboto-boldItalic.fntdata"/><Relationship Id="rId11" Type="http://schemas.openxmlformats.org/officeDocument/2006/relationships/slide" Target="slides/slide7.xml"/><Relationship Id="rId55" Type="http://schemas.openxmlformats.org/officeDocument/2006/relationships/font" Target="fonts/RobotoLight-italic.fntdata"/><Relationship Id="rId10" Type="http://schemas.openxmlformats.org/officeDocument/2006/relationships/slide" Target="slides/slide6.xml"/><Relationship Id="rId54" Type="http://schemas.openxmlformats.org/officeDocument/2006/relationships/font" Target="fonts/RobotoLight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56" Type="http://schemas.openxmlformats.org/officeDocument/2006/relationships/font" Target="fonts/RobotoLight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5f155b838b_0_2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5f155b838b_0_2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f155b838b_0_217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5f155b838b_0_2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8d08577524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8d085775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8d08577524_0_8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8d0857752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8d08577524_0_1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8d0857752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8d08577524_0_8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8d0857752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5003107c3d_0_2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5003107c3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8d08577524_0_9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8d0857752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 </a:t>
            </a:r>
            <a:r>
              <a:rPr lang="en"/>
              <a:t>https://en.wikipedia.org/wiki/History_of_computing_hardware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5003107c3d_0_2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5003107c3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Images from </a:t>
            </a:r>
            <a:r>
              <a:rPr lang="en"/>
              <a:t>https://en.wikipedia.org/wiki/RollerCoaster_Tycoon_(video_game)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5003107c3d_0_3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5003107c3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from https://www.minecraft.net/en-us/store/minecraft-java-bedrock-edition-pc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91a060e02f_0_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91a060e02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is also from the engineering blog (link in slide)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8d08577524_0_9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8d0857752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8d08577524_0_10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8d0857752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to generate the plot: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 matplotlib.pyplot as plt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 numpy as np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from scipy.interpolate import make_interp_spline, BSpline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x = range(10)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xnew = np.linspace(0, 20, 300)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 = [(2**i) for i in x]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spl = make_interp_spline(x, y, k=3)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smooth = spl(xnew)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plt.plot(xnew, smooth)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plt.xlabel("Functionality")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plt.ylabel("Complexity")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plt.xticks([])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plt.yticks([])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plt.show()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8d08577524_0_10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8d0857752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8d08577524_0_7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8d0857752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8d08577524_0_2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8d0857752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8d08577524_0_12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8d08577524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8d08577524_0_6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8d0857752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8d08577524_0_3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8d0857752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5003107c3d_0_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5003107c3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5003107c3d_0_1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5003107c3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8d08577524_0_12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8d08577524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5003107c3d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5003107c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8d08577524_0_13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8d08577524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8d08577524_0_16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8d0857752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8d08577524_0_16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8d08577524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8d08577524_0_17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8d08577524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91aef6962b_0_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91aef6962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8d08577524_0_6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8d0857752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8d08577524_0_14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8d08577524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91a060e02f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91a060e0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8d08577524_0_15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8d08577524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8d08577524_0_21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8d08577524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8d08577524_0_23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8d08577524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8d08577524_0_28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28d08577524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919eae29da_0_2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919eae29d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8d08577524_0_28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8d08577524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8d08577524_0_29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28d08577524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8d08577524_0_5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28d0857752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8d08577524_0_5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28d0857752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27" name="Google Shape;2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8" name="Google Shape;38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5" name="Google Shape;45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" name="Google Shape;4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3" name="Google Shape;53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" name="Google Shape;60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3" name="Google Shape;63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" name="Google Shape;69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2" name="Google Shape;72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" name="Google Shape;7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9" name="Google Shape;79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97" name="Google Shape;97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6" name="Google Shape;10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8" name="Google Shape;108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" name="Google Shape;12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30" name="Google Shape;13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presentation/d/1Aq8Zrw9YcpnueJ5k36Qdvglsc9v8oFQ_y17UDyevrCU/edit#slide=id.g409413421_0637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s61a.org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engineering.atspotify.com/2023/04/spotifys-shift-to-a-fleet-first-mindset-part-1/" TargetMode="External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hyperlink" Target="https://docs.retool.com/apps/web/tutorial/2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hyperlink" Target="https://docs.retool.com/apps/web/tutorial/3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hyperlink" Target="https://docs.retool.com/data-sources/concepts/resources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Relationship Id="rId4" Type="http://schemas.openxmlformats.org/officeDocument/2006/relationships/hyperlink" Target="https://docs.retool.com/data-sources/quickstarts/database/databricks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aniruthn.com/blo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4"/>
          <p:cNvSpPr txBox="1"/>
          <p:nvPr/>
        </p:nvSpPr>
        <p:spPr>
          <a:xfrm>
            <a:off x="311700" y="3854350"/>
            <a:ext cx="8520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CS61B, Fall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202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@ UC Berkeley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Software Engineering I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27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27, CS61B, Fall 2023</a:t>
            </a:r>
            <a:endParaRPr/>
          </a:p>
        </p:txBody>
      </p:sp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Background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Complexity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Strategic vs Tactical Programming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Retool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Commit History Traversal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54" name="Google Shape;154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107048" y="402200"/>
            <a:ext cx="5615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I’m the guest lecturer for today, Aniruth Narayanan.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Senior, majoring in EECS and Business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Teaching Assistant for 61B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First taught 61B in Summer 2021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Florida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Took a gap year to work in industry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subject of this lecture!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Later, I’ll talk about some of the problems I’ve worked 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 &amp; A will be at the very end.</a:t>
            </a:r>
            <a:endParaRPr/>
          </a:p>
        </p:txBody>
      </p:sp>
      <p:sp>
        <p:nvSpPr>
          <p:cNvPr id="160" name="Google Shape;160;p2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pic>
        <p:nvPicPr>
          <p:cNvPr id="161" name="Google Shape;1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650" y="1401600"/>
            <a:ext cx="3196024" cy="319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important disclaimers: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Nothing I say should be interpreted as anyone’s opinion but my own.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Nothing contained in these slides is confidential or proprietary information of any company.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sections on complexity and strategic/tactical programming are inspired by </a:t>
            </a:r>
            <a:r>
              <a:rPr lang="en" u="sng">
                <a:solidFill>
                  <a:schemeClr val="hlink"/>
                </a:solidFill>
                <a:hlinkClick r:id="rId3"/>
              </a:rPr>
              <a:t>Josh Hug’s slides</a:t>
            </a:r>
            <a:r>
              <a:rPr lang="en"/>
              <a:t> (think of these as less detailed versions).</a:t>
            </a:r>
            <a:endParaRPr/>
          </a:p>
        </p:txBody>
      </p:sp>
      <p:sp>
        <p:nvSpPr>
          <p:cNvPr id="167" name="Google Shape;167;p2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Disclaimers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</a:t>
            </a:r>
            <a:r>
              <a:rPr lang="en" u="sng">
                <a:solidFill>
                  <a:schemeClr val="hlink"/>
                </a:solidFill>
                <a:hlinkClick r:id="rId3"/>
              </a:rPr>
              <a:t>61A</a:t>
            </a:r>
            <a:r>
              <a:rPr lang="en"/>
              <a:t>, you were focused on the correctness of a program.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61B, you are focused on larger scale projects, but still have to abide by many of our </a:t>
            </a:r>
            <a:r>
              <a:rPr lang="en"/>
              <a:t>requirements and specifications</a:t>
            </a:r>
            <a:r>
              <a:rPr lang="en"/>
              <a:t> (e.g. functions, runtime, etc.).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Working on small projects isn’t the same as working on large scale, </a:t>
            </a:r>
            <a:r>
              <a:rPr lang="en"/>
              <a:t>design-oriented programs where the task is defined </a:t>
            </a:r>
            <a:r>
              <a:rPr i="1" lang="en"/>
              <a:t>by </a:t>
            </a:r>
            <a:r>
              <a:rPr lang="en"/>
              <a:t>you.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best way to learn these differences is through experience; this lecture will have some examples and some light theory as a sampling.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Project 3 allows you to embrace the challenge of large scale yourself.</a:t>
            </a:r>
            <a:endParaRPr/>
          </a:p>
        </p:txBody>
      </p:sp>
      <p:sp>
        <p:nvSpPr>
          <p:cNvPr id="173" name="Google Shape;173;p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27, CS61B, Fall 2023</a:t>
            </a:r>
            <a:endParaRPr/>
          </a:p>
        </p:txBody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Background</a:t>
            </a:r>
            <a:endParaRPr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Complexity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Strategic vs Tactical Programming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Retool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Commit History Traversal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80" name="Google Shape;180;p2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Restrictions of Engineering</a:t>
            </a:r>
            <a:endParaRPr/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other </a:t>
            </a:r>
            <a:r>
              <a:rPr lang="en"/>
              <a:t>disciplines</a:t>
            </a:r>
            <a:r>
              <a:rPr lang="en"/>
              <a:t>, we’re limited by imperfect materials.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Objects can’t be infinitely </a:t>
            </a:r>
            <a:r>
              <a:rPr lang="en"/>
              <a:t>dense</a:t>
            </a:r>
            <a:r>
              <a:rPr lang="en"/>
              <a:t>, or infinitely light.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fields are </a:t>
            </a:r>
            <a:r>
              <a:rPr lang="en"/>
              <a:t>constrained</a:t>
            </a:r>
            <a:r>
              <a:rPr lang="en"/>
              <a:t>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/>
              <a:t>Chemical engineers have to worry about temperature.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/>
              <a:t>Material scientists have to worry about how brittle a material is.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/>
              <a:t>Civil engineers have to worry about the strength of concrete.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computer science, we’ve solved most of the underlying material constraints </a:t>
            </a:r>
            <a:r>
              <a:rPr lang="en"/>
              <a:t>decades</a:t>
            </a:r>
            <a:r>
              <a:rPr lang="en"/>
              <a:t> ago.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sum power of Apollo missions is less than the computing power of your phone.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idx="1" type="body"/>
          </p:nvPr>
        </p:nvSpPr>
        <p:spPr>
          <a:xfrm>
            <a:off x="107050" y="402200"/>
            <a:ext cx="5508600" cy="27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Early computers were used for limited tasks.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is a picture of ENIAC, the first general-purpose programmable computer that was 1,000 times faster than anything else at the time.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2" name="Google Shape;192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Power of Software</a:t>
            </a:r>
            <a:endParaRPr/>
          </a:p>
        </p:txBody>
      </p:sp>
      <p:pic>
        <p:nvPicPr>
          <p:cNvPr id="193" name="Google Shape;19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5650" y="571500"/>
            <a:ext cx="3377450" cy="258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/>
          <p:nvPr>
            <p:ph idx="1" type="body"/>
          </p:nvPr>
        </p:nvSpPr>
        <p:spPr>
          <a:xfrm>
            <a:off x="107050" y="402200"/>
            <a:ext cx="5508600" cy="27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Rollercoaster Tycoon was an early game where players would design amusement parks.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99% of the code was written in Assembly, with 1% written in C.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is very hard for programmers to reason about.</a:t>
            </a:r>
            <a:endParaRPr/>
          </a:p>
        </p:txBody>
      </p:sp>
      <p:sp>
        <p:nvSpPr>
          <p:cNvPr id="199" name="Google Shape;199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Power of Software</a:t>
            </a:r>
            <a:endParaRPr/>
          </a:p>
        </p:txBody>
      </p:sp>
      <p:sp>
        <p:nvSpPr>
          <p:cNvPr id="200" name="Google Shape;200;p32"/>
          <p:cNvSpPr txBox="1"/>
          <p:nvPr>
            <p:ph idx="1" type="body"/>
          </p:nvPr>
        </p:nvSpPr>
        <p:spPr>
          <a:xfrm>
            <a:off x="2725525" y="3152475"/>
            <a:ext cx="6267600" cy="18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game was designed to run on Intel Pentium CPUs, which were 66 MHz (66 million operations per second).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Intel i9 14th Gen of today can run at up to 6GHz (6 billion </a:t>
            </a:r>
            <a:r>
              <a:rPr lang="en"/>
              <a:t>operations per second). </a:t>
            </a:r>
            <a:r>
              <a:rPr i="1" lang="en"/>
              <a:t>100x more</a:t>
            </a:r>
            <a:endParaRPr i="1"/>
          </a:p>
        </p:txBody>
      </p:sp>
      <p:pic>
        <p:nvPicPr>
          <p:cNvPr id="201" name="Google Shape;20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8000" y="546000"/>
            <a:ext cx="2045062" cy="245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050" y="3152476"/>
            <a:ext cx="2325850" cy="174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107050" y="402200"/>
            <a:ext cx="4857000" cy="27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Most video games today require at least 3.5 GHz and 8 GB of RAM.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1996, the average computer had only 8 MB or 16 MB of RAM.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average software product doesn’t require the computing power we have available today.</a:t>
            </a:r>
            <a:endParaRPr/>
          </a:p>
        </p:txBody>
      </p:sp>
      <p:sp>
        <p:nvSpPr>
          <p:cNvPr id="208" name="Google Shape;208;p3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Power of Software</a:t>
            </a:r>
            <a:endParaRPr/>
          </a:p>
        </p:txBody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107050" y="3152475"/>
            <a:ext cx="8886000" cy="18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limitation comes from the creative ways we plan and design what we’re building.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 individual programmer is no longer able to effectively manage the entire software system for a large project.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Any one programmer should only need to understand a fraction of the codebase.</a:t>
            </a:r>
            <a:endParaRPr/>
          </a:p>
        </p:txBody>
      </p:sp>
      <p:pic>
        <p:nvPicPr>
          <p:cNvPr id="210" name="Google Shape;21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6200" y="0"/>
            <a:ext cx="4117801" cy="3278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6350" y="132788"/>
            <a:ext cx="2857500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Here’s an example </a:t>
            </a:r>
            <a:r>
              <a:rPr lang="en"/>
              <a:t>from </a:t>
            </a:r>
            <a:r>
              <a:rPr lang="en" u="sng">
                <a:solidFill>
                  <a:schemeClr val="hlink"/>
                </a:solidFill>
                <a:hlinkClick r:id="rId3"/>
              </a:rPr>
              <a:t>Spotify’s Engineering Blog</a:t>
            </a:r>
            <a:r>
              <a:rPr lang="en"/>
              <a:t> of their approach to software. They have &gt;1 billion lines of code, 60 million used in production.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They must carefully target and orchestrate changes using internal mechanisms and thorough test automation.</a:t>
            </a:r>
            <a:endParaRPr/>
          </a:p>
        </p:txBody>
      </p:sp>
      <p:sp>
        <p:nvSpPr>
          <p:cNvPr id="217" name="Google Shape;217;p3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Empirical Proof</a:t>
            </a:r>
            <a:endParaRPr/>
          </a:p>
        </p:txBody>
      </p:sp>
      <p:pic>
        <p:nvPicPr>
          <p:cNvPr id="218" name="Google Shape;218;p34"/>
          <p:cNvPicPr preferRelativeResize="0"/>
          <p:nvPr/>
        </p:nvPicPr>
        <p:blipFill rotWithShape="1">
          <a:blip r:embed="rId4">
            <a:alphaModFix/>
          </a:blip>
          <a:srcRect b="6566" l="18739" r="19474" t="6808"/>
          <a:stretch/>
        </p:blipFill>
        <p:spPr>
          <a:xfrm>
            <a:off x="1747325" y="2219225"/>
            <a:ext cx="5649351" cy="29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/>
              <a:t>“Anything related to the structure of a software system that makes it hard to understand and modify it”</a:t>
            </a:r>
            <a:r>
              <a:rPr lang="en"/>
              <a:t> - John Ousterhout, “A Philosophy of Software Design”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 programs become more feature-rich, their complexity increases. Our goal is to keep software simple.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Why? </a:t>
            </a:r>
            <a:r>
              <a:rPr lang="en"/>
              <a:t>Complex systems require a lot of effort to make small improvements.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takes longer to understand how code 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more difficult to fix bugs independently and with confidence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it harder to find what needs to change to modify functionality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Unknown unknowns: it’s not clear what you need to know to make modifications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Common in large codebases</a:t>
            </a:r>
            <a:endParaRPr/>
          </a:p>
        </p:txBody>
      </p:sp>
      <p:sp>
        <p:nvSpPr>
          <p:cNvPr id="224" name="Google Shape;224;p3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Definition of Complexity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Complexity scales exponentially with respect to functionality.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new piece of functionality has to interact with all the existing functionality in various ways, for all possible combinations.</a:t>
            </a:r>
            <a:endParaRPr/>
          </a:p>
        </p:txBody>
      </p:sp>
      <p:sp>
        <p:nvSpPr>
          <p:cNvPr id="230" name="Google Shape;230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Runtime of Complexity</a:t>
            </a:r>
            <a:endParaRPr/>
          </a:p>
        </p:txBody>
      </p:sp>
      <p:pic>
        <p:nvPicPr>
          <p:cNvPr id="231" name="Google Shape;231;p36"/>
          <p:cNvPicPr preferRelativeResize="0"/>
          <p:nvPr/>
        </p:nvPicPr>
        <p:blipFill rotWithShape="1">
          <a:blip r:embed="rId3">
            <a:alphaModFix/>
          </a:blip>
          <a:srcRect b="5943" l="7864" r="8739" t="11041"/>
          <a:stretch/>
        </p:blipFill>
        <p:spPr>
          <a:xfrm>
            <a:off x="2384313" y="2029925"/>
            <a:ext cx="3966075" cy="296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are two kinds of complexity: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Unavoidable (Essential) Complexity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Inherent complexity caused by the underlying functionality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Avoidable Complexity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Complexity that we can address with our choices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response to avoidable complexity, we can: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Make code simpler and more obvious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Using sentinel nodes in Project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Modules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Abstraction: the ability to use a piece without understanding how it works based on some specification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Interfaces are an example - HashMap, BSTMap both are Maps</a:t>
            </a:r>
            <a:endParaRPr/>
          </a:p>
        </p:txBody>
      </p:sp>
      <p:sp>
        <p:nvSpPr>
          <p:cNvPr id="237" name="Google Shape;237;p3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</a:t>
            </a:r>
            <a:r>
              <a:rPr lang="en"/>
              <a:t> Complexity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27, CS61B, Fall 2023</a:t>
            </a:r>
            <a:endParaRPr/>
          </a:p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Background</a:t>
            </a:r>
            <a:endParaRPr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Complexity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Strategic vs Tactical Programming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Retool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Commit History Traversal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44" name="Google Shape;244;p3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Strategic vs Tactical Programming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focus is on getting something working quickly; workarounds are leveraged.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Ex: Code that contains many if statements to handle many separate cases that is hard to explain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Prototypes, proof-of-concepts leverage tactical programming. The goal is to show that something could theoretically 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However: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There’s no time spent on overall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Things are complicated with workarounds to get things working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Refactoring takes time and potentially means restarting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Consider Project 2 runtime requirements and planning the constructor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Proof of concepts are deployed in the real world due to lack of time</a:t>
            </a:r>
            <a:endParaRPr/>
          </a:p>
        </p:txBody>
      </p:sp>
      <p:sp>
        <p:nvSpPr>
          <p:cNvPr id="250" name="Google Shape;250;p3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Tactical Programming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different form of programming that emphasizes long term strategy over quick fixes. The objective is to write code that works </a:t>
            </a:r>
            <a:r>
              <a:rPr i="1" lang="en"/>
              <a:t>elegantly</a:t>
            </a:r>
            <a:r>
              <a:rPr lang="en"/>
              <a:t> - at the cost of planning time.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Code should be: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Future-proof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61B projects have deadlines; afterwards, you can throw it away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the strategy is insufficient, go back to the drawing board before continuing 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Helper method strategy is key to leverage throughout projects, especially when we have written comprehensive tests to ensure that these methods are correct.</a:t>
            </a:r>
            <a:endParaRPr/>
          </a:p>
        </p:txBody>
      </p:sp>
      <p:sp>
        <p:nvSpPr>
          <p:cNvPr id="256" name="Google Shape;256;p4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Strategic </a:t>
            </a:r>
            <a:r>
              <a:rPr lang="en"/>
              <a:t>Programming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27, CS61B, Fall 2023</a:t>
            </a:r>
            <a:endParaRPr/>
          </a:p>
        </p:txBody>
      </p:sp>
      <p:sp>
        <p:nvSpPr>
          <p:cNvPr id="262" name="Google Shape;262;p41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Background</a:t>
            </a:r>
            <a:endParaRPr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Complexity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Strategic vs Tactical Programming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Retool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Commit History Traversal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63" name="Google Shape;263;p4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Retool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Retool is a platform to help build internal tools much faster.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 of building a frontend and a backend from scratch, you can write queries, linked to drag and drop components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Much of this power comes from being able to connect to nearly any API or database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API: An interface for working with data; we don’t care about how it works underneath the hood, just that we can use the specifications.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 can connect different sources of data and code together to make building easier.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 worked as a software engineer intern on the Connect team in Fall 2022.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 of the projects I worked on was incorporating missing fields into the resource creation system.</a:t>
            </a:r>
            <a:endParaRPr/>
          </a:p>
        </p:txBody>
      </p:sp>
      <p:sp>
        <p:nvSpPr>
          <p:cNvPr id="269" name="Google Shape;269;p4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Retool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 Retool App</a:t>
            </a:r>
            <a:endParaRPr/>
          </a:p>
        </p:txBody>
      </p:sp>
      <p:pic>
        <p:nvPicPr>
          <p:cNvPr id="275" name="Google Shape;27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46000"/>
            <a:ext cx="8839201" cy="4172914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3"/>
          <p:cNvSpPr txBox="1"/>
          <p:nvPr/>
        </p:nvSpPr>
        <p:spPr>
          <a:xfrm>
            <a:off x="5801650" y="4859100"/>
            <a:ext cx="25155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Image from </a:t>
            </a:r>
            <a:r>
              <a:rPr lang="en" sz="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Retool’s Documentation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a Query</a:t>
            </a:r>
            <a:endParaRPr/>
          </a:p>
        </p:txBody>
      </p:sp>
      <p:pic>
        <p:nvPicPr>
          <p:cNvPr id="282" name="Google Shape;28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46000"/>
            <a:ext cx="8839200" cy="417727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4"/>
          <p:cNvSpPr txBox="1"/>
          <p:nvPr/>
        </p:nvSpPr>
        <p:spPr>
          <a:xfrm>
            <a:off x="5801650" y="4859100"/>
            <a:ext cx="25155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Image from </a:t>
            </a:r>
            <a:r>
              <a:rPr lang="en" sz="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Retool’s Documentation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Picking a Resource</a:t>
            </a:r>
            <a:endParaRPr/>
          </a:p>
        </p:txBody>
      </p:sp>
      <p:pic>
        <p:nvPicPr>
          <p:cNvPr id="289" name="Google Shape;28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038" y="437625"/>
            <a:ext cx="7875924" cy="470587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5"/>
          <p:cNvSpPr txBox="1"/>
          <p:nvPr/>
        </p:nvSpPr>
        <p:spPr>
          <a:xfrm>
            <a:off x="5801650" y="4859100"/>
            <a:ext cx="25155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Image from </a:t>
            </a:r>
            <a:r>
              <a:rPr lang="en" sz="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Retool’s Resources Documentation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Configuring a Resource</a:t>
            </a:r>
            <a:endParaRPr/>
          </a:p>
        </p:txBody>
      </p:sp>
      <p:pic>
        <p:nvPicPr>
          <p:cNvPr id="296" name="Google Shape;29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46000"/>
            <a:ext cx="8839204" cy="4186537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6"/>
          <p:cNvSpPr txBox="1"/>
          <p:nvPr/>
        </p:nvSpPr>
        <p:spPr>
          <a:xfrm>
            <a:off x="5801650" y="4859100"/>
            <a:ext cx="25155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Image from </a:t>
            </a:r>
            <a:r>
              <a:rPr lang="en" sz="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Retool’s Resources Documentation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Resource Configurations</a:t>
            </a:r>
            <a:endParaRPr/>
          </a:p>
        </p:txBody>
      </p:sp>
      <p:sp>
        <p:nvSpPr>
          <p:cNvPr id="303" name="Google Shape;303;p4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Disclaimer: the method to implement resources was decided before I joined, but I needed to both understand and upgrade functionality.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goal is to design a system for users to specify configuration information that allows Retool to connect to and retrieve information from a resource on the user’s behalf.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naive implementation is to build a new page for each resource in its entirety.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Problems with this solution: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Making a modification (such as wording) would require updating every page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Breaking changes from updated requirements requires updating every page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What is the List interface changed from size() to .length?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Adding a new resource is complicated (and requires a lot of copy-paste)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Resource Configurations</a:t>
            </a:r>
            <a:endParaRPr/>
          </a:p>
        </p:txBody>
      </p:sp>
      <p:sp>
        <p:nvSpPr>
          <p:cNvPr id="309" name="Google Shape;309;p4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ultimate</a:t>
            </a:r>
            <a:r>
              <a:rPr lang="en"/>
              <a:t> solution was to build a ResourceConfig - a way to describe properties of a resource with a few parameters using common patterns to generate inputs.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leverages </a:t>
            </a:r>
            <a:r>
              <a:rPr i="1" lang="en"/>
              <a:t>modularity </a:t>
            </a:r>
            <a:r>
              <a:rPr lang="en"/>
              <a:t>and </a:t>
            </a:r>
            <a:r>
              <a:rPr i="1" lang="en"/>
              <a:t>obviousness </a:t>
            </a:r>
            <a:r>
              <a:rPr lang="en"/>
              <a:t>when designing a config.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databases have similar requirements: a host, a port, a name, and sometimes connection options.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non-database resources (i.e. Elastic Search), a similar pattern of using inputs can be used with custom elements for properties to accept.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 all resources were valid.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user did not submit the necessary information for a resource, they wouldn’t be allowed to make the resource.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Java prevents you from writing knowingly bad code with compiler errors.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was specified in a </a:t>
            </a:r>
            <a:r>
              <a:rPr i="1" lang="en"/>
              <a:t>validation function</a:t>
            </a:r>
            <a:r>
              <a:rPr lang="en"/>
              <a:t> included in the resource config.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 Fields</a:t>
            </a:r>
            <a:endParaRPr/>
          </a:p>
        </p:txBody>
      </p:sp>
      <p:sp>
        <p:nvSpPr>
          <p:cNvPr id="315" name="Google Shape;315;p4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users put in their credentials, there’s an option to Test Connection with a sample request. If the validation function failed, this was grayed out.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My objective was to add a way to track missing fields and incorporate some validation for fields.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way, a user can be informed what needs to be changed when making a resource fails.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strategy question: How can we expand functionality to include this? What do we need to change?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and Refactoring</a:t>
            </a:r>
            <a:endParaRPr/>
          </a:p>
        </p:txBody>
      </p:sp>
      <p:sp>
        <p:nvSpPr>
          <p:cNvPr id="321" name="Google Shape;321;p5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solution was to rethink validation as passing the missing fields test.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Parameters would be cycled through, and if one was missing, the accompanying “missing field” is added to the list.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list of missing fields is empty, then the resource can be tested/created!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fields were upgraded to integrate and </a:t>
            </a:r>
            <a:r>
              <a:rPr lang="en"/>
              <a:t>generalize</a:t>
            </a:r>
            <a:r>
              <a:rPr lang="en"/>
              <a:t> validation.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example, every port number for a database should be a number.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endParaRPr/>
          </a:p>
        </p:txBody>
      </p:sp>
      <p:sp>
        <p:nvSpPr>
          <p:cNvPr id="327" name="Google Shape;327;p5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Testing in the real world is very important! There is no autograder to leverage to gain confidence in a solution.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Would the right missing fields be displayed?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the “patterned” resources, such as a database, I wrote a utility that tested every possible combination of inputs and outputs.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there were mock resources, this could be expanded into queries.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the other resources, select test cases were chosen and manually written.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pattern is powerful - updating the utility updates the tests for </a:t>
            </a:r>
            <a:r>
              <a:rPr i="1" lang="en"/>
              <a:t>all </a:t>
            </a:r>
            <a:r>
              <a:rPr lang="en"/>
              <a:t>resources.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Resources (and libraries/dependencies) update all the time, sometimes with breaking changes. </a:t>
            </a:r>
            <a:r>
              <a:rPr lang="en"/>
              <a:t>This is future-proof code.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2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27, CS61B, Fall 2023</a:t>
            </a:r>
            <a:endParaRPr/>
          </a:p>
        </p:txBody>
      </p:sp>
      <p:sp>
        <p:nvSpPr>
          <p:cNvPr id="333" name="Google Shape;333;p52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Background</a:t>
            </a:r>
            <a:endParaRPr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Complexity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Strategic vs Tactical Programming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Retool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Commit History Traversal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334" name="Google Shape;334;p52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 History Traversal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 a hypothetical: let’s say I want to find which versions of my project contain a certain change. Some of these versions (represented by git commits) are </a:t>
            </a:r>
            <a:r>
              <a:rPr i="1" lang="en"/>
              <a:t>special</a:t>
            </a:r>
            <a:r>
              <a:rPr lang="en"/>
              <a:t> -</a:t>
            </a:r>
            <a:r>
              <a:rPr i="1" lang="en"/>
              <a:t> </a:t>
            </a:r>
            <a:r>
              <a:rPr lang="en"/>
              <a:t>they were deployed into the real world.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It’s a common practice in industry - it makes more sense to do predictable rollouts instead of deploying every commit.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	Would you want to have 5 or 6 updates to your phone every day?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Apple and Google release new versions of their OS, browsers, apps, etc. in a cycle, with minor changes in between. They don’t release every single time a new commit is pushed internally.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are many applications of this: rollbacks, adoption rate, metrics comparison, etc.</a:t>
            </a:r>
            <a:endParaRPr/>
          </a:p>
        </p:txBody>
      </p:sp>
      <p:sp>
        <p:nvSpPr>
          <p:cNvPr id="340" name="Google Shape;340;p5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simplicity: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change is a git commit - the same git commits generated when you use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git commit -m “submitting lab1”</a:t>
            </a:r>
            <a:r>
              <a:rPr lang="en"/>
              <a:t> and pushed using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git push origin main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is easy access to all of the git commits that can be loaded on any computer in a reasonable amount of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</a:t>
            </a:r>
            <a:r>
              <a:rPr i="1" lang="en"/>
              <a:t>a lot</a:t>
            </a:r>
            <a:r>
              <a:rPr lang="en"/>
              <a:t> of commits - caching the results (i.e. storing which commits are in every single deployment) is infeasible.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Once a change is made, we don’t undo or modify that change (in practice, we can use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git blame</a:t>
            </a:r>
            <a:r>
              <a:rPr lang="en"/>
              <a:t>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Manually splitting the commits into two sets by hand is </a:t>
            </a:r>
            <a:r>
              <a:rPr i="1" lang="en"/>
              <a:t>slow</a:t>
            </a:r>
            <a:r>
              <a:rPr lang="en"/>
              <a:t>.</a:t>
            </a:r>
            <a:endParaRPr/>
          </a:p>
        </p:txBody>
      </p:sp>
      <p:sp>
        <p:nvSpPr>
          <p:cNvPr id="346" name="Google Shape;346;p5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Constraints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5"/>
          <p:cNvSpPr txBox="1"/>
          <p:nvPr>
            <p:ph idx="1" type="body"/>
          </p:nvPr>
        </p:nvSpPr>
        <p:spPr>
          <a:xfrm>
            <a:off x="107050" y="402200"/>
            <a:ext cx="85206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the following graph of commits, where arrows are drawn to a commit’s parents. Some of these are the deployed commits, marked in green.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Which deployed commits contain the change in commit C?</a:t>
            </a:r>
            <a:endParaRPr/>
          </a:p>
        </p:txBody>
      </p:sp>
      <p:sp>
        <p:nvSpPr>
          <p:cNvPr id="352" name="Google Shape;352;p5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Git Graph</a:t>
            </a:r>
            <a:endParaRPr/>
          </a:p>
        </p:txBody>
      </p:sp>
      <p:sp>
        <p:nvSpPr>
          <p:cNvPr id="353" name="Google Shape;353;p55"/>
          <p:cNvSpPr/>
          <p:nvPr/>
        </p:nvSpPr>
        <p:spPr>
          <a:xfrm>
            <a:off x="1160013" y="2726975"/>
            <a:ext cx="495300" cy="495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4" name="Google Shape;354;p55"/>
          <p:cNvSpPr/>
          <p:nvPr/>
        </p:nvSpPr>
        <p:spPr>
          <a:xfrm>
            <a:off x="2279696" y="3387525"/>
            <a:ext cx="495300" cy="495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" name="Google Shape;355;p55"/>
          <p:cNvSpPr/>
          <p:nvPr/>
        </p:nvSpPr>
        <p:spPr>
          <a:xfrm>
            <a:off x="3716705" y="238605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" name="Google Shape;356;p55"/>
          <p:cNvSpPr/>
          <p:nvPr/>
        </p:nvSpPr>
        <p:spPr>
          <a:xfrm>
            <a:off x="4836263" y="2386050"/>
            <a:ext cx="495300" cy="495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7" name="Google Shape;357;p55"/>
          <p:cNvSpPr/>
          <p:nvPr/>
        </p:nvSpPr>
        <p:spPr>
          <a:xfrm>
            <a:off x="3221404" y="424605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8" name="Google Shape;358;p55"/>
          <p:cNvSpPr/>
          <p:nvPr/>
        </p:nvSpPr>
        <p:spPr>
          <a:xfrm>
            <a:off x="6052971" y="3222275"/>
            <a:ext cx="495300" cy="495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9" name="Google Shape;359;p55"/>
          <p:cNvSpPr/>
          <p:nvPr/>
        </p:nvSpPr>
        <p:spPr>
          <a:xfrm>
            <a:off x="7902713" y="4318575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H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60" name="Google Shape;360;p55"/>
          <p:cNvCxnSpPr>
            <a:stCxn id="353" idx="6"/>
            <a:endCxn id="355" idx="2"/>
          </p:cNvCxnSpPr>
          <p:nvPr/>
        </p:nvCxnSpPr>
        <p:spPr>
          <a:xfrm flipH="1" rot="10800000">
            <a:off x="1655313" y="2633825"/>
            <a:ext cx="20613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61" name="Google Shape;361;p55"/>
          <p:cNvCxnSpPr>
            <a:stCxn id="357" idx="7"/>
            <a:endCxn id="358" idx="3"/>
          </p:cNvCxnSpPr>
          <p:nvPr/>
        </p:nvCxnSpPr>
        <p:spPr>
          <a:xfrm flipH="1" rot="10800000">
            <a:off x="3644169" y="3645085"/>
            <a:ext cx="2481300" cy="67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62" name="Google Shape;362;p55"/>
          <p:cNvCxnSpPr>
            <a:stCxn id="359" idx="2"/>
            <a:endCxn id="354" idx="5"/>
          </p:cNvCxnSpPr>
          <p:nvPr/>
        </p:nvCxnSpPr>
        <p:spPr>
          <a:xfrm rot="10800000">
            <a:off x="2702513" y="3810225"/>
            <a:ext cx="5200200" cy="75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3" name="Google Shape;363;p55"/>
          <p:cNvCxnSpPr>
            <a:stCxn id="356" idx="2"/>
            <a:endCxn id="355" idx="6"/>
          </p:cNvCxnSpPr>
          <p:nvPr/>
        </p:nvCxnSpPr>
        <p:spPr>
          <a:xfrm rot="10800000">
            <a:off x="4211963" y="2633700"/>
            <a:ext cx="624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" name="Google Shape;364;p55"/>
          <p:cNvCxnSpPr>
            <a:stCxn id="358" idx="1"/>
            <a:endCxn id="356" idx="5"/>
          </p:cNvCxnSpPr>
          <p:nvPr/>
        </p:nvCxnSpPr>
        <p:spPr>
          <a:xfrm rot="10800000">
            <a:off x="5259106" y="2808810"/>
            <a:ext cx="866400" cy="48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" name="Google Shape;365;p55"/>
          <p:cNvCxnSpPr>
            <a:stCxn id="357" idx="0"/>
            <a:endCxn id="355" idx="4"/>
          </p:cNvCxnSpPr>
          <p:nvPr/>
        </p:nvCxnSpPr>
        <p:spPr>
          <a:xfrm flipH="1" rot="10800000">
            <a:off x="3469054" y="2881350"/>
            <a:ext cx="495300" cy="136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66" name="Google Shape;366;p55"/>
          <p:cNvSpPr/>
          <p:nvPr/>
        </p:nvSpPr>
        <p:spPr>
          <a:xfrm>
            <a:off x="7004071" y="2386038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67" name="Google Shape;367;p55"/>
          <p:cNvCxnSpPr>
            <a:stCxn id="366" idx="2"/>
            <a:endCxn id="356" idx="6"/>
          </p:cNvCxnSpPr>
          <p:nvPr/>
        </p:nvCxnSpPr>
        <p:spPr>
          <a:xfrm rot="10800000">
            <a:off x="5331571" y="2633688"/>
            <a:ext cx="16725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8" name="Google Shape;368;p55"/>
          <p:cNvSpPr txBox="1"/>
          <p:nvPr>
            <p:ph idx="1" type="body"/>
          </p:nvPr>
        </p:nvSpPr>
        <p:spPr>
          <a:xfrm>
            <a:off x="525700" y="4503125"/>
            <a:ext cx="1864200" cy="5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Time of Commit</a:t>
            </a:r>
            <a:endParaRPr/>
          </a:p>
        </p:txBody>
      </p:sp>
      <p:cxnSp>
        <p:nvCxnSpPr>
          <p:cNvPr id="369" name="Google Shape;369;p55"/>
          <p:cNvCxnSpPr>
            <a:stCxn id="368" idx="3"/>
          </p:cNvCxnSpPr>
          <p:nvPr/>
        </p:nvCxnSpPr>
        <p:spPr>
          <a:xfrm>
            <a:off x="2389900" y="4787075"/>
            <a:ext cx="532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6"/>
          <p:cNvSpPr txBox="1"/>
          <p:nvPr>
            <p:ph idx="1" type="body"/>
          </p:nvPr>
        </p:nvSpPr>
        <p:spPr>
          <a:xfrm>
            <a:off x="107050" y="402200"/>
            <a:ext cx="85206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the following graph of commits, where arrows are drawn to a commit’s parents. Some of these are the deployed commits, marked in green.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Which </a:t>
            </a:r>
            <a:r>
              <a:rPr lang="en"/>
              <a:t>deployed </a:t>
            </a:r>
            <a:r>
              <a:rPr lang="en"/>
              <a:t>commits contain the change in commit C?</a:t>
            </a:r>
            <a:endParaRPr/>
          </a:p>
        </p:txBody>
      </p:sp>
      <p:sp>
        <p:nvSpPr>
          <p:cNvPr id="375" name="Google Shape;375;p5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Git Graph</a:t>
            </a:r>
            <a:endParaRPr/>
          </a:p>
        </p:txBody>
      </p:sp>
      <p:sp>
        <p:nvSpPr>
          <p:cNvPr id="376" name="Google Shape;376;p56"/>
          <p:cNvSpPr/>
          <p:nvPr/>
        </p:nvSpPr>
        <p:spPr>
          <a:xfrm>
            <a:off x="1160013" y="2726975"/>
            <a:ext cx="495300" cy="495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7" name="Google Shape;377;p56"/>
          <p:cNvSpPr/>
          <p:nvPr/>
        </p:nvSpPr>
        <p:spPr>
          <a:xfrm>
            <a:off x="2279696" y="3387525"/>
            <a:ext cx="495300" cy="495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8" name="Google Shape;378;p56"/>
          <p:cNvSpPr/>
          <p:nvPr/>
        </p:nvSpPr>
        <p:spPr>
          <a:xfrm>
            <a:off x="3716705" y="238605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9" name="Google Shape;379;p56"/>
          <p:cNvSpPr/>
          <p:nvPr/>
        </p:nvSpPr>
        <p:spPr>
          <a:xfrm>
            <a:off x="4836263" y="2386050"/>
            <a:ext cx="495300" cy="495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0" name="Google Shape;380;p56"/>
          <p:cNvSpPr/>
          <p:nvPr/>
        </p:nvSpPr>
        <p:spPr>
          <a:xfrm>
            <a:off x="3221404" y="424605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1" name="Google Shape;381;p56"/>
          <p:cNvSpPr/>
          <p:nvPr/>
        </p:nvSpPr>
        <p:spPr>
          <a:xfrm>
            <a:off x="6052971" y="3222275"/>
            <a:ext cx="495300" cy="495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2" name="Google Shape;382;p56"/>
          <p:cNvSpPr/>
          <p:nvPr/>
        </p:nvSpPr>
        <p:spPr>
          <a:xfrm>
            <a:off x="7902713" y="4318575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H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83" name="Google Shape;383;p56"/>
          <p:cNvCxnSpPr>
            <a:stCxn id="376" idx="6"/>
            <a:endCxn id="378" idx="2"/>
          </p:cNvCxnSpPr>
          <p:nvPr/>
        </p:nvCxnSpPr>
        <p:spPr>
          <a:xfrm flipH="1" rot="10800000">
            <a:off x="1655313" y="2633825"/>
            <a:ext cx="20613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84" name="Google Shape;384;p56"/>
          <p:cNvCxnSpPr>
            <a:stCxn id="380" idx="7"/>
            <a:endCxn id="381" idx="3"/>
          </p:cNvCxnSpPr>
          <p:nvPr/>
        </p:nvCxnSpPr>
        <p:spPr>
          <a:xfrm flipH="1" rot="10800000">
            <a:off x="3644169" y="3645085"/>
            <a:ext cx="2481300" cy="673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85" name="Google Shape;385;p56"/>
          <p:cNvCxnSpPr>
            <a:stCxn id="382" idx="2"/>
            <a:endCxn id="377" idx="5"/>
          </p:cNvCxnSpPr>
          <p:nvPr/>
        </p:nvCxnSpPr>
        <p:spPr>
          <a:xfrm rot="10800000">
            <a:off x="2702513" y="3810225"/>
            <a:ext cx="5200200" cy="75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" name="Google Shape;386;p56"/>
          <p:cNvCxnSpPr>
            <a:stCxn id="379" idx="2"/>
            <a:endCxn id="378" idx="6"/>
          </p:cNvCxnSpPr>
          <p:nvPr/>
        </p:nvCxnSpPr>
        <p:spPr>
          <a:xfrm rot="10800000">
            <a:off x="4211963" y="2633700"/>
            <a:ext cx="624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" name="Google Shape;387;p56"/>
          <p:cNvCxnSpPr>
            <a:stCxn id="381" idx="1"/>
            <a:endCxn id="379" idx="5"/>
          </p:cNvCxnSpPr>
          <p:nvPr/>
        </p:nvCxnSpPr>
        <p:spPr>
          <a:xfrm rot="10800000">
            <a:off x="5259106" y="2808810"/>
            <a:ext cx="866400" cy="48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8" name="Google Shape;388;p56"/>
          <p:cNvCxnSpPr>
            <a:stCxn id="380" idx="0"/>
            <a:endCxn id="378" idx="4"/>
          </p:cNvCxnSpPr>
          <p:nvPr/>
        </p:nvCxnSpPr>
        <p:spPr>
          <a:xfrm flipH="1" rot="10800000">
            <a:off x="3469054" y="2881350"/>
            <a:ext cx="495300" cy="1364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89" name="Google Shape;389;p56"/>
          <p:cNvSpPr/>
          <p:nvPr/>
        </p:nvSpPr>
        <p:spPr>
          <a:xfrm>
            <a:off x="7004071" y="2386038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90" name="Google Shape;390;p56"/>
          <p:cNvCxnSpPr>
            <a:stCxn id="389" idx="2"/>
            <a:endCxn id="379" idx="6"/>
          </p:cNvCxnSpPr>
          <p:nvPr/>
        </p:nvCxnSpPr>
        <p:spPr>
          <a:xfrm rot="10800000">
            <a:off x="5331571" y="2633688"/>
            <a:ext cx="16725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1" name="Google Shape;391;p56"/>
          <p:cNvSpPr txBox="1"/>
          <p:nvPr>
            <p:ph idx="1" type="body"/>
          </p:nvPr>
        </p:nvSpPr>
        <p:spPr>
          <a:xfrm>
            <a:off x="525700" y="4503125"/>
            <a:ext cx="1864200" cy="5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Time of Commit</a:t>
            </a:r>
            <a:endParaRPr/>
          </a:p>
        </p:txBody>
      </p:sp>
      <p:cxnSp>
        <p:nvCxnSpPr>
          <p:cNvPr id="392" name="Google Shape;392;p56"/>
          <p:cNvCxnSpPr>
            <a:stCxn id="391" idx="3"/>
          </p:cNvCxnSpPr>
          <p:nvPr/>
        </p:nvCxnSpPr>
        <p:spPr>
          <a:xfrm>
            <a:off x="2389900" y="4787075"/>
            <a:ext cx="532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7"/>
          <p:cNvSpPr txBox="1"/>
          <p:nvPr>
            <p:ph idx="1" type="body"/>
          </p:nvPr>
        </p:nvSpPr>
        <p:spPr>
          <a:xfrm>
            <a:off x="107050" y="402200"/>
            <a:ext cx="85206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the following graph of commits, where arrows are drawn to a commit’s parents. Some of these are the deployed commits, marked in green.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Which </a:t>
            </a:r>
            <a:r>
              <a:rPr lang="en"/>
              <a:t>deployed </a:t>
            </a:r>
            <a:r>
              <a:rPr lang="en"/>
              <a:t>commits contain the change in commit C?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C, D, and G!</a:t>
            </a:r>
            <a:endParaRPr/>
          </a:p>
        </p:txBody>
      </p:sp>
      <p:sp>
        <p:nvSpPr>
          <p:cNvPr id="398" name="Google Shape;398;p5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Git Graph</a:t>
            </a:r>
            <a:endParaRPr/>
          </a:p>
        </p:txBody>
      </p:sp>
      <p:sp>
        <p:nvSpPr>
          <p:cNvPr id="399" name="Google Shape;399;p57"/>
          <p:cNvSpPr/>
          <p:nvPr/>
        </p:nvSpPr>
        <p:spPr>
          <a:xfrm>
            <a:off x="1160013" y="2726975"/>
            <a:ext cx="495300" cy="495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0" name="Google Shape;400;p57"/>
          <p:cNvSpPr/>
          <p:nvPr/>
        </p:nvSpPr>
        <p:spPr>
          <a:xfrm>
            <a:off x="2279696" y="3387525"/>
            <a:ext cx="495300" cy="495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1" name="Google Shape;401;p57"/>
          <p:cNvSpPr/>
          <p:nvPr/>
        </p:nvSpPr>
        <p:spPr>
          <a:xfrm>
            <a:off x="3716705" y="238605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2" name="Google Shape;402;p57"/>
          <p:cNvSpPr/>
          <p:nvPr/>
        </p:nvSpPr>
        <p:spPr>
          <a:xfrm>
            <a:off x="4836263" y="2386050"/>
            <a:ext cx="495300" cy="495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3" name="Google Shape;403;p57"/>
          <p:cNvSpPr/>
          <p:nvPr/>
        </p:nvSpPr>
        <p:spPr>
          <a:xfrm>
            <a:off x="3221404" y="424605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4" name="Google Shape;404;p57"/>
          <p:cNvSpPr/>
          <p:nvPr/>
        </p:nvSpPr>
        <p:spPr>
          <a:xfrm>
            <a:off x="6052971" y="3222275"/>
            <a:ext cx="495300" cy="495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5" name="Google Shape;405;p57"/>
          <p:cNvSpPr/>
          <p:nvPr/>
        </p:nvSpPr>
        <p:spPr>
          <a:xfrm>
            <a:off x="7902713" y="4318575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H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06" name="Google Shape;406;p57"/>
          <p:cNvCxnSpPr>
            <a:stCxn id="399" idx="6"/>
            <a:endCxn id="401" idx="2"/>
          </p:cNvCxnSpPr>
          <p:nvPr/>
        </p:nvCxnSpPr>
        <p:spPr>
          <a:xfrm flipH="1" rot="10800000">
            <a:off x="1655313" y="2633825"/>
            <a:ext cx="20613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07" name="Google Shape;407;p57"/>
          <p:cNvCxnSpPr>
            <a:stCxn id="403" idx="7"/>
            <a:endCxn id="404" idx="3"/>
          </p:cNvCxnSpPr>
          <p:nvPr/>
        </p:nvCxnSpPr>
        <p:spPr>
          <a:xfrm flipH="1" rot="10800000">
            <a:off x="3644169" y="3645085"/>
            <a:ext cx="2481300" cy="673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08" name="Google Shape;408;p57"/>
          <p:cNvCxnSpPr>
            <a:stCxn id="405" idx="2"/>
            <a:endCxn id="400" idx="5"/>
          </p:cNvCxnSpPr>
          <p:nvPr/>
        </p:nvCxnSpPr>
        <p:spPr>
          <a:xfrm rot="10800000">
            <a:off x="2702513" y="3810225"/>
            <a:ext cx="5200200" cy="75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9" name="Google Shape;409;p57"/>
          <p:cNvCxnSpPr>
            <a:stCxn id="402" idx="2"/>
            <a:endCxn id="401" idx="6"/>
          </p:cNvCxnSpPr>
          <p:nvPr/>
        </p:nvCxnSpPr>
        <p:spPr>
          <a:xfrm rot="10800000">
            <a:off x="4211963" y="2633700"/>
            <a:ext cx="624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0" name="Google Shape;410;p57"/>
          <p:cNvCxnSpPr>
            <a:stCxn id="404" idx="1"/>
            <a:endCxn id="402" idx="5"/>
          </p:cNvCxnSpPr>
          <p:nvPr/>
        </p:nvCxnSpPr>
        <p:spPr>
          <a:xfrm rot="10800000">
            <a:off x="5259106" y="2808810"/>
            <a:ext cx="866400" cy="486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" name="Google Shape;411;p57"/>
          <p:cNvCxnSpPr>
            <a:stCxn id="403" idx="0"/>
            <a:endCxn id="401" idx="4"/>
          </p:cNvCxnSpPr>
          <p:nvPr/>
        </p:nvCxnSpPr>
        <p:spPr>
          <a:xfrm flipH="1" rot="10800000">
            <a:off x="3469054" y="2881350"/>
            <a:ext cx="495300" cy="1364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12" name="Google Shape;412;p57"/>
          <p:cNvSpPr/>
          <p:nvPr/>
        </p:nvSpPr>
        <p:spPr>
          <a:xfrm>
            <a:off x="7004071" y="2386038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13" name="Google Shape;413;p57"/>
          <p:cNvCxnSpPr>
            <a:stCxn id="412" idx="2"/>
            <a:endCxn id="402" idx="6"/>
          </p:cNvCxnSpPr>
          <p:nvPr/>
        </p:nvCxnSpPr>
        <p:spPr>
          <a:xfrm rot="10800000">
            <a:off x="5331571" y="2633688"/>
            <a:ext cx="1672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4" name="Google Shape;414;p57"/>
          <p:cNvSpPr txBox="1"/>
          <p:nvPr>
            <p:ph idx="1" type="body"/>
          </p:nvPr>
        </p:nvSpPr>
        <p:spPr>
          <a:xfrm>
            <a:off x="525700" y="4503125"/>
            <a:ext cx="1864200" cy="5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Time of Commit</a:t>
            </a:r>
            <a:endParaRPr/>
          </a:p>
        </p:txBody>
      </p:sp>
      <p:cxnSp>
        <p:nvCxnSpPr>
          <p:cNvPr id="415" name="Google Shape;415;p57"/>
          <p:cNvCxnSpPr>
            <a:stCxn id="414" idx="3"/>
          </p:cNvCxnSpPr>
          <p:nvPr/>
        </p:nvCxnSpPr>
        <p:spPr>
          <a:xfrm>
            <a:off x="2389900" y="4787075"/>
            <a:ext cx="532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Approach</a:t>
            </a:r>
            <a:endParaRPr/>
          </a:p>
        </p:txBody>
      </p:sp>
      <p:sp>
        <p:nvSpPr>
          <p:cNvPr id="421" name="Google Shape;421;p5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two approaches: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Work backwards in the reverse direction of the commits storing parents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/>
              <a:t>We don’t have access to this information; git is designed to tell us parents of commits (such as through git log)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/>
              <a:t>This is what we did previously!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Work in the direction of the commits storing parents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/>
              <a:t>We have to grab every single “ending commit” and then work through all the parents until we hit the </a:t>
            </a:r>
            <a:r>
              <a:rPr lang="en"/>
              <a:t>change</a:t>
            </a:r>
            <a:r>
              <a:rPr lang="en"/>
              <a:t> we’re checking for in commit C.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/>
              <a:t>If we don’t hit the change, we can only terminate once we work backwards enough to find commits from all parents that have timestamps </a:t>
            </a:r>
            <a:r>
              <a:rPr i="1" lang="en"/>
              <a:t>before </a:t>
            </a:r>
            <a:r>
              <a:rPr lang="en"/>
              <a:t>commit C.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9"/>
          <p:cNvSpPr txBox="1"/>
          <p:nvPr>
            <p:ph idx="1" type="body"/>
          </p:nvPr>
        </p:nvSpPr>
        <p:spPr>
          <a:xfrm>
            <a:off x="107050" y="402200"/>
            <a:ext cx="85206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approach requires us to work backwards from all commits after the time of the given commit.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It’s also a bit more challenging to implement: we need timestamps and there might be a lot of branches (each with its own ending commit).</a:t>
            </a:r>
            <a:endParaRPr/>
          </a:p>
        </p:txBody>
      </p:sp>
      <p:sp>
        <p:nvSpPr>
          <p:cNvPr id="427" name="Google Shape;427;p5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2</a:t>
            </a:r>
            <a:endParaRPr/>
          </a:p>
        </p:txBody>
      </p:sp>
      <p:sp>
        <p:nvSpPr>
          <p:cNvPr id="428" name="Google Shape;428;p59"/>
          <p:cNvSpPr/>
          <p:nvPr/>
        </p:nvSpPr>
        <p:spPr>
          <a:xfrm>
            <a:off x="1160013" y="2726975"/>
            <a:ext cx="495300" cy="495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9" name="Google Shape;429;p59"/>
          <p:cNvSpPr/>
          <p:nvPr/>
        </p:nvSpPr>
        <p:spPr>
          <a:xfrm>
            <a:off x="2279696" y="3387525"/>
            <a:ext cx="495300" cy="495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0" name="Google Shape;430;p59"/>
          <p:cNvSpPr/>
          <p:nvPr/>
        </p:nvSpPr>
        <p:spPr>
          <a:xfrm>
            <a:off x="3716705" y="238605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22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1" name="Google Shape;431;p59"/>
          <p:cNvSpPr/>
          <p:nvPr/>
        </p:nvSpPr>
        <p:spPr>
          <a:xfrm>
            <a:off x="4836263" y="2386050"/>
            <a:ext cx="495300" cy="495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22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2" name="Google Shape;432;p59"/>
          <p:cNvSpPr/>
          <p:nvPr/>
        </p:nvSpPr>
        <p:spPr>
          <a:xfrm>
            <a:off x="3221404" y="424605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3" name="Google Shape;433;p59"/>
          <p:cNvSpPr/>
          <p:nvPr/>
        </p:nvSpPr>
        <p:spPr>
          <a:xfrm>
            <a:off x="6052971" y="3222275"/>
            <a:ext cx="495300" cy="495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22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4" name="Google Shape;434;p59"/>
          <p:cNvSpPr/>
          <p:nvPr/>
        </p:nvSpPr>
        <p:spPr>
          <a:xfrm>
            <a:off x="7902713" y="4318575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endParaRPr sz="22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35" name="Google Shape;435;p59"/>
          <p:cNvCxnSpPr>
            <a:stCxn id="428" idx="6"/>
            <a:endCxn id="430" idx="2"/>
          </p:cNvCxnSpPr>
          <p:nvPr/>
        </p:nvCxnSpPr>
        <p:spPr>
          <a:xfrm flipH="1" rot="10800000">
            <a:off x="1655313" y="2633825"/>
            <a:ext cx="20613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36" name="Google Shape;436;p59"/>
          <p:cNvCxnSpPr>
            <a:stCxn id="430" idx="3"/>
            <a:endCxn id="429" idx="7"/>
          </p:cNvCxnSpPr>
          <p:nvPr/>
        </p:nvCxnSpPr>
        <p:spPr>
          <a:xfrm flipH="1">
            <a:off x="2702340" y="2808815"/>
            <a:ext cx="1086900" cy="65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7" name="Google Shape;437;p59"/>
          <p:cNvCxnSpPr>
            <a:stCxn id="432" idx="7"/>
            <a:endCxn id="433" idx="3"/>
          </p:cNvCxnSpPr>
          <p:nvPr/>
        </p:nvCxnSpPr>
        <p:spPr>
          <a:xfrm flipH="1" rot="10800000">
            <a:off x="3644169" y="3645085"/>
            <a:ext cx="2481300" cy="673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38" name="Google Shape;438;p59"/>
          <p:cNvCxnSpPr>
            <a:stCxn id="434" idx="2"/>
            <a:endCxn id="429" idx="5"/>
          </p:cNvCxnSpPr>
          <p:nvPr/>
        </p:nvCxnSpPr>
        <p:spPr>
          <a:xfrm rot="10800000">
            <a:off x="2702513" y="3810225"/>
            <a:ext cx="5200200" cy="756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" name="Google Shape;439;p59"/>
          <p:cNvCxnSpPr>
            <a:stCxn id="431" idx="2"/>
            <a:endCxn id="430" idx="6"/>
          </p:cNvCxnSpPr>
          <p:nvPr/>
        </p:nvCxnSpPr>
        <p:spPr>
          <a:xfrm rot="10800000">
            <a:off x="4211963" y="2633700"/>
            <a:ext cx="624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" name="Google Shape;440;p59"/>
          <p:cNvCxnSpPr>
            <a:stCxn id="433" idx="1"/>
            <a:endCxn id="431" idx="5"/>
          </p:cNvCxnSpPr>
          <p:nvPr/>
        </p:nvCxnSpPr>
        <p:spPr>
          <a:xfrm rot="10800000">
            <a:off x="5259106" y="2808810"/>
            <a:ext cx="866400" cy="486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1" name="Google Shape;441;p59"/>
          <p:cNvCxnSpPr>
            <a:stCxn id="432" idx="0"/>
            <a:endCxn id="430" idx="4"/>
          </p:cNvCxnSpPr>
          <p:nvPr/>
        </p:nvCxnSpPr>
        <p:spPr>
          <a:xfrm flipH="1" rot="10800000">
            <a:off x="3469054" y="2881350"/>
            <a:ext cx="495300" cy="1364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42" name="Google Shape;442;p59"/>
          <p:cNvSpPr/>
          <p:nvPr/>
        </p:nvSpPr>
        <p:spPr>
          <a:xfrm>
            <a:off x="7004071" y="2386038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22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43" name="Google Shape;443;p59"/>
          <p:cNvCxnSpPr>
            <a:stCxn id="442" idx="2"/>
            <a:endCxn id="431" idx="6"/>
          </p:cNvCxnSpPr>
          <p:nvPr/>
        </p:nvCxnSpPr>
        <p:spPr>
          <a:xfrm rot="10800000">
            <a:off x="5331571" y="2633688"/>
            <a:ext cx="1672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4" name="Google Shape;444;p59"/>
          <p:cNvSpPr txBox="1"/>
          <p:nvPr>
            <p:ph idx="1" type="body"/>
          </p:nvPr>
        </p:nvSpPr>
        <p:spPr>
          <a:xfrm>
            <a:off x="525700" y="4503125"/>
            <a:ext cx="1864200" cy="5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Time of Commit</a:t>
            </a:r>
            <a:endParaRPr/>
          </a:p>
        </p:txBody>
      </p:sp>
      <p:cxnSp>
        <p:nvCxnSpPr>
          <p:cNvPr id="445" name="Google Shape;445;p59"/>
          <p:cNvCxnSpPr>
            <a:stCxn id="444" idx="3"/>
          </p:cNvCxnSpPr>
          <p:nvPr/>
        </p:nvCxnSpPr>
        <p:spPr>
          <a:xfrm>
            <a:off x="2389900" y="4787075"/>
            <a:ext cx="532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</a:t>
            </a:r>
            <a:endParaRPr/>
          </a:p>
        </p:txBody>
      </p:sp>
      <p:sp>
        <p:nvSpPr>
          <p:cNvPr id="451" name="Google Shape;451;p60"/>
          <p:cNvSpPr txBox="1"/>
          <p:nvPr>
            <p:ph idx="1" type="body"/>
          </p:nvPr>
        </p:nvSpPr>
        <p:spPr>
          <a:xfrm>
            <a:off x="107050" y="402200"/>
            <a:ext cx="8520600" cy="11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solution comes in the way that we store data!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normally think about Git in a commit/parent relationship. For example:</a:t>
            </a:r>
            <a:endParaRPr/>
          </a:p>
        </p:txBody>
      </p:sp>
      <p:sp>
        <p:nvSpPr>
          <p:cNvPr id="452" name="Google Shape;452;p60"/>
          <p:cNvSpPr txBox="1"/>
          <p:nvPr>
            <p:ph idx="1" type="body"/>
          </p:nvPr>
        </p:nvSpPr>
        <p:spPr>
          <a:xfrm>
            <a:off x="107050" y="2833800"/>
            <a:ext cx="85206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the direction of the edges was reversed? That way, a BFS from the commit can be done </a:t>
            </a:r>
            <a:r>
              <a:rPr i="1" lang="en"/>
              <a:t>forward </a:t>
            </a:r>
            <a:r>
              <a:rPr lang="en"/>
              <a:t>in time to find deployments that contain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could  be implemented using an adjacency list as opposed to storing just one (or two) parent(s) since a commit can only have one parent (two if it’s a merge commit), but it could have infinite children.</a:t>
            </a:r>
            <a:endParaRPr/>
          </a:p>
        </p:txBody>
      </p:sp>
      <p:pic>
        <p:nvPicPr>
          <p:cNvPr id="453" name="Google Shape;45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763" y="1727550"/>
            <a:ext cx="8292475" cy="1051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Solution, Continued</a:t>
            </a:r>
            <a:endParaRPr/>
          </a:p>
        </p:txBody>
      </p:sp>
      <p:sp>
        <p:nvSpPr>
          <p:cNvPr id="459" name="Google Shape;459;p6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incorporate more time-based optimizations to restrict the search, but here’s the general idea: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Build a git commit graph in reverse order, storing mappings from commits to a list of children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Generate a set of the deployed commits (separate from the graph)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/>
              <a:t>Why might I want to use a set instead of a list?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/>
              <a:t>Runtime! A HashSet gives me amortized constant runtime as opposed to a LinkedList or an ArrayList.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 a BFS from the input commit and check if commits traversed are in the deployed commits.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/>
              <a:t>We could take multiple input commits here and compute only step 3.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is much faster! No more manual binary search! Obvious </a:t>
            </a:r>
            <a:r>
              <a:rPr i="1" lang="en"/>
              <a:t>and </a:t>
            </a:r>
            <a:r>
              <a:rPr lang="en"/>
              <a:t>modular!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problem itself is a subproblem of a larger project which is simpler to solve.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2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27, CS61B, Fall 2023</a:t>
            </a:r>
            <a:endParaRPr/>
          </a:p>
        </p:txBody>
      </p:sp>
      <p:sp>
        <p:nvSpPr>
          <p:cNvPr id="465" name="Google Shape;465;p62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Background</a:t>
            </a:r>
            <a:endParaRPr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Complexity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Strategic vs Tactical Programming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Retool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Commit History Traversal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Summary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62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Good code is more than just working code. Code (and complexity) scales with functionality and poses more challenges to effectively maintain.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	Practice good design principles in your classes!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real world will give you ambiguous problems with loosely defined constraints; it is your duty to make sense of these and then leverage your skills to select the best </a:t>
            </a:r>
            <a:r>
              <a:rPr lang="en"/>
              <a:t>solutions</a:t>
            </a:r>
            <a:r>
              <a:rPr lang="en"/>
              <a:t> given constraints while considering tradeoffs.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this kind of content sounded interesting to you - check out engineering blogs! I also </a:t>
            </a:r>
            <a:r>
              <a:rPr lang="en" u="sng">
                <a:solidFill>
                  <a:schemeClr val="hlink"/>
                </a:solidFill>
                <a:hlinkClick r:id="rId3"/>
              </a:rPr>
              <a:t>write about similar topics</a:t>
            </a:r>
            <a:r>
              <a:rPr lang="en"/>
              <a:t>.</a:t>
            </a:r>
            <a:endParaRPr/>
          </a:p>
        </p:txBody>
      </p:sp>
      <p:sp>
        <p:nvSpPr>
          <p:cNvPr id="472" name="Google Shape;472;p6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