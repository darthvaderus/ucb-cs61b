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Roboto Medium"/>
      <p:regular r:id="rId64"/>
      <p:bold r:id="rId65"/>
      <p:italic r:id="rId66"/>
      <p:boldItalic r:id="rId67"/>
    </p:embeddedFont>
    <p:embeddedFont>
      <p:font typeface="Roboto"/>
      <p:regular r:id="rId68"/>
      <p:bold r:id="rId69"/>
      <p:italic r:id="rId70"/>
      <p:boldItalic r:id="rId71"/>
    </p:embeddedFont>
    <p:embeddedFont>
      <p:font typeface="Roboto Light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83FCBE-742E-4D1B-A467-25AE52B67359}">
  <a:tblStyle styleId="{9E83FCBE-742E-4D1B-A467-25AE52B673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D119730-6714-43CB-AF46-6103592D6F2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Light-bold.fntdata"/><Relationship Id="rId72" Type="http://schemas.openxmlformats.org/officeDocument/2006/relationships/font" Target="fonts/RobotoLight-regular.fntdata"/><Relationship Id="rId31" Type="http://schemas.openxmlformats.org/officeDocument/2006/relationships/slide" Target="slides/slide26.xml"/><Relationship Id="rId75" Type="http://schemas.openxmlformats.org/officeDocument/2006/relationships/font" Target="fonts/RobotoLight-boldItalic.fntdata"/><Relationship Id="rId30" Type="http://schemas.openxmlformats.org/officeDocument/2006/relationships/slide" Target="slides/slide25.xml"/><Relationship Id="rId74" Type="http://schemas.openxmlformats.org/officeDocument/2006/relationships/font" Target="fonts/RobotoLight-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-boldItalic.fntdata"/><Relationship Id="rId70" Type="http://schemas.openxmlformats.org/officeDocument/2006/relationships/font" Target="fonts/Roboto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RobotoMedium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RobotoMedium-italic.fntdata"/><Relationship Id="rId21" Type="http://schemas.openxmlformats.org/officeDocument/2006/relationships/slide" Target="slides/slide16.xml"/><Relationship Id="rId65" Type="http://schemas.openxmlformats.org/officeDocument/2006/relationships/font" Target="fonts/RobotoMedium-bold.fntdata"/><Relationship Id="rId24" Type="http://schemas.openxmlformats.org/officeDocument/2006/relationships/slide" Target="slides/slide19.xml"/><Relationship Id="rId68" Type="http://schemas.openxmlformats.org/officeDocument/2006/relationships/font" Target="fonts/Roboto-regular.fntdata"/><Relationship Id="rId23" Type="http://schemas.openxmlformats.org/officeDocument/2006/relationships/slide" Target="slides/slide18.xml"/><Relationship Id="rId67" Type="http://schemas.openxmlformats.org/officeDocument/2006/relationships/font" Target="fonts/RobotoMedium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constructionphotography.com/ImageThumbs/A168-02831/3/A168-02831_plastic_bottles_sorted_by_colour_compressed_into_bales_and_ready_for_recycling.jpg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frlHah_Jp0nbeqClX3HN3jx0X047x5ql5y4lhMBI5mqkJEaA/viewform" TargetMode="Externa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c76f41cc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c76f41cc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http://www.constructionphotography.com/ImageThumbs/A168-02831/3/A168-02831_plastic_bottles_sorted_by_colour_compressed_into_bales_and_ready_for_recycling.jpg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c76f41cce_0_4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c76f41cce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10b7aa81c_0_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10b7aa81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10b7aa81c_0_1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10b7aa81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10b7aa81c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10b7aa8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10b7aa81c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10b7aa8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10b7aa81c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10b7aa8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https://i.ytimg.com/vi/lEF3SPhz5Q8/maxresdefault.jpg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10b7aa81c_0_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10b7aa81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https://i.ytimg.com/vi/lEF3SPhz5Q8/maxresdefault.jpg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510b7aa81c_0_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510b7aa81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d76fccf63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d76fccf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c76f41cce_0_4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2c76f41cce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eb7e24aa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eb7e24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eb7e24aa_0_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6eb7e24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b16f43a3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b16f43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f68bd1986_0_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f68bd198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f68bd1986_0_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5f68bd198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f68bd1986_0_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5f68bd198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5f68bd1986_0_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5f68bd198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f68bd1986_0_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5f68bd198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5f68bd1986_0_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5f68bd198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5f68bd1986_0_1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5f68bd198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f68bd1986_0_1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f68bd198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5f68bd1986_0_15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5f68bd198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5f68bd1986_0_1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5f68bd198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5f68bd1986_0_2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5f68bd198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5f68bd1986_0_21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5f68bd198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5f68bd1986_0_2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5f68bd198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5f68bd1986_0_2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5f68bd198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5f68bd1986_0_2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5f68bd1986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5f68bd1986_0_2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5f68bd1986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5f68bd1986_0_3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5f68bd1986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f68bd1986_0_3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5f68bd198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6eb7e24aa_0_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6eb7e24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d76fccf63_0_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1d76fccf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6dd4c9e30c37d0ef_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6dd4c9e30c37d0ef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https://i.ytimg.com/vi/lEF3SPhz5Q8/maxresdefault.jpg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d76fccf63_0_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d76fccf6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https://i.ytimg.com/vi/lEF3SPhz5Q8/maxresdefault.jpg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6dd4c9e30c37d0ef_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6dd4c9e30c37d0ef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Einstein, Schrodinger, Fermi, Heisenberg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6eb7e24aa_0_4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6eb7e24a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2c76f41cce_0_4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22c76f41cce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6dd4c9e30c37d0ef_10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6dd4c9e30c37d0ef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984e2b919_0_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984e2b9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984e2b919_0_9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984e2b91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984e2b919_0_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984e2b91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984e2b919_0_1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984e2b91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2af6a6403_0_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12af6a640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2c76f41cce_0_4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2c76f41cce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984e2b919_0_1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984e2b91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465e07215_0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465e07215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465e07215_0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465e07215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465e07215_0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465e07215_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https://docs.google.com/forms/d/e/1FAIpQLSfrlHah_Jp0nbeqClX3HN3jx0X047x5ql5y4lhMBI5mqkJEaA/viewform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465fbc6ea_13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465fbc6ea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465e07215_0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465e07215_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4671a419d_0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4671a419d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 to here without the earlier question on stability.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5f6dec5342_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5f6dec53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 to here without the earlier question on stability.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5f6dec5342_1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5f6dec5342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 to here without the earlier question on stability.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465fbc6ea_129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465fbc6ea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2c76f41cce_0_4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2c76f41cc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4671a419d_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4671a419d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h9qHvSlDFn0WqoxB4v6ZaeEXEepsuwVM78uO4UNeKH0/edit#slide=id.g239d559103d_1_145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://www.cs.dartmouth.edu/~doug/mdmspe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eb.archive.org/web/20100428064017/http://permalink.gmane.org/gmane.comp.java.openjdk.core-libs.devel/2628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www.cs.princeton.edu/~wayne/cs423/lectures/selection-4up.pdf" TargetMode="External"/><Relationship Id="rId4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://goo.gl/3sYnv3" TargetMode="External"/><Relationship Id="rId4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youtube.com/watch?v=kPRA0W1kECg&amp;t=3m37s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www.youtube.com/watch?v=kPRA0W1kECg" TargetMode="External"/><Relationship Id="rId4" Type="http://schemas.openxmlformats.org/officeDocument/2006/relationships/hyperlink" Target="https://www.youtube.com/watch?v=kPRA0W1kECg&amp;t=0m9s" TargetMode="External"/><Relationship Id="rId9" Type="http://schemas.openxmlformats.org/officeDocument/2006/relationships/hyperlink" Target="https://www.youtube.com/watch?v=kPRA0W1kECg&amp;t=2m10s" TargetMode="External"/><Relationship Id="rId5" Type="http://schemas.openxmlformats.org/officeDocument/2006/relationships/hyperlink" Target="https://www.youtube.com/watch?v=kPRA0W1kECg&amp;t=0m38s" TargetMode="External"/><Relationship Id="rId6" Type="http://schemas.openxmlformats.org/officeDocument/2006/relationships/hyperlink" Target="https://www.youtube.com/watch?v=kPRA0W1kECg&amp;t=1m05s" TargetMode="External"/><Relationship Id="rId7" Type="http://schemas.openxmlformats.org/officeDocument/2006/relationships/hyperlink" Target="https://www.youtube.com/watch?v=kPRA0W1kECg&amp;t=1m28s" TargetMode="External"/><Relationship Id="rId8" Type="http://schemas.openxmlformats.org/officeDocument/2006/relationships/hyperlink" Target="https://www.youtube.com/watch?v=kPRA0W1kECg&amp;t=1m54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More Quicksort, Quick Select, Stability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32 (Sorting 3)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550" y="278450"/>
            <a:ext cx="3078890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Quicksort Variants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Philosophies for Avoiding Worst Case Behavior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Quicksort Variant Experiments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 Select (median finding)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Sorting Stability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Sounds of Sorting</a:t>
            </a:r>
            <a:endParaRPr/>
          </a:p>
        </p:txBody>
      </p:sp>
      <p:sp>
        <p:nvSpPr>
          <p:cNvPr id="155" name="Google Shape;155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Philosophies for Avoiding Worst Case Quicksort Behavior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 Sort, a.k.a. Quicksort</a:t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>
            <a:off x="2377588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2862777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352117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3837306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4322048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4807238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5296578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5781767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6271142" y="2121625"/>
            <a:ext cx="4953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862300" y="2809325"/>
            <a:ext cx="1781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partition(32)</a:t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2377588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2862777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3352117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3837306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4322048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4807238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296578" y="349322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81767" y="349322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6271142" y="349322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/>
          <p:nvPr/>
        </p:nvSpPr>
        <p:spPr>
          <a:xfrm rot="-5400000">
            <a:off x="3938777" y="1624125"/>
            <a:ext cx="260700" cy="3380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 rot="-5400000">
            <a:off x="6376127" y="3078225"/>
            <a:ext cx="260700" cy="4719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4160175" y="2942525"/>
            <a:ext cx="8307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&lt;= 32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6555525" y="2977250"/>
            <a:ext cx="8307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&gt;= 32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 rot="-5400000">
            <a:off x="5881512" y="3101500"/>
            <a:ext cx="260700" cy="439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5723676" y="2603315"/>
            <a:ext cx="8307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its place</a:t>
            </a:r>
            <a:endParaRPr/>
          </a:p>
        </p:txBody>
      </p:sp>
      <p:cxnSp>
        <p:nvCxnSpPr>
          <p:cNvPr id="186" name="Google Shape;186;p26"/>
          <p:cNvCxnSpPr>
            <a:stCxn id="161" idx="1"/>
            <a:endCxn id="171" idx="1"/>
          </p:cNvCxnSpPr>
          <p:nvPr/>
        </p:nvCxnSpPr>
        <p:spPr>
          <a:xfrm>
            <a:off x="2377588" y="2369275"/>
            <a:ext cx="600" cy="13716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6"/>
          <p:cNvSpPr txBox="1"/>
          <p:nvPr/>
        </p:nvSpPr>
        <p:spPr>
          <a:xfrm>
            <a:off x="243000" y="4037225"/>
            <a:ext cx="84438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Run time is Θ(N log N) in the best case, Θ(N</a:t>
            </a:r>
            <a:r>
              <a:rPr baseline="30000" lang="en" sz="18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) in the worst case, and Θ(N log N) in the average case.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Quicksorting N items: (</a:t>
            </a:r>
            <a:r>
              <a:rPr lang="en" u="sng">
                <a:solidFill>
                  <a:schemeClr val="hlink"/>
                </a:solidFill>
                <a:hlinkClick r:id="rId3"/>
              </a:rPr>
              <a:t>Demo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Partition on leftmost item.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Quicksort left half.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Quicksort right half.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the Worst Case: Question from Last Time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pivot always lands somewhere “good”, Quicksort is Θ(N log N). However, the very rare Θ(N</a:t>
            </a:r>
            <a:r>
              <a:rPr baseline="30000" lang="en"/>
              <a:t>2</a:t>
            </a:r>
            <a:r>
              <a:rPr lang="en"/>
              <a:t>) cases do happen in practice, e.g.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ordering: Array already in sorted order (or almost sorted order).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elements: Array with all duplicates.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can we do to avoid worst case behavior?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Recall, our version of Quicksort has the following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Leftmost item is always chosen as the pivot.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partitioning algorithm preserves the relative order of &lt;= and &gt;= items.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/>
          <p:nvPr/>
        </p:nvSpPr>
        <p:spPr>
          <a:xfrm>
            <a:off x="905499" y="4521825"/>
            <a:ext cx="412500" cy="378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1309513" y="4521825"/>
            <a:ext cx="412500" cy="378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1716984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2120999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2524641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2928655" y="4521825"/>
            <a:ext cx="412500" cy="378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3336126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4809085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213213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5620800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6024928" y="4521825"/>
            <a:ext cx="412500" cy="378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6428684" y="4521825"/>
            <a:ext cx="412500" cy="378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6832812" y="4521825"/>
            <a:ext cx="412500" cy="378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7240398" y="4521825"/>
            <a:ext cx="412500" cy="378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the Worst Case: My Answers </a:t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can we do to avoid running into the worst case for QuickSort?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Four philosophies: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b="1" lang="en"/>
              <a:t>Randomness</a:t>
            </a:r>
            <a:r>
              <a:rPr lang="en"/>
              <a:t>: Pick a random pivot or shuffle before sorting.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b="1" lang="en"/>
              <a:t>Smarter pivot selection</a:t>
            </a:r>
            <a:r>
              <a:rPr lang="en"/>
              <a:t>: Calculate or approximate the median.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b="1" lang="en"/>
              <a:t>Introspection</a:t>
            </a:r>
            <a:r>
              <a:rPr lang="en"/>
              <a:t>: Switch to a safer sort if recursion goes to deep.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b="1" lang="en"/>
              <a:t>Preprocess the array</a:t>
            </a:r>
            <a:r>
              <a:rPr lang="en"/>
              <a:t>: Could analyze array to see if Quicksort will be slow. No obvious way to do this, though (can’t just check if array is sorted, almost sorted arrays are almost slow).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1: Randomness (My Preferred Approach)</a:t>
            </a:r>
            <a:endParaRPr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pivot always lands somewhere “good”, Quicksort is Θ(N log N). However, the very rare Θ(N</a:t>
            </a:r>
            <a:r>
              <a:rPr baseline="30000" lang="en"/>
              <a:t>2</a:t>
            </a:r>
            <a:r>
              <a:rPr lang="en"/>
              <a:t>) cases do happen in practice, e.g.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ordering: Array already in sorted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elements: Array with all duplicates. </a:t>
            </a:r>
            <a:endParaRPr/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875" y="1625475"/>
            <a:ext cx="2414425" cy="32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9"/>
          <p:cNvSpPr txBox="1"/>
          <p:nvPr/>
        </p:nvSpPr>
        <p:spPr>
          <a:xfrm>
            <a:off x="76200" y="2071100"/>
            <a:ext cx="64215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Dealing with bad ordering: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Strategy #1: Pick pivots randomly.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Strategy #2: Shuffle before you sort.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second strategy requires care in partitioning code to avoid Θ(N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behavior on arrays of duplicates.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Common bug, even in a well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known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2010s textbook.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2a: Smarter Pivot Selection (constant time pivot pick)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Randomness is necessary for best Quicksort performance! For any pivot selection procedure that is: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Deterministic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Constant Time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2722075" y="4700875"/>
            <a:ext cx="18483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Dangerous input</a:t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2071800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2450300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2828799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3207299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3964298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4342797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4721297" y="4226650"/>
            <a:ext cx="383700" cy="3519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3585798" y="4226650"/>
            <a:ext cx="383700" cy="3519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30"/>
          <p:cNvCxnSpPr>
            <a:stCxn id="236" idx="3"/>
            <a:endCxn id="239" idx="2"/>
          </p:cNvCxnSpPr>
          <p:nvPr/>
        </p:nvCxnSpPr>
        <p:spPr>
          <a:xfrm flipH="1" rot="10800000">
            <a:off x="5104997" y="4015000"/>
            <a:ext cx="2194200" cy="387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9" name="Google Shape;2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825" y="1566275"/>
            <a:ext cx="3120600" cy="24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/>
        </p:nvSpPr>
        <p:spPr>
          <a:xfrm>
            <a:off x="63811" y="2504975"/>
            <a:ext cx="5495700" cy="14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resulting Quicksort has a family of dangerous inputs that an adversary could easily generate.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See McIlroy’s “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 Killer Adversary for Quicksort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2b: Smarter Pivot Selection (linear time pivot pick)</a:t>
            </a:r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Could calculate the actual median in linear time.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“Exact median Quicksort” is safe: Worst case Θ(N log N), but it is slower than Mergesort.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Raises interesting question though: How do you compute the median of an array? Will talk about how to do this later today.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3: Introspection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simply watch your recursion depth.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it exceeds some critical value (say 10 ln N), switch to mergesort.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Perfectly reasonable approach, though not super common in practice.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Summary (so far)</a:t>
            </a:r>
            <a:endParaRPr/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Listed by mechanism: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sort: Find the smallest item and put it at the front.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Insertion sort: Figure out where to insert the current item.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 sort: Merge two sorted halves into one sorted whole.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(quick) sort: Partition items around a pivot.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Listed by memory and runtime: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9" name="Google Shape;259;p33"/>
          <p:cNvGraphicFramePr/>
          <p:nvPr/>
        </p:nvGraphicFramePr>
        <p:xfrm>
          <a:off x="826864" y="309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Time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Heapsort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Bad caching (61C)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Insertion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 if almost sorted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Quicksort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Θ(log N) expected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 expected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Quicksort Variants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Philosophies for Avoiding Worst Case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Quicksort Variant Experiments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 Select (median finding)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Sorting Stability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Sounds of Sorting</a:t>
            </a:r>
            <a:endParaRPr/>
          </a:p>
        </p:txBody>
      </p:sp>
      <p:sp>
        <p:nvSpPr>
          <p:cNvPr id="266" name="Google Shape;266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Quicksort Variant Experiments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Quicksort Flavors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107050" y="402200"/>
            <a:ext cx="887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said Quicksort is the fastest, but this is only true if we make the right decisions about: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Pivot selection.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algorithm.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we deal with avoiding the worst case (can be covered by the above choices).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run a speed test of  Mergesort vs. Quicksort from last time, which had: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Pivot selection: Always use </a:t>
            </a:r>
            <a:r>
              <a:rPr b="1" lang="en">
                <a:solidFill>
                  <a:schemeClr val="accent4"/>
                </a:solidFill>
              </a:rPr>
              <a:t>leftmost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algorithm: Make an array copy then do </a:t>
            </a:r>
            <a:r>
              <a:rPr b="1" lang="en">
                <a:solidFill>
                  <a:schemeClr val="accent4"/>
                </a:solidFill>
              </a:rPr>
              <a:t>three</a:t>
            </a:r>
            <a:r>
              <a:rPr lang="en"/>
              <a:t> scans for red, white, and blue items (white scan trivially finishes in one compare).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4"/>
                </a:solidFill>
              </a:rPr>
              <a:t>Shuffle</a:t>
            </a:r>
            <a:r>
              <a:rPr b="1" lang="en"/>
              <a:t> </a:t>
            </a:r>
            <a:r>
              <a:rPr lang="en"/>
              <a:t>before starting (to avoid worst case).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6067725" y="2188367"/>
            <a:ext cx="3090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We’ll call this </a:t>
            </a:r>
            <a:r>
              <a:rPr b="1" lang="en">
                <a:solidFill>
                  <a:schemeClr val="accent4"/>
                </a:solidFill>
              </a:rPr>
              <a:t>Quicksort L3S</a:t>
            </a:r>
            <a:endParaRPr b="1">
              <a:solidFill>
                <a:schemeClr val="accent4"/>
              </a:solidFill>
            </a:endParaRPr>
          </a:p>
        </p:txBody>
      </p:sp>
      <p:cxnSp>
        <p:nvCxnSpPr>
          <p:cNvPr id="274" name="Google Shape;274;p35"/>
          <p:cNvCxnSpPr/>
          <p:nvPr/>
        </p:nvCxnSpPr>
        <p:spPr>
          <a:xfrm flipH="1">
            <a:off x="5066900" y="2407875"/>
            <a:ext cx="1013100" cy="3231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Quicksort vs. Mergesort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243000" y="2346200"/>
            <a:ext cx="8443800" cy="23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Quicksort didn’t do so well!</a:t>
            </a:r>
            <a:endParaRPr/>
          </a:p>
        </p:txBody>
      </p:sp>
      <p:graphicFrame>
        <p:nvGraphicFramePr>
          <p:cNvPr id="281" name="Google Shape;281;p36"/>
          <p:cNvGraphicFramePr/>
          <p:nvPr/>
        </p:nvGraphicFramePr>
        <p:xfrm>
          <a:off x="774125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{CD119730-6714-43CB-AF46-6103592D6F28}</a:tableStyleId>
              </a:tblPr>
              <a:tblGrid>
                <a:gridCol w="1488175"/>
                <a:gridCol w="1371375"/>
                <a:gridCol w="1429775"/>
                <a:gridCol w="1429775"/>
                <a:gridCol w="1750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Pivot Selection Strategy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Partition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 Avoidance Strategy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to sort 1000 arrays of 10000 ints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.3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</a:t>
                      </a:r>
                      <a:r>
                        <a:rPr b="1" lang="en">
                          <a:solidFill>
                            <a:schemeClr val="accent4"/>
                          </a:solidFill>
                        </a:rPr>
                        <a:t>L</a:t>
                      </a:r>
                      <a:r>
                        <a:rPr b="1" lang="en">
                          <a:solidFill>
                            <a:schemeClr val="accent4"/>
                          </a:solidFill>
                        </a:rPr>
                        <a:t>3S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Leftmost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3-scan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Shuffle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</a:t>
                      </a:r>
                      <a:r>
                        <a:rPr lang="en"/>
                        <a:t>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p36"/>
          <p:cNvSpPr txBox="1"/>
          <p:nvPr/>
        </p:nvSpPr>
        <p:spPr>
          <a:xfrm>
            <a:off x="23" y="4406900"/>
            <a:ext cx="49824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These are unoptimized versions of mergesort and quicksort, i.e. no switching to insertion sort for small arrays.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Tony Hoare’s In-place Partitioning Scheme</a:t>
            </a:r>
            <a:endParaRPr/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Tony originally proposed a scheme where two pointers walk towards each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Left pointer loves small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Right pointer loves large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idea: Walk towards each other, swapping anything they don’t like.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End result is that things on left are “small” and things on the right are “large”.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(N</a:t>
            </a:r>
            <a:r>
              <a:rPr lang="en"/>
              <a:t>ote: The demo we'll show is not the exact scheme Tony used)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this partitioning scheme yields a very fast Quicksort.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 faster schemes have been found since.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runtime still depends crucially on pivot selection strategy!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294" name="Google Shape;294;p3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5" name="Google Shape;295;p38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341072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6829150" y="3827125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</a:t>
            </a:r>
            <a:r>
              <a:rPr lang="en"/>
              <a:t>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13" name="Google Shape;313;p39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9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341072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6829150" y="3827125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39"/>
          <p:cNvSpPr/>
          <p:nvPr/>
        </p:nvSpPr>
        <p:spPr>
          <a:xfrm rot="10800000">
            <a:off x="13743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 txBox="1"/>
          <p:nvPr/>
        </p:nvSpPr>
        <p:spPr>
          <a:xfrm>
            <a:off x="1462675" y="4278850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Hello, lovely 15.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3" name="Google Shape;333;p40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0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39017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6829150" y="3827125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40"/>
          <p:cNvSpPr/>
          <p:nvPr/>
        </p:nvSpPr>
        <p:spPr>
          <a:xfrm rot="10800000">
            <a:off x="19077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0"/>
          <p:cNvSpPr txBox="1"/>
          <p:nvPr/>
        </p:nvSpPr>
        <p:spPr>
          <a:xfrm>
            <a:off x="1996075" y="4278850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Grrr…… 19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352" name="Google Shape;352;p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3" name="Google Shape;353;p41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1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1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1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1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1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1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1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39017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6829150" y="3827125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41"/>
          <p:cNvSpPr/>
          <p:nvPr/>
        </p:nvSpPr>
        <p:spPr>
          <a:xfrm rot="10800000">
            <a:off x="6727725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1"/>
          <p:cNvSpPr txBox="1"/>
          <p:nvPr/>
        </p:nvSpPr>
        <p:spPr>
          <a:xfrm>
            <a:off x="6829150" y="432679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dislike 17.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372" name="Google Shape;372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When both pointers have stopped, swap and move pointers by one.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3" name="Google Shape;373;p42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2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2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2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2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2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2"/>
          <p:cNvSpPr txBox="1"/>
          <p:nvPr/>
        </p:nvSpPr>
        <p:spPr>
          <a:xfrm>
            <a:off x="39017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42"/>
          <p:cNvSpPr txBox="1"/>
          <p:nvPr/>
        </p:nvSpPr>
        <p:spPr>
          <a:xfrm>
            <a:off x="6829150" y="3827125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p42"/>
          <p:cNvSpPr/>
          <p:nvPr/>
        </p:nvSpPr>
        <p:spPr>
          <a:xfrm rot="10800000">
            <a:off x="6727725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2"/>
          <p:cNvSpPr txBox="1"/>
          <p:nvPr/>
        </p:nvSpPr>
        <p:spPr>
          <a:xfrm>
            <a:off x="6829150" y="432679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 to swap.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7" name="Google Shape;387;p42"/>
          <p:cNvSpPr/>
          <p:nvPr/>
        </p:nvSpPr>
        <p:spPr>
          <a:xfrm rot="10800000">
            <a:off x="19077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2"/>
          <p:cNvSpPr txBox="1"/>
          <p:nvPr/>
        </p:nvSpPr>
        <p:spPr>
          <a:xfrm>
            <a:off x="1962125" y="427884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 to swap.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394" name="Google Shape;394;p4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When both pointers have stopped, swap and move pointers by one.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95" name="Google Shape;395;p43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3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3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3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3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3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3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3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3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3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3"/>
          <p:cNvSpPr txBox="1"/>
          <p:nvPr/>
        </p:nvSpPr>
        <p:spPr>
          <a:xfrm>
            <a:off x="43589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43"/>
          <p:cNvSpPr txBox="1"/>
          <p:nvPr/>
        </p:nvSpPr>
        <p:spPr>
          <a:xfrm>
            <a:off x="63295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43"/>
          <p:cNvSpPr/>
          <p:nvPr/>
        </p:nvSpPr>
        <p:spPr>
          <a:xfrm rot="10800000">
            <a:off x="6239443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3"/>
          <p:cNvSpPr txBox="1"/>
          <p:nvPr/>
        </p:nvSpPr>
        <p:spPr>
          <a:xfrm>
            <a:off x="6340868" y="432679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Swapped.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9" name="Google Shape;409;p43"/>
          <p:cNvSpPr/>
          <p:nvPr/>
        </p:nvSpPr>
        <p:spPr>
          <a:xfrm rot="10800000">
            <a:off x="24411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3"/>
          <p:cNvSpPr txBox="1"/>
          <p:nvPr/>
        </p:nvSpPr>
        <p:spPr>
          <a:xfrm>
            <a:off x="2495525" y="427884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Swapped.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416" name="Google Shape;416;p4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17" name="Google Shape;417;p44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4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4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4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4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4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4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4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4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4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4"/>
          <p:cNvSpPr txBox="1"/>
          <p:nvPr/>
        </p:nvSpPr>
        <p:spPr>
          <a:xfrm>
            <a:off x="43589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44"/>
          <p:cNvSpPr/>
          <p:nvPr/>
        </p:nvSpPr>
        <p:spPr>
          <a:xfrm rot="10800000">
            <a:off x="24411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4"/>
          <p:cNvSpPr txBox="1"/>
          <p:nvPr/>
        </p:nvSpPr>
        <p:spPr>
          <a:xfrm>
            <a:off x="2495525" y="4278850"/>
            <a:ext cx="1798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Immediate trouble.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63295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436" name="Google Shape;436;p4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pointers cross, you are done.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7" name="Google Shape;437;p45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5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5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5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5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5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5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5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5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5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5"/>
          <p:cNvSpPr txBox="1"/>
          <p:nvPr/>
        </p:nvSpPr>
        <p:spPr>
          <a:xfrm>
            <a:off x="43589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45"/>
          <p:cNvSpPr txBox="1"/>
          <p:nvPr/>
        </p:nvSpPr>
        <p:spPr>
          <a:xfrm>
            <a:off x="63295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45"/>
          <p:cNvSpPr/>
          <p:nvPr/>
        </p:nvSpPr>
        <p:spPr>
          <a:xfrm rot="10800000">
            <a:off x="6239443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5"/>
          <p:cNvSpPr txBox="1"/>
          <p:nvPr/>
        </p:nvSpPr>
        <p:spPr>
          <a:xfrm>
            <a:off x="6340876" y="4326800"/>
            <a:ext cx="1724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Trouble here, too.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456" name="Google Shape;456;p4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When both pointers have stopped, swap and move pointers by one.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7" name="Google Shape;457;p46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6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6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6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6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6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6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6"/>
          <p:cNvSpPr txBox="1"/>
          <p:nvPr/>
        </p:nvSpPr>
        <p:spPr>
          <a:xfrm>
            <a:off x="43589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8" name="Google Shape;468;p46"/>
          <p:cNvSpPr txBox="1"/>
          <p:nvPr/>
        </p:nvSpPr>
        <p:spPr>
          <a:xfrm>
            <a:off x="63295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46"/>
          <p:cNvSpPr/>
          <p:nvPr/>
        </p:nvSpPr>
        <p:spPr>
          <a:xfrm rot="10800000">
            <a:off x="6194325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6"/>
          <p:cNvSpPr txBox="1"/>
          <p:nvPr/>
        </p:nvSpPr>
        <p:spPr>
          <a:xfrm>
            <a:off x="6295750" y="432679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 to swap.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1" name="Google Shape;471;p46"/>
          <p:cNvSpPr/>
          <p:nvPr/>
        </p:nvSpPr>
        <p:spPr>
          <a:xfrm rot="10800000">
            <a:off x="23649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6"/>
          <p:cNvSpPr txBox="1"/>
          <p:nvPr/>
        </p:nvSpPr>
        <p:spPr>
          <a:xfrm>
            <a:off x="2419325" y="427884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 to swap.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478" name="Google Shape;478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When both pointers have stopped, swap and move pointers by one.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9" name="Google Shape;479;p47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7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7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7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7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7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7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7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7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7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7"/>
          <p:cNvSpPr txBox="1"/>
          <p:nvPr/>
        </p:nvSpPr>
        <p:spPr>
          <a:xfrm>
            <a:off x="48923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58723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47"/>
          <p:cNvSpPr/>
          <p:nvPr/>
        </p:nvSpPr>
        <p:spPr>
          <a:xfrm rot="10800000">
            <a:off x="5737125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7"/>
          <p:cNvSpPr txBox="1"/>
          <p:nvPr/>
        </p:nvSpPr>
        <p:spPr>
          <a:xfrm>
            <a:off x="5838550" y="432679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Swapped!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3" name="Google Shape;493;p47"/>
          <p:cNvSpPr/>
          <p:nvPr/>
        </p:nvSpPr>
        <p:spPr>
          <a:xfrm rot="10800000">
            <a:off x="28983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7"/>
          <p:cNvSpPr txBox="1"/>
          <p:nvPr/>
        </p:nvSpPr>
        <p:spPr>
          <a:xfrm>
            <a:off x="2952725" y="427884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Swapped!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500" name="Google Shape;500;p4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1" name="Google Shape;501;p48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8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8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8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8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8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8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8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8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8"/>
          <p:cNvSpPr txBox="1"/>
          <p:nvPr/>
        </p:nvSpPr>
        <p:spPr>
          <a:xfrm>
            <a:off x="48923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48"/>
          <p:cNvSpPr txBox="1"/>
          <p:nvPr/>
        </p:nvSpPr>
        <p:spPr>
          <a:xfrm>
            <a:off x="58723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48"/>
          <p:cNvSpPr/>
          <p:nvPr/>
        </p:nvSpPr>
        <p:spPr>
          <a:xfrm rot="10800000">
            <a:off x="2898325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8"/>
          <p:cNvSpPr txBox="1"/>
          <p:nvPr/>
        </p:nvSpPr>
        <p:spPr>
          <a:xfrm>
            <a:off x="2952725" y="427884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 is cool.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520" name="Google Shape;520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1" name="Google Shape;521;p49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9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9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9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9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9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9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9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9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9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9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49"/>
          <p:cNvSpPr txBox="1"/>
          <p:nvPr/>
        </p:nvSpPr>
        <p:spPr>
          <a:xfrm>
            <a:off x="58723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49"/>
          <p:cNvSpPr/>
          <p:nvPr/>
        </p:nvSpPr>
        <p:spPr>
          <a:xfrm rot="10800000">
            <a:off x="3397886" y="4278850"/>
            <a:ext cx="2036400" cy="598800"/>
          </a:xfrm>
          <a:prstGeom prst="wedgeRoundRectCallout">
            <a:avLst>
              <a:gd fmla="val -46188" name="adj1"/>
              <a:gd fmla="val 8739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9"/>
          <p:cNvSpPr txBox="1"/>
          <p:nvPr/>
        </p:nvSpPr>
        <p:spPr>
          <a:xfrm>
            <a:off x="3452273" y="4278850"/>
            <a:ext cx="1758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26 is grossly large.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540" name="Google Shape;540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1" name="Google Shape;541;p50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0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0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0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0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0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0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2" name="Google Shape;552;p50"/>
          <p:cNvSpPr txBox="1"/>
          <p:nvPr/>
        </p:nvSpPr>
        <p:spPr>
          <a:xfrm>
            <a:off x="5872388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3" name="Google Shape;553;p50"/>
          <p:cNvSpPr/>
          <p:nvPr/>
        </p:nvSpPr>
        <p:spPr>
          <a:xfrm rot="10800000">
            <a:off x="5737125" y="4346525"/>
            <a:ext cx="2036400" cy="598800"/>
          </a:xfrm>
          <a:prstGeom prst="wedgeRoundRectCallout">
            <a:avLst>
              <a:gd fmla="val 29201" name="adj1"/>
              <a:gd fmla="val 8455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0"/>
          <p:cNvSpPr txBox="1"/>
          <p:nvPr/>
        </p:nvSpPr>
        <p:spPr>
          <a:xfrm>
            <a:off x="5838550" y="432679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41 is fine.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560" name="Google Shape;560;p5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61" name="Google Shape;561;p51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1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1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1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1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1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1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1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1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1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1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51"/>
          <p:cNvSpPr txBox="1"/>
          <p:nvPr/>
        </p:nvSpPr>
        <p:spPr>
          <a:xfrm>
            <a:off x="5350268" y="4022668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51"/>
          <p:cNvSpPr/>
          <p:nvPr/>
        </p:nvSpPr>
        <p:spPr>
          <a:xfrm rot="10800000">
            <a:off x="5313764" y="4445284"/>
            <a:ext cx="2036400" cy="598800"/>
          </a:xfrm>
          <a:prstGeom prst="wedgeRoundRectCallout">
            <a:avLst>
              <a:gd fmla="val 32882" name="adj1"/>
              <a:gd fmla="val 7844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1"/>
          <p:cNvSpPr txBox="1"/>
          <p:nvPr/>
        </p:nvSpPr>
        <p:spPr>
          <a:xfrm>
            <a:off x="5415189" y="442555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26 is fine.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580" name="Google Shape;580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Walk pointers towards each other, stopping on a hated item.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1" name="Google Shape;581;p52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2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2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2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2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2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2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2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2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2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2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2" name="Google Shape;592;p52"/>
          <p:cNvSpPr txBox="1"/>
          <p:nvPr/>
        </p:nvSpPr>
        <p:spPr>
          <a:xfrm>
            <a:off x="4893068" y="3751707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3" name="Google Shape;593;p52"/>
          <p:cNvSpPr/>
          <p:nvPr/>
        </p:nvSpPr>
        <p:spPr>
          <a:xfrm rot="10800000">
            <a:off x="4791643" y="4357805"/>
            <a:ext cx="2036400" cy="598800"/>
          </a:xfrm>
          <a:prstGeom prst="wedgeRoundRectCallout">
            <a:avLst>
              <a:gd fmla="val 32882" name="adj1"/>
              <a:gd fmla="val 7844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2"/>
          <p:cNvSpPr txBox="1"/>
          <p:nvPr/>
        </p:nvSpPr>
        <p:spPr>
          <a:xfrm>
            <a:off x="4893068" y="433807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 is no good… also hi L!!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600" name="Google Shape;600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When pointers cross, you are done walking.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pivot with 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01" name="Google Shape;601;p53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3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3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3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3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3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3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3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3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3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3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53"/>
          <p:cNvSpPr txBox="1"/>
          <p:nvPr/>
        </p:nvSpPr>
        <p:spPr>
          <a:xfrm>
            <a:off x="4893068" y="3751707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53"/>
          <p:cNvSpPr/>
          <p:nvPr/>
        </p:nvSpPr>
        <p:spPr>
          <a:xfrm rot="10800000">
            <a:off x="4791643" y="4357805"/>
            <a:ext cx="2036400" cy="598800"/>
          </a:xfrm>
          <a:prstGeom prst="wedgeRoundRectCallout">
            <a:avLst>
              <a:gd fmla="val 32882" name="adj1"/>
              <a:gd fmla="val 7844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3"/>
          <p:cNvSpPr txBox="1"/>
          <p:nvPr/>
        </p:nvSpPr>
        <p:spPr>
          <a:xfrm>
            <a:off x="4893068" y="433807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 is no good… also hi L!!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620" name="Google Shape;620;p5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Swap pivot with G.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1" name="Google Shape;621;p54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4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4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4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4"/>
          <p:cNvSpPr/>
          <p:nvPr/>
        </p:nvSpPr>
        <p:spPr>
          <a:xfrm>
            <a:off x="4778636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4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4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4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4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4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4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2" name="Google Shape;632;p54"/>
          <p:cNvSpPr txBox="1"/>
          <p:nvPr/>
        </p:nvSpPr>
        <p:spPr>
          <a:xfrm>
            <a:off x="4893068" y="3751707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3" name="Google Shape;633;p54"/>
          <p:cNvSpPr/>
          <p:nvPr/>
        </p:nvSpPr>
        <p:spPr>
          <a:xfrm rot="10800000">
            <a:off x="4791643" y="4357805"/>
            <a:ext cx="2036400" cy="598800"/>
          </a:xfrm>
          <a:prstGeom prst="wedgeRoundRectCallout">
            <a:avLst>
              <a:gd fmla="val 32882" name="adj1"/>
              <a:gd fmla="val 7844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4"/>
          <p:cNvSpPr txBox="1"/>
          <p:nvPr/>
        </p:nvSpPr>
        <p:spPr>
          <a:xfrm>
            <a:off x="4893068" y="433807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 to swap.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5" name="Google Shape;635;p54"/>
          <p:cNvSpPr/>
          <p:nvPr/>
        </p:nvSpPr>
        <p:spPr>
          <a:xfrm rot="10800000">
            <a:off x="1706818" y="4347942"/>
            <a:ext cx="2036400" cy="598800"/>
          </a:xfrm>
          <a:prstGeom prst="wedgeRoundRectCallout">
            <a:avLst>
              <a:gd fmla="val -18507" name="adj1"/>
              <a:gd fmla="val 114929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4"/>
          <p:cNvSpPr txBox="1"/>
          <p:nvPr/>
        </p:nvSpPr>
        <p:spPr>
          <a:xfrm>
            <a:off x="1808243" y="4328211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 to swap.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</a:t>
            </a:r>
            <a:endParaRPr/>
          </a:p>
        </p:txBody>
      </p:sp>
      <p:sp>
        <p:nvSpPr>
          <p:cNvPr id="642" name="Google Shape;642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L and G pointers at left and right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pointer is a friend to small items, and hates large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pointer is a friend to large items, and hates small or equal items.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 pointers towards each other, stopping on a hated item.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both pointers have stopped, swap and move pointers by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pointers cross, you are done walking.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Swap pivot with G.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43" name="Google Shape;643;p55"/>
          <p:cNvSpPr/>
          <p:nvPr/>
        </p:nvSpPr>
        <p:spPr>
          <a:xfrm>
            <a:off x="2834175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5"/>
          <p:cNvSpPr/>
          <p:nvPr/>
        </p:nvSpPr>
        <p:spPr>
          <a:xfrm>
            <a:off x="3319364" y="3273875"/>
            <a:ext cx="495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5"/>
          <p:cNvSpPr/>
          <p:nvPr/>
        </p:nvSpPr>
        <p:spPr>
          <a:xfrm>
            <a:off x="3808705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5"/>
          <p:cNvSpPr/>
          <p:nvPr/>
        </p:nvSpPr>
        <p:spPr>
          <a:xfrm>
            <a:off x="4293894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5"/>
          <p:cNvSpPr/>
          <p:nvPr/>
        </p:nvSpPr>
        <p:spPr>
          <a:xfrm>
            <a:off x="4780948" y="3273875"/>
            <a:ext cx="4953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5"/>
          <p:cNvSpPr/>
          <p:nvPr/>
        </p:nvSpPr>
        <p:spPr>
          <a:xfrm>
            <a:off x="526382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5"/>
          <p:cNvSpPr/>
          <p:nvPr/>
        </p:nvSpPr>
        <p:spPr>
          <a:xfrm>
            <a:off x="5753166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5"/>
          <p:cNvSpPr/>
          <p:nvPr/>
        </p:nvSpPr>
        <p:spPr>
          <a:xfrm>
            <a:off x="6238355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5"/>
          <p:cNvSpPr/>
          <p:nvPr/>
        </p:nvSpPr>
        <p:spPr>
          <a:xfrm>
            <a:off x="6727730" y="3273875"/>
            <a:ext cx="4953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5"/>
          <p:cNvSpPr txBox="1"/>
          <p:nvPr/>
        </p:nvSpPr>
        <p:spPr>
          <a:xfrm>
            <a:off x="1300800" y="3253650"/>
            <a:ext cx="94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Input: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5"/>
          <p:cNvSpPr txBox="1"/>
          <p:nvPr/>
        </p:nvSpPr>
        <p:spPr>
          <a:xfrm>
            <a:off x="5349567" y="3748950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55"/>
          <p:cNvSpPr txBox="1"/>
          <p:nvPr/>
        </p:nvSpPr>
        <p:spPr>
          <a:xfrm>
            <a:off x="4893068" y="3751707"/>
            <a:ext cx="374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55"/>
          <p:cNvSpPr txBox="1"/>
          <p:nvPr/>
        </p:nvSpPr>
        <p:spPr>
          <a:xfrm>
            <a:off x="4780950" y="2661975"/>
            <a:ext cx="1218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Old pivot.</a:t>
            </a:r>
            <a:endParaRPr/>
          </a:p>
        </p:txBody>
      </p:sp>
      <p:sp>
        <p:nvSpPr>
          <p:cNvPr id="656" name="Google Shape;656;p55"/>
          <p:cNvSpPr txBox="1"/>
          <p:nvPr/>
        </p:nvSpPr>
        <p:spPr>
          <a:xfrm>
            <a:off x="5732325" y="2814375"/>
            <a:ext cx="1218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pivot.</a:t>
            </a:r>
            <a:endParaRPr/>
          </a:p>
        </p:txBody>
      </p:sp>
      <p:sp>
        <p:nvSpPr>
          <p:cNvPr id="657" name="Google Shape;657;p55"/>
          <p:cNvSpPr txBox="1"/>
          <p:nvPr/>
        </p:nvSpPr>
        <p:spPr>
          <a:xfrm>
            <a:off x="3075600" y="2769275"/>
            <a:ext cx="1218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pivot.</a:t>
            </a:r>
            <a:endParaRPr/>
          </a:p>
        </p:txBody>
      </p:sp>
      <p:cxnSp>
        <p:nvCxnSpPr>
          <p:cNvPr id="658" name="Google Shape;658;p55"/>
          <p:cNvCxnSpPr/>
          <p:nvPr/>
        </p:nvCxnSpPr>
        <p:spPr>
          <a:xfrm flipH="1">
            <a:off x="5041850" y="3034225"/>
            <a:ext cx="67800" cy="1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55"/>
          <p:cNvCxnSpPr/>
          <p:nvPr/>
        </p:nvCxnSpPr>
        <p:spPr>
          <a:xfrm flipH="1">
            <a:off x="5573200" y="3101900"/>
            <a:ext cx="179400" cy="1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55"/>
          <p:cNvCxnSpPr/>
          <p:nvPr/>
        </p:nvCxnSpPr>
        <p:spPr>
          <a:xfrm flipH="1">
            <a:off x="3050700" y="3101900"/>
            <a:ext cx="152700" cy="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55"/>
          <p:cNvSpPr/>
          <p:nvPr/>
        </p:nvSpPr>
        <p:spPr>
          <a:xfrm rot="10800000">
            <a:off x="4791643" y="4357805"/>
            <a:ext cx="2036400" cy="598800"/>
          </a:xfrm>
          <a:prstGeom prst="wedgeRoundRectCallout">
            <a:avLst>
              <a:gd fmla="val 32882" name="adj1"/>
              <a:gd fmla="val 78442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5"/>
          <p:cNvSpPr txBox="1"/>
          <p:nvPr/>
        </p:nvSpPr>
        <p:spPr>
          <a:xfrm>
            <a:off x="4893068" y="4338073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Swapped.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3" name="Google Shape;663;p55"/>
          <p:cNvSpPr/>
          <p:nvPr/>
        </p:nvSpPr>
        <p:spPr>
          <a:xfrm rot="10800000">
            <a:off x="1706818" y="4347942"/>
            <a:ext cx="2036400" cy="598800"/>
          </a:xfrm>
          <a:prstGeom prst="wedgeRoundRectCallout">
            <a:avLst>
              <a:gd fmla="val -18507" name="adj1"/>
              <a:gd fmla="val 114929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 txBox="1"/>
          <p:nvPr/>
        </p:nvSpPr>
        <p:spPr>
          <a:xfrm>
            <a:off x="1808243" y="4328211"/>
            <a:ext cx="1544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Swapped.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Quicksort vs. Mergesort</a:t>
            </a:r>
            <a:endParaRPr/>
          </a:p>
        </p:txBody>
      </p:sp>
      <p:sp>
        <p:nvSpPr>
          <p:cNvPr id="670" name="Google Shape;670;p56"/>
          <p:cNvSpPr txBox="1"/>
          <p:nvPr>
            <p:ph idx="1" type="body"/>
          </p:nvPr>
        </p:nvSpPr>
        <p:spPr>
          <a:xfrm>
            <a:off x="243000" y="2693550"/>
            <a:ext cx="8443800" cy="20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Tony Hoare’s two pointer scheme, Quicksort is better than mergesort!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recent pivot/partitioning schemes do somewhat better.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Best known Quicksort uses a two-pivot scheme.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Interesting note, this version of Quicksort was introduced to the world by a previously unknown guy, in a Java developers forum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).</a:t>
            </a:r>
            <a:endParaRPr/>
          </a:p>
        </p:txBody>
      </p:sp>
      <p:graphicFrame>
        <p:nvGraphicFramePr>
          <p:cNvPr id="671" name="Google Shape;671;p56"/>
          <p:cNvGraphicFramePr/>
          <p:nvPr/>
        </p:nvGraphicFramePr>
        <p:xfrm>
          <a:off x="774125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{CD119730-6714-43CB-AF46-6103592D6F28}</a:tableStyleId>
              </a:tblPr>
              <a:tblGrid>
                <a:gridCol w="1488175"/>
                <a:gridCol w="1371375"/>
                <a:gridCol w="1429775"/>
                <a:gridCol w="1429775"/>
                <a:gridCol w="1750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Pivot Selection Strategy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Partition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 Avoidance Strategy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to sort 1000 arrays of 10000 ints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1.3</a:t>
                      </a:r>
                      <a:r>
                        <a:rPr lang="en"/>
                        <a:t>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</a:t>
                      </a:r>
                      <a:r>
                        <a:rPr b="1" lang="en">
                          <a:solidFill>
                            <a:schemeClr val="accent4"/>
                          </a:solidFill>
                        </a:rPr>
                        <a:t>L3S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Leftmost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3-scan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Shuffle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</a:t>
                      </a:r>
                      <a:r>
                        <a:rPr lang="en"/>
                        <a:t>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</a:t>
                      </a:r>
                      <a:r>
                        <a:rPr b="1" lang="en">
                          <a:solidFill>
                            <a:schemeClr val="accent4"/>
                          </a:solidFill>
                        </a:rPr>
                        <a:t>LTHS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Leftmost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Tony Hoare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</a:rPr>
                        <a:t>Shuffle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r>
                        <a:rPr lang="en"/>
                        <a:t>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2" name="Google Shape;672;p56"/>
          <p:cNvSpPr txBox="1"/>
          <p:nvPr/>
        </p:nvSpPr>
        <p:spPr>
          <a:xfrm>
            <a:off x="23" y="4406900"/>
            <a:ext cx="49824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These are unoptimized versions of mergesort and quicksort, i.e. no switching to insertion sort for small arrays.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Don’t Want Randomness?</a:t>
            </a:r>
            <a:endParaRPr/>
          </a:p>
        </p:txBody>
      </p:sp>
      <p:sp>
        <p:nvSpPr>
          <p:cNvPr id="678" name="Google Shape;678;p5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approach so far: Use randomness to avoid worst case behavior, but some people don’t like having randomness in their sorting routine.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Use the median (or an approximation) as our pivot.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Four philosophies: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b="1" lang="en"/>
              <a:t>Randomness</a:t>
            </a:r>
            <a:r>
              <a:rPr lang="en"/>
              <a:t>: Pick a random pivot or shuffle before sorting.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b="1" lang="en"/>
              <a:t>Smarter pivot selection</a:t>
            </a:r>
            <a:r>
              <a:rPr lang="en"/>
              <a:t>: Calculate or approximate the median.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b="1" lang="en"/>
              <a:t>Introspection</a:t>
            </a:r>
            <a:r>
              <a:rPr lang="en"/>
              <a:t>: Switch to a safer sort if recursion goes to deep.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b="1" lang="en"/>
              <a:t>Try to cheat</a:t>
            </a:r>
            <a:r>
              <a:rPr lang="en"/>
              <a:t>: If the array is already sorted, don’t sort (this doesn’t work).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9" name="Google Shape;679;p57"/>
          <p:cNvCxnSpPr/>
          <p:nvPr/>
        </p:nvCxnSpPr>
        <p:spPr>
          <a:xfrm flipH="1">
            <a:off x="6660650" y="2810138"/>
            <a:ext cx="280500" cy="1713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57"/>
          <p:cNvSpPr txBox="1"/>
          <p:nvPr/>
        </p:nvSpPr>
        <p:spPr>
          <a:xfrm>
            <a:off x="6317700" y="2420488"/>
            <a:ext cx="2776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This is what we’ve been using.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2a: Smarter Pivot Selection (linear time pivot pick)</a:t>
            </a:r>
            <a:endParaRPr/>
          </a:p>
        </p:txBody>
      </p:sp>
      <p:sp>
        <p:nvSpPr>
          <p:cNvPr id="686" name="Google Shape;686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best possible pivot is the median.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Splits problem into two problems of size N/2.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Obvious approach: Just calculate the actual median and use that as pivot.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Come up with an algorithm for finding the median of an array. Bonus points if your algorithm takes linear time.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2a: Smarter Pivot Selection (linear time pivot pick)</a:t>
            </a:r>
            <a:endParaRPr/>
          </a:p>
        </p:txBody>
      </p:sp>
      <p:sp>
        <p:nvSpPr>
          <p:cNvPr id="692" name="Google Shape;692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Come up with an algorithm for finding the median of an array. Bonus points if your algorithm takes linear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Sort the array, return the middle item. Takes Θ(N log N) time to sort, though.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Median Identification</a:t>
            </a:r>
            <a:endParaRPr/>
          </a:p>
        </p:txBody>
      </p:sp>
      <p:sp>
        <p:nvSpPr>
          <p:cNvPr id="698" name="Google Shape;698;p6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it possible to find the median in Θ(N) time?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Yes! Use ‘</a:t>
            </a:r>
            <a:r>
              <a:rPr lang="en" u="sng">
                <a:solidFill>
                  <a:schemeClr val="hlink"/>
                </a:solidFill>
                <a:hlinkClick r:id="rId3"/>
              </a:rPr>
              <a:t>BFPRT</a:t>
            </a:r>
            <a:r>
              <a:rPr lang="en"/>
              <a:t>’ (called PICK in original paper).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Algorithm developed in 1972 by a team including my former TA, Bob Tarjan (well before I was born).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rarely used.</a:t>
            </a:r>
            <a:endParaRPr/>
          </a:p>
        </p:txBody>
      </p:sp>
      <p:pic>
        <p:nvPicPr>
          <p:cNvPr id="699" name="Google Shape;69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875" y="1817950"/>
            <a:ext cx="5062224" cy="27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0"/>
          <p:cNvSpPr txBox="1"/>
          <p:nvPr>
            <p:ph idx="1" type="body"/>
          </p:nvPr>
        </p:nvSpPr>
        <p:spPr>
          <a:xfrm>
            <a:off x="241702" y="2600897"/>
            <a:ext cx="3840300" cy="1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Historical note: The authors of this paper include FOUR Turing Award winners (and Vaughan Pratt)</a:t>
            </a:r>
            <a:endParaRPr/>
          </a:p>
        </p:txBody>
      </p:sp>
      <p:sp>
        <p:nvSpPr>
          <p:cNvPr id="701" name="Google Shape;701;p60"/>
          <p:cNvSpPr txBox="1"/>
          <p:nvPr>
            <p:ph idx="1" type="body"/>
          </p:nvPr>
        </p:nvSpPr>
        <p:spPr>
          <a:xfrm>
            <a:off x="232438" y="4419600"/>
            <a:ext cx="85230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see how Exact Median Quicksort performs.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Quicksort vs. Mergesort</a:t>
            </a:r>
            <a:endParaRPr/>
          </a:p>
        </p:txBody>
      </p:sp>
      <p:graphicFrame>
        <p:nvGraphicFramePr>
          <p:cNvPr id="707" name="Google Shape;707;p61"/>
          <p:cNvGraphicFramePr/>
          <p:nvPr/>
        </p:nvGraphicFramePr>
        <p:xfrm>
          <a:off x="316925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{CD119730-6714-43CB-AF46-6103592D6F28}</a:tableStyleId>
              </a:tblPr>
              <a:tblGrid>
                <a:gridCol w="1584175"/>
                <a:gridCol w="1333200"/>
                <a:gridCol w="1118150"/>
                <a:gridCol w="1407600"/>
                <a:gridCol w="1656325"/>
                <a:gridCol w="12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Pivot Selection Strategy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Partition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 Avoidance Strategy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to sort 1000 arrays of 10000 ints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1.3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 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L3S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Leftmost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3-scan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Shuffle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</a:t>
                      </a:r>
                      <a:r>
                        <a:rPr baseline="30000" lang="en"/>
                        <a:t>2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LTHS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Leftmost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Tony Hoare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Shuffle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</a:t>
                      </a:r>
                      <a:r>
                        <a:rPr baseline="30000" lang="en"/>
                        <a:t>2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PickTH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 Median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Tony Hoare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 Median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4.9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 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243000" y="3085950"/>
            <a:ext cx="84438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Quicksort using PICK to find the exact median (Quicksort PickTH) is terrible!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to compute medians is too high.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to live with worst case Θ(N</a:t>
            </a:r>
            <a:r>
              <a:rPr baseline="30000" lang="en"/>
              <a:t>2</a:t>
            </a:r>
            <a:r>
              <a:rPr lang="en"/>
              <a:t>) if we want good practical performance.</a:t>
            </a:r>
            <a:endParaRPr/>
          </a:p>
        </p:txBody>
      </p:sp>
      <p:sp>
        <p:nvSpPr>
          <p:cNvPr id="709" name="Google Shape;709;p61"/>
          <p:cNvSpPr txBox="1"/>
          <p:nvPr/>
        </p:nvSpPr>
        <p:spPr>
          <a:xfrm>
            <a:off x="23" y="4406900"/>
            <a:ext cx="49824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These are unoptimized versions of mergesort and quicksort, i.e. no switching to insertion sort for small arrays.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715" name="Google Shape;715;p6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Quicksort Variants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Philosophies for Avoiding Worst Case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Quicksort Variant Experiments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Quick Select (median finding)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Sorting Stability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Sounds of Sorting</a:t>
            </a:r>
            <a:endParaRPr/>
          </a:p>
        </p:txBody>
      </p:sp>
      <p:sp>
        <p:nvSpPr>
          <p:cNvPr id="716" name="Google Shape;716;p6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Select (median finding)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Selection Problem</a:t>
            </a:r>
            <a:endParaRPr/>
          </a:p>
        </p:txBody>
      </p:sp>
      <p:sp>
        <p:nvSpPr>
          <p:cNvPr id="722" name="Google Shape;722;p6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Computing the exact median would be great for picking an item to partition around. Gives us a “safe quick sort”.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Unfortunately, it turns out that exact median computation is too slow.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However, it turns out that partitioning can be used to find the exact median.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algorithm is the best known median identification algorithm.</a:t>
            </a:r>
            <a:endParaRPr/>
          </a:p>
        </p:txBody>
      </p:sp>
      <p:pic>
        <p:nvPicPr>
          <p:cNvPr id="723" name="Google Shape;72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097" y="2961125"/>
            <a:ext cx="2190000" cy="20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Select</a:t>
            </a:r>
            <a:endParaRPr/>
          </a:p>
        </p:txBody>
      </p:sp>
      <p:sp>
        <p:nvSpPr>
          <p:cNvPr id="729" name="Google Shape;729;p6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Goal, find the median:</a:t>
            </a:r>
            <a:endParaRPr/>
          </a:p>
        </p:txBody>
      </p:sp>
      <p:sp>
        <p:nvSpPr>
          <p:cNvPr id="730" name="Google Shape;730;p64"/>
          <p:cNvSpPr txBox="1"/>
          <p:nvPr/>
        </p:nvSpPr>
        <p:spPr>
          <a:xfrm>
            <a:off x="228600" y="1143000"/>
            <a:ext cx="44388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Partition, pivot lands at 2.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the median. Why?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what next?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64"/>
          <p:cNvSpPr txBox="1"/>
          <p:nvPr/>
        </p:nvSpPr>
        <p:spPr>
          <a:xfrm>
            <a:off x="228600" y="2360663"/>
            <a:ext cx="44388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pivot lands at 6.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the median.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64"/>
          <p:cNvSpPr txBox="1"/>
          <p:nvPr/>
        </p:nvSpPr>
        <p:spPr>
          <a:xfrm>
            <a:off x="2291098" y="1834568"/>
            <a:ext cx="66441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Partition right subproblem, median can’t be to the left!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64"/>
          <p:cNvSpPr txBox="1"/>
          <p:nvPr/>
        </p:nvSpPr>
        <p:spPr>
          <a:xfrm>
            <a:off x="228600" y="3579863"/>
            <a:ext cx="44388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Pivot lands at 4. Are we done?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Yep, 9/2 = 4.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34" name="Google Shape;734;p64"/>
          <p:cNvGrpSpPr/>
          <p:nvPr/>
        </p:nvGrpSpPr>
        <p:grpSpPr>
          <a:xfrm>
            <a:off x="4011500" y="2306811"/>
            <a:ext cx="4796470" cy="495300"/>
            <a:chOff x="4011500" y="2306811"/>
            <a:chExt cx="4796470" cy="495300"/>
          </a:xfrm>
        </p:grpSpPr>
        <p:grpSp>
          <p:nvGrpSpPr>
            <p:cNvPr id="735" name="Google Shape;735;p64"/>
            <p:cNvGrpSpPr/>
            <p:nvPr/>
          </p:nvGrpSpPr>
          <p:grpSpPr>
            <a:xfrm>
              <a:off x="4011500" y="2306811"/>
              <a:ext cx="3722895" cy="495300"/>
              <a:chOff x="4240100" y="2306811"/>
              <a:chExt cx="3722895" cy="495300"/>
            </a:xfrm>
          </p:grpSpPr>
          <p:grpSp>
            <p:nvGrpSpPr>
              <p:cNvPr id="736" name="Google Shape;736;p64"/>
              <p:cNvGrpSpPr/>
              <p:nvPr/>
            </p:nvGrpSpPr>
            <p:grpSpPr>
              <a:xfrm>
                <a:off x="5302736" y="2306811"/>
                <a:ext cx="2660259" cy="495300"/>
                <a:chOff x="5302736" y="1579325"/>
                <a:chExt cx="2660259" cy="495300"/>
              </a:xfrm>
            </p:grpSpPr>
            <p:sp>
              <p:nvSpPr>
                <p:cNvPr id="737" name="Google Shape;737;p64"/>
                <p:cNvSpPr/>
                <p:nvPr/>
              </p:nvSpPr>
              <p:spPr>
                <a:xfrm>
                  <a:off x="5302736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8" name="Google Shape;738;p64"/>
                <p:cNvSpPr/>
                <p:nvPr/>
              </p:nvSpPr>
              <p:spPr>
                <a:xfrm>
                  <a:off x="5831791" y="1579325"/>
                  <a:ext cx="540000" cy="495300"/>
                </a:xfrm>
                <a:prstGeom prst="rect">
                  <a:avLst/>
                </a:prstGeom>
                <a:solidFill>
                  <a:srgbClr val="B1DD8B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550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9" name="Google Shape;739;p64"/>
                <p:cNvSpPr/>
                <p:nvPr/>
              </p:nvSpPr>
              <p:spPr>
                <a:xfrm>
                  <a:off x="6360359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0" name="Google Shape;740;p64"/>
                <p:cNvSpPr/>
                <p:nvPr/>
              </p:nvSpPr>
              <p:spPr>
                <a:xfrm>
                  <a:off x="6889413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1" name="Google Shape;741;p64"/>
                <p:cNvSpPr/>
                <p:nvPr/>
              </p:nvSpPr>
              <p:spPr>
                <a:xfrm>
                  <a:off x="7422995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330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42" name="Google Shape;742;p64"/>
              <p:cNvGrpSpPr/>
              <p:nvPr/>
            </p:nvGrpSpPr>
            <p:grpSpPr>
              <a:xfrm>
                <a:off x="4240100" y="2306811"/>
                <a:ext cx="1069055" cy="495300"/>
                <a:chOff x="4240100" y="1579325"/>
                <a:chExt cx="1069055" cy="495300"/>
              </a:xfrm>
            </p:grpSpPr>
            <p:sp>
              <p:nvSpPr>
                <p:cNvPr id="743" name="Google Shape;743;p64"/>
                <p:cNvSpPr/>
                <p:nvPr/>
              </p:nvSpPr>
              <p:spPr>
                <a:xfrm>
                  <a:off x="4769155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5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" name="Google Shape;744;p64"/>
                <p:cNvSpPr/>
                <p:nvPr/>
              </p:nvSpPr>
              <p:spPr>
                <a:xfrm>
                  <a:off x="4240100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45" name="Google Shape;745;p64"/>
            <p:cNvGrpSpPr/>
            <p:nvPr/>
          </p:nvGrpSpPr>
          <p:grpSpPr>
            <a:xfrm>
              <a:off x="7734388" y="2306811"/>
              <a:ext cx="1073582" cy="495300"/>
              <a:chOff x="6889413" y="1579325"/>
              <a:chExt cx="1073582" cy="495300"/>
            </a:xfrm>
          </p:grpSpPr>
          <p:sp>
            <p:nvSpPr>
              <p:cNvPr id="746" name="Google Shape;746;p64"/>
              <p:cNvSpPr/>
              <p:nvPr/>
            </p:nvSpPr>
            <p:spPr>
              <a:xfrm>
                <a:off x="6889413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817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64"/>
              <p:cNvSpPr/>
              <p:nvPr/>
            </p:nvSpPr>
            <p:spPr>
              <a:xfrm>
                <a:off x="7422995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913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8" name="Google Shape;748;p64"/>
          <p:cNvGrpSpPr/>
          <p:nvPr/>
        </p:nvGrpSpPr>
        <p:grpSpPr>
          <a:xfrm>
            <a:off x="4011500" y="2951761"/>
            <a:ext cx="4796470" cy="495300"/>
            <a:chOff x="4011500" y="2951761"/>
            <a:chExt cx="4796470" cy="495300"/>
          </a:xfrm>
        </p:grpSpPr>
        <p:grpSp>
          <p:nvGrpSpPr>
            <p:cNvPr id="749" name="Google Shape;749;p64"/>
            <p:cNvGrpSpPr/>
            <p:nvPr/>
          </p:nvGrpSpPr>
          <p:grpSpPr>
            <a:xfrm>
              <a:off x="4011500" y="2951761"/>
              <a:ext cx="3722895" cy="495300"/>
              <a:chOff x="4240100" y="2951761"/>
              <a:chExt cx="3722895" cy="495300"/>
            </a:xfrm>
          </p:grpSpPr>
          <p:grpSp>
            <p:nvGrpSpPr>
              <p:cNvPr id="750" name="Google Shape;750;p64"/>
              <p:cNvGrpSpPr/>
              <p:nvPr/>
            </p:nvGrpSpPr>
            <p:grpSpPr>
              <a:xfrm>
                <a:off x="5302736" y="2951761"/>
                <a:ext cx="2660259" cy="495300"/>
                <a:chOff x="5302736" y="1579325"/>
                <a:chExt cx="2660259" cy="495300"/>
              </a:xfrm>
            </p:grpSpPr>
            <p:sp>
              <p:nvSpPr>
                <p:cNvPr id="751" name="Google Shape;751;p64"/>
                <p:cNvSpPr/>
                <p:nvPr/>
              </p:nvSpPr>
              <p:spPr>
                <a:xfrm>
                  <a:off x="5302736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" name="Google Shape;752;p64"/>
                <p:cNvSpPr/>
                <p:nvPr/>
              </p:nvSpPr>
              <p:spPr>
                <a:xfrm>
                  <a:off x="5831791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3" name="Google Shape;753;p64"/>
                <p:cNvSpPr/>
                <p:nvPr/>
              </p:nvSpPr>
              <p:spPr>
                <a:xfrm>
                  <a:off x="6360359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4" name="Google Shape;754;p64"/>
                <p:cNvSpPr/>
                <p:nvPr/>
              </p:nvSpPr>
              <p:spPr>
                <a:xfrm>
                  <a:off x="6889413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330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5" name="Google Shape;755;p64"/>
                <p:cNvSpPr/>
                <p:nvPr/>
              </p:nvSpPr>
              <p:spPr>
                <a:xfrm>
                  <a:off x="7422995" y="1579325"/>
                  <a:ext cx="540000" cy="495300"/>
                </a:xfrm>
                <a:prstGeom prst="rect">
                  <a:avLst/>
                </a:prstGeom>
                <a:solidFill>
                  <a:srgbClr val="B1DD8B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550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56" name="Google Shape;756;p64"/>
              <p:cNvGrpSpPr/>
              <p:nvPr/>
            </p:nvGrpSpPr>
            <p:grpSpPr>
              <a:xfrm>
                <a:off x="4240100" y="2951761"/>
                <a:ext cx="1069055" cy="495300"/>
                <a:chOff x="4240100" y="1579325"/>
                <a:chExt cx="1069055" cy="495300"/>
              </a:xfrm>
            </p:grpSpPr>
            <p:sp>
              <p:nvSpPr>
                <p:cNvPr id="757" name="Google Shape;757;p64"/>
                <p:cNvSpPr/>
                <p:nvPr/>
              </p:nvSpPr>
              <p:spPr>
                <a:xfrm>
                  <a:off x="4769155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5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64"/>
                <p:cNvSpPr/>
                <p:nvPr/>
              </p:nvSpPr>
              <p:spPr>
                <a:xfrm>
                  <a:off x="4240100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59" name="Google Shape;759;p64"/>
            <p:cNvGrpSpPr/>
            <p:nvPr/>
          </p:nvGrpSpPr>
          <p:grpSpPr>
            <a:xfrm>
              <a:off x="7734388" y="2951761"/>
              <a:ext cx="1073582" cy="495300"/>
              <a:chOff x="6889413" y="1579325"/>
              <a:chExt cx="1073582" cy="495300"/>
            </a:xfrm>
          </p:grpSpPr>
          <p:sp>
            <p:nvSpPr>
              <p:cNvPr id="760" name="Google Shape;760;p64"/>
              <p:cNvSpPr/>
              <p:nvPr/>
            </p:nvSpPr>
            <p:spPr>
              <a:xfrm>
                <a:off x="6889413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817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64"/>
              <p:cNvSpPr/>
              <p:nvPr/>
            </p:nvSpPr>
            <p:spPr>
              <a:xfrm>
                <a:off x="7422995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913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" name="Google Shape;762;p64"/>
          <p:cNvGrpSpPr/>
          <p:nvPr/>
        </p:nvGrpSpPr>
        <p:grpSpPr>
          <a:xfrm>
            <a:off x="4011500" y="1313632"/>
            <a:ext cx="4796470" cy="495300"/>
            <a:chOff x="4011500" y="1313632"/>
            <a:chExt cx="4796470" cy="495300"/>
          </a:xfrm>
        </p:grpSpPr>
        <p:grpSp>
          <p:nvGrpSpPr>
            <p:cNvPr id="763" name="Google Shape;763;p64"/>
            <p:cNvGrpSpPr/>
            <p:nvPr/>
          </p:nvGrpSpPr>
          <p:grpSpPr>
            <a:xfrm>
              <a:off x="4011500" y="1313632"/>
              <a:ext cx="3722895" cy="495300"/>
              <a:chOff x="4240100" y="1579325"/>
              <a:chExt cx="3722895" cy="495300"/>
            </a:xfrm>
          </p:grpSpPr>
          <p:sp>
            <p:nvSpPr>
              <p:cNvPr id="764" name="Google Shape;764;p64"/>
              <p:cNvSpPr/>
              <p:nvPr/>
            </p:nvSpPr>
            <p:spPr>
              <a:xfrm>
                <a:off x="4240100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64"/>
              <p:cNvSpPr/>
              <p:nvPr/>
            </p:nvSpPr>
            <p:spPr>
              <a:xfrm>
                <a:off x="4769155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64"/>
              <p:cNvSpPr/>
              <p:nvPr/>
            </p:nvSpPr>
            <p:spPr>
              <a:xfrm>
                <a:off x="5302736" y="1579325"/>
                <a:ext cx="540000" cy="495300"/>
              </a:xfrm>
              <a:prstGeom prst="rect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64"/>
              <p:cNvSpPr/>
              <p:nvPr/>
            </p:nvSpPr>
            <p:spPr>
              <a:xfrm>
                <a:off x="5831791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550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64"/>
              <p:cNvSpPr/>
              <p:nvPr/>
            </p:nvSpPr>
            <p:spPr>
              <a:xfrm>
                <a:off x="6360359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14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64"/>
              <p:cNvSpPr/>
              <p:nvPr/>
            </p:nvSpPr>
            <p:spPr>
              <a:xfrm>
                <a:off x="6889413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64"/>
              <p:cNvSpPr/>
              <p:nvPr/>
            </p:nvSpPr>
            <p:spPr>
              <a:xfrm>
                <a:off x="7422995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330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64"/>
            <p:cNvGrpSpPr/>
            <p:nvPr/>
          </p:nvGrpSpPr>
          <p:grpSpPr>
            <a:xfrm>
              <a:off x="7734388" y="1313632"/>
              <a:ext cx="1073582" cy="495300"/>
              <a:chOff x="6889413" y="1579325"/>
              <a:chExt cx="1073582" cy="495300"/>
            </a:xfrm>
          </p:grpSpPr>
          <p:sp>
            <p:nvSpPr>
              <p:cNvPr id="772" name="Google Shape;772;p64"/>
              <p:cNvSpPr/>
              <p:nvPr/>
            </p:nvSpPr>
            <p:spPr>
              <a:xfrm>
                <a:off x="6889413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817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64"/>
              <p:cNvSpPr/>
              <p:nvPr/>
            </p:nvSpPr>
            <p:spPr>
              <a:xfrm>
                <a:off x="7422995" y="15793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913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" name="Google Shape;774;p64"/>
          <p:cNvGrpSpPr/>
          <p:nvPr/>
        </p:nvGrpSpPr>
        <p:grpSpPr>
          <a:xfrm>
            <a:off x="4011500" y="664925"/>
            <a:ext cx="4802895" cy="495300"/>
            <a:chOff x="4011500" y="664925"/>
            <a:chExt cx="4802895" cy="495300"/>
          </a:xfrm>
        </p:grpSpPr>
        <p:grpSp>
          <p:nvGrpSpPr>
            <p:cNvPr id="775" name="Google Shape;775;p64"/>
            <p:cNvGrpSpPr/>
            <p:nvPr/>
          </p:nvGrpSpPr>
          <p:grpSpPr>
            <a:xfrm>
              <a:off x="4011500" y="664925"/>
              <a:ext cx="3722895" cy="495300"/>
              <a:chOff x="4240100" y="664925"/>
              <a:chExt cx="3722895" cy="495300"/>
            </a:xfrm>
          </p:grpSpPr>
          <p:sp>
            <p:nvSpPr>
              <p:cNvPr id="776" name="Google Shape;776;p64"/>
              <p:cNvSpPr/>
              <p:nvPr/>
            </p:nvSpPr>
            <p:spPr>
              <a:xfrm>
                <a:off x="4240100" y="664925"/>
                <a:ext cx="540000" cy="495300"/>
              </a:xfrm>
              <a:prstGeom prst="rect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64"/>
              <p:cNvSpPr/>
              <p:nvPr/>
            </p:nvSpPr>
            <p:spPr>
              <a:xfrm>
                <a:off x="4769155" y="6649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550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64"/>
              <p:cNvSpPr/>
              <p:nvPr/>
            </p:nvSpPr>
            <p:spPr>
              <a:xfrm>
                <a:off x="5302736" y="6649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14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64"/>
              <p:cNvSpPr/>
              <p:nvPr/>
            </p:nvSpPr>
            <p:spPr>
              <a:xfrm>
                <a:off x="5831791" y="6649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64"/>
              <p:cNvSpPr/>
              <p:nvPr/>
            </p:nvSpPr>
            <p:spPr>
              <a:xfrm>
                <a:off x="6360359" y="6649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64"/>
              <p:cNvSpPr/>
              <p:nvPr/>
            </p:nvSpPr>
            <p:spPr>
              <a:xfrm>
                <a:off x="6889413" y="6649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64"/>
              <p:cNvSpPr/>
              <p:nvPr/>
            </p:nvSpPr>
            <p:spPr>
              <a:xfrm>
                <a:off x="7422995" y="664925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330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64"/>
            <p:cNvGrpSpPr/>
            <p:nvPr/>
          </p:nvGrpSpPr>
          <p:grpSpPr>
            <a:xfrm>
              <a:off x="7740813" y="664925"/>
              <a:ext cx="1073582" cy="495300"/>
              <a:chOff x="6743438" y="798400"/>
              <a:chExt cx="1073582" cy="495300"/>
            </a:xfrm>
          </p:grpSpPr>
          <p:sp>
            <p:nvSpPr>
              <p:cNvPr id="784" name="Google Shape;784;p64"/>
              <p:cNvSpPr/>
              <p:nvPr/>
            </p:nvSpPr>
            <p:spPr>
              <a:xfrm>
                <a:off x="6743438" y="798400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817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64"/>
              <p:cNvSpPr/>
              <p:nvPr/>
            </p:nvSpPr>
            <p:spPr>
              <a:xfrm>
                <a:off x="7277020" y="798400"/>
                <a:ext cx="540000" cy="4953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913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6" name="Google Shape;786;p64"/>
          <p:cNvGrpSpPr/>
          <p:nvPr/>
        </p:nvGrpSpPr>
        <p:grpSpPr>
          <a:xfrm>
            <a:off x="4011500" y="3833643"/>
            <a:ext cx="4800642" cy="495307"/>
            <a:chOff x="4011500" y="3833643"/>
            <a:chExt cx="4800642" cy="495307"/>
          </a:xfrm>
        </p:grpSpPr>
        <p:grpSp>
          <p:nvGrpSpPr>
            <p:cNvPr id="787" name="Google Shape;787;p64"/>
            <p:cNvGrpSpPr/>
            <p:nvPr/>
          </p:nvGrpSpPr>
          <p:grpSpPr>
            <a:xfrm>
              <a:off x="4011500" y="3833650"/>
              <a:ext cx="3729325" cy="495300"/>
              <a:chOff x="4240100" y="3833650"/>
              <a:chExt cx="3729325" cy="495300"/>
            </a:xfrm>
          </p:grpSpPr>
          <p:grpSp>
            <p:nvGrpSpPr>
              <p:cNvPr id="788" name="Google Shape;788;p64"/>
              <p:cNvGrpSpPr/>
              <p:nvPr/>
            </p:nvGrpSpPr>
            <p:grpSpPr>
              <a:xfrm>
                <a:off x="5302736" y="3833650"/>
                <a:ext cx="2126677" cy="495300"/>
                <a:chOff x="5302736" y="1579325"/>
                <a:chExt cx="2126677" cy="495300"/>
              </a:xfrm>
            </p:grpSpPr>
            <p:sp>
              <p:nvSpPr>
                <p:cNvPr id="789" name="Google Shape;789;p64"/>
                <p:cNvSpPr/>
                <p:nvPr/>
              </p:nvSpPr>
              <p:spPr>
                <a:xfrm>
                  <a:off x="5302736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64"/>
                <p:cNvSpPr/>
                <p:nvPr/>
              </p:nvSpPr>
              <p:spPr>
                <a:xfrm>
                  <a:off x="5831791" y="1579325"/>
                  <a:ext cx="540000" cy="495300"/>
                </a:xfrm>
                <a:prstGeom prst="rect">
                  <a:avLst/>
                </a:prstGeom>
                <a:solidFill>
                  <a:srgbClr val="B1DD8B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64"/>
                <p:cNvSpPr/>
                <p:nvPr/>
              </p:nvSpPr>
              <p:spPr>
                <a:xfrm>
                  <a:off x="6360359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64"/>
                <p:cNvSpPr/>
                <p:nvPr/>
              </p:nvSpPr>
              <p:spPr>
                <a:xfrm>
                  <a:off x="6889413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330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3" name="Google Shape;793;p64"/>
              <p:cNvGrpSpPr/>
              <p:nvPr/>
            </p:nvGrpSpPr>
            <p:grpSpPr>
              <a:xfrm>
                <a:off x="4240100" y="3833650"/>
                <a:ext cx="1069055" cy="495300"/>
                <a:chOff x="4240100" y="1579325"/>
                <a:chExt cx="1069055" cy="495300"/>
              </a:xfrm>
            </p:grpSpPr>
            <p:sp>
              <p:nvSpPr>
                <p:cNvPr id="794" name="Google Shape;794;p64"/>
                <p:cNvSpPr/>
                <p:nvPr/>
              </p:nvSpPr>
              <p:spPr>
                <a:xfrm>
                  <a:off x="4769155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5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64"/>
                <p:cNvSpPr/>
                <p:nvPr/>
              </p:nvSpPr>
              <p:spPr>
                <a:xfrm>
                  <a:off x="4240100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6" name="Google Shape;796;p64"/>
              <p:cNvSpPr/>
              <p:nvPr/>
            </p:nvSpPr>
            <p:spPr>
              <a:xfrm>
                <a:off x="7429425" y="3833650"/>
                <a:ext cx="540000" cy="4953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7" name="Google Shape;797;p64"/>
            <p:cNvGrpSpPr/>
            <p:nvPr/>
          </p:nvGrpSpPr>
          <p:grpSpPr>
            <a:xfrm>
              <a:off x="7743088" y="3833643"/>
              <a:ext cx="1069055" cy="495300"/>
              <a:chOff x="4240100" y="1579325"/>
              <a:chExt cx="1069055" cy="495300"/>
            </a:xfrm>
          </p:grpSpPr>
          <p:sp>
            <p:nvSpPr>
              <p:cNvPr id="798" name="Google Shape;798;p64"/>
              <p:cNvSpPr/>
              <p:nvPr/>
            </p:nvSpPr>
            <p:spPr>
              <a:xfrm>
                <a:off x="4240100" y="1579325"/>
                <a:ext cx="540000" cy="4953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64"/>
              <p:cNvSpPr/>
              <p:nvPr/>
            </p:nvSpPr>
            <p:spPr>
              <a:xfrm>
                <a:off x="4769155" y="1579325"/>
                <a:ext cx="540000" cy="4953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0" name="Google Shape;800;p64"/>
          <p:cNvGrpSpPr/>
          <p:nvPr/>
        </p:nvGrpSpPr>
        <p:grpSpPr>
          <a:xfrm>
            <a:off x="4011500" y="4469993"/>
            <a:ext cx="4794205" cy="495300"/>
            <a:chOff x="4011500" y="4469993"/>
            <a:chExt cx="4794205" cy="495300"/>
          </a:xfrm>
        </p:grpSpPr>
        <p:grpSp>
          <p:nvGrpSpPr>
            <p:cNvPr id="801" name="Google Shape;801;p64"/>
            <p:cNvGrpSpPr/>
            <p:nvPr/>
          </p:nvGrpSpPr>
          <p:grpSpPr>
            <a:xfrm>
              <a:off x="4011500" y="4469993"/>
              <a:ext cx="3729325" cy="495300"/>
              <a:chOff x="4240100" y="4469993"/>
              <a:chExt cx="3729325" cy="495300"/>
            </a:xfrm>
          </p:grpSpPr>
          <p:grpSp>
            <p:nvGrpSpPr>
              <p:cNvPr id="802" name="Google Shape;802;p64"/>
              <p:cNvGrpSpPr/>
              <p:nvPr/>
            </p:nvGrpSpPr>
            <p:grpSpPr>
              <a:xfrm>
                <a:off x="5302736" y="4469993"/>
                <a:ext cx="2126677" cy="495300"/>
                <a:chOff x="5302736" y="1579325"/>
                <a:chExt cx="2126677" cy="495300"/>
              </a:xfrm>
            </p:grpSpPr>
            <p:sp>
              <p:nvSpPr>
                <p:cNvPr id="803" name="Google Shape;803;p64"/>
                <p:cNvSpPr/>
                <p:nvPr/>
              </p:nvSpPr>
              <p:spPr>
                <a:xfrm>
                  <a:off x="5302736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64"/>
                <p:cNvSpPr/>
                <p:nvPr/>
              </p:nvSpPr>
              <p:spPr>
                <a:xfrm>
                  <a:off x="5831791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64"/>
                <p:cNvSpPr/>
                <p:nvPr/>
              </p:nvSpPr>
              <p:spPr>
                <a:xfrm>
                  <a:off x="6360359" y="1579325"/>
                  <a:ext cx="540000" cy="495300"/>
                </a:xfrm>
                <a:prstGeom prst="rect">
                  <a:avLst/>
                </a:prstGeom>
                <a:solidFill>
                  <a:srgbClr val="B1DD8B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14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64"/>
                <p:cNvSpPr/>
                <p:nvPr/>
              </p:nvSpPr>
              <p:spPr>
                <a:xfrm>
                  <a:off x="6889413" y="1579325"/>
                  <a:ext cx="540000" cy="4953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330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7" name="Google Shape;807;p64"/>
              <p:cNvGrpSpPr/>
              <p:nvPr/>
            </p:nvGrpSpPr>
            <p:grpSpPr>
              <a:xfrm>
                <a:off x="4240100" y="4469993"/>
                <a:ext cx="1069055" cy="495300"/>
                <a:chOff x="4240100" y="1579325"/>
                <a:chExt cx="1069055" cy="495300"/>
              </a:xfrm>
            </p:grpSpPr>
            <p:sp>
              <p:nvSpPr>
                <p:cNvPr id="808" name="Google Shape;808;p64"/>
                <p:cNvSpPr/>
                <p:nvPr/>
              </p:nvSpPr>
              <p:spPr>
                <a:xfrm>
                  <a:off x="4769155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5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64"/>
                <p:cNvSpPr/>
                <p:nvPr/>
              </p:nvSpPr>
              <p:spPr>
                <a:xfrm>
                  <a:off x="4240100" y="1579325"/>
                  <a:ext cx="540000" cy="4953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0" name="Google Shape;810;p64"/>
              <p:cNvSpPr/>
              <p:nvPr/>
            </p:nvSpPr>
            <p:spPr>
              <a:xfrm>
                <a:off x="7429425" y="4469993"/>
                <a:ext cx="540000" cy="4953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64"/>
            <p:cNvGrpSpPr/>
            <p:nvPr/>
          </p:nvGrpSpPr>
          <p:grpSpPr>
            <a:xfrm>
              <a:off x="7736650" y="4469993"/>
              <a:ext cx="1069055" cy="495300"/>
              <a:chOff x="4240100" y="1579325"/>
              <a:chExt cx="1069055" cy="495300"/>
            </a:xfrm>
          </p:grpSpPr>
          <p:sp>
            <p:nvSpPr>
              <p:cNvPr id="812" name="Google Shape;812;p64"/>
              <p:cNvSpPr/>
              <p:nvPr/>
            </p:nvSpPr>
            <p:spPr>
              <a:xfrm>
                <a:off x="4240100" y="1579325"/>
                <a:ext cx="540000" cy="4953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64"/>
              <p:cNvSpPr/>
              <p:nvPr/>
            </p:nvSpPr>
            <p:spPr>
              <a:xfrm>
                <a:off x="4769155" y="1579325"/>
                <a:ext cx="540000" cy="4953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case performance?</a:t>
            </a:r>
            <a:endParaRPr/>
          </a:p>
        </p:txBody>
      </p:sp>
      <p:sp>
        <p:nvSpPr>
          <p:cNvPr id="819" name="Google Shape;819;p6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worst case performance for Quick Select? Give an array that causes this worst case (assuming we always pick leftmost item as pivot).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case performance?</a:t>
            </a:r>
            <a:endParaRPr/>
          </a:p>
        </p:txBody>
      </p:sp>
      <p:sp>
        <p:nvSpPr>
          <p:cNvPr id="825" name="Google Shape;825;p6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worst case performance for Quick Select? Give an array that causes this worst case </a:t>
            </a:r>
            <a:r>
              <a:rPr lang="en"/>
              <a:t>(assuming we always pick leftmost item as pivot).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Worst asymptotic performance Θ(N</a:t>
            </a:r>
            <a:r>
              <a:rPr baseline="30000" lang="en"/>
              <a:t>2</a:t>
            </a:r>
            <a:r>
              <a:rPr lang="en"/>
              <a:t>) occurs if array is in sorted order.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[1 2 3 4 5 6 7 8 9 10 … N]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[1 </a:t>
            </a:r>
            <a:r>
              <a:rPr b="1" lang="en"/>
              <a:t>2 3 4 5 6 7 8 9 10 … N</a:t>
            </a: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[1 2</a:t>
            </a:r>
            <a:r>
              <a:rPr b="1" lang="en"/>
              <a:t> 3 4 5 6 7 8 9 10 … N</a:t>
            </a: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[1 2 3 4 5 … </a:t>
            </a:r>
            <a:r>
              <a:rPr b="1" lang="en"/>
              <a:t>N/2</a:t>
            </a:r>
            <a:r>
              <a:rPr lang="en"/>
              <a:t> … N]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67"/>
          <p:cNvGrpSpPr/>
          <p:nvPr/>
        </p:nvGrpSpPr>
        <p:grpSpPr>
          <a:xfrm>
            <a:off x="900363" y="2056700"/>
            <a:ext cx="5111700" cy="655969"/>
            <a:chOff x="1890963" y="1602881"/>
            <a:chExt cx="5111700" cy="655969"/>
          </a:xfrm>
        </p:grpSpPr>
        <p:grpSp>
          <p:nvGrpSpPr>
            <p:cNvPr id="831" name="Google Shape;831;p67"/>
            <p:cNvGrpSpPr/>
            <p:nvPr/>
          </p:nvGrpSpPr>
          <p:grpSpPr>
            <a:xfrm>
              <a:off x="1890963" y="1913250"/>
              <a:ext cx="5111700" cy="345600"/>
              <a:chOff x="1890963" y="1913250"/>
              <a:chExt cx="5111700" cy="345600"/>
            </a:xfrm>
          </p:grpSpPr>
          <p:sp>
            <p:nvSpPr>
              <p:cNvPr id="832" name="Google Shape;832;p67"/>
              <p:cNvSpPr/>
              <p:nvPr/>
            </p:nvSpPr>
            <p:spPr>
              <a:xfrm>
                <a:off x="1890963" y="1913250"/>
                <a:ext cx="5111700" cy="345600"/>
              </a:xfrm>
              <a:prstGeom prst="rect">
                <a:avLst/>
              </a:prstGeom>
              <a:solidFill>
                <a:srgbClr val="D9D9D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67"/>
              <p:cNvSpPr/>
              <p:nvPr/>
            </p:nvSpPr>
            <p:spPr>
              <a:xfrm>
                <a:off x="4047604" y="1913250"/>
                <a:ext cx="113700" cy="3456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34" name="Google Shape;834;p67"/>
            <p:cNvCxnSpPr>
              <a:stCxn id="835" idx="2"/>
              <a:endCxn id="833" idx="0"/>
            </p:cNvCxnSpPr>
            <p:nvPr/>
          </p:nvCxnSpPr>
          <p:spPr>
            <a:xfrm flipH="1" rot="-5400000">
              <a:off x="2870929" y="679781"/>
              <a:ext cx="310500" cy="2156700"/>
            </a:xfrm>
            <a:prstGeom prst="curvedConnector3">
              <a:avLst>
                <a:gd fmla="val 49979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36" name="Google Shape;836;p67"/>
          <p:cNvSpPr/>
          <p:nvPr/>
        </p:nvSpPr>
        <p:spPr>
          <a:xfrm>
            <a:off x="3170266" y="2372323"/>
            <a:ext cx="113700" cy="3456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67"/>
          <p:cNvSpPr/>
          <p:nvPr/>
        </p:nvSpPr>
        <p:spPr>
          <a:xfrm>
            <a:off x="900525" y="2367075"/>
            <a:ext cx="2156700" cy="345600"/>
          </a:xfrm>
          <a:prstGeom prst="rect">
            <a:avLst/>
          </a:prstGeom>
          <a:solidFill>
            <a:srgbClr val="66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Performance</a:t>
            </a:r>
            <a:endParaRPr/>
          </a:p>
        </p:txBody>
      </p:sp>
      <p:sp>
        <p:nvSpPr>
          <p:cNvPr id="839" name="Google Shape;839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 average, Quick Select will take Θ(N)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Intuitive picture (not a proof!):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0" name="Google Shape;840;p67"/>
          <p:cNvGrpSpPr/>
          <p:nvPr/>
        </p:nvGrpSpPr>
        <p:grpSpPr>
          <a:xfrm>
            <a:off x="900379" y="1711100"/>
            <a:ext cx="5147834" cy="345600"/>
            <a:chOff x="1890979" y="1253900"/>
            <a:chExt cx="5147834" cy="345600"/>
          </a:xfrm>
        </p:grpSpPr>
        <p:sp>
          <p:nvSpPr>
            <p:cNvPr id="841" name="Google Shape;841;p67"/>
            <p:cNvSpPr/>
            <p:nvPr/>
          </p:nvSpPr>
          <p:spPr>
            <a:xfrm>
              <a:off x="1927113" y="1253900"/>
              <a:ext cx="5111700" cy="345600"/>
            </a:xfrm>
            <a:prstGeom prst="rect">
              <a:avLst/>
            </a:prstGeom>
            <a:solidFill>
              <a:srgbClr val="D9D9D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67"/>
            <p:cNvSpPr/>
            <p:nvPr/>
          </p:nvSpPr>
          <p:spPr>
            <a:xfrm>
              <a:off x="1890979" y="1253900"/>
              <a:ext cx="113700" cy="3456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" name="Google Shape;842;p67"/>
          <p:cNvGrpSpPr/>
          <p:nvPr/>
        </p:nvGrpSpPr>
        <p:grpSpPr>
          <a:xfrm>
            <a:off x="900363" y="2717923"/>
            <a:ext cx="5111700" cy="661227"/>
            <a:chOff x="1890963" y="2260723"/>
            <a:chExt cx="5111700" cy="661227"/>
          </a:xfrm>
        </p:grpSpPr>
        <p:grpSp>
          <p:nvGrpSpPr>
            <p:cNvPr id="843" name="Google Shape;843;p67"/>
            <p:cNvGrpSpPr/>
            <p:nvPr/>
          </p:nvGrpSpPr>
          <p:grpSpPr>
            <a:xfrm>
              <a:off x="1890963" y="2572600"/>
              <a:ext cx="5111700" cy="349350"/>
              <a:chOff x="1776663" y="2925000"/>
              <a:chExt cx="5111700" cy="349350"/>
            </a:xfrm>
          </p:grpSpPr>
          <p:grpSp>
            <p:nvGrpSpPr>
              <p:cNvPr id="844" name="Google Shape;844;p67"/>
              <p:cNvGrpSpPr/>
              <p:nvPr/>
            </p:nvGrpSpPr>
            <p:grpSpPr>
              <a:xfrm>
                <a:off x="1776663" y="2925000"/>
                <a:ext cx="5111700" cy="349350"/>
                <a:chOff x="1890963" y="1913250"/>
                <a:chExt cx="5111700" cy="349350"/>
              </a:xfrm>
            </p:grpSpPr>
            <p:sp>
              <p:nvSpPr>
                <p:cNvPr id="845" name="Google Shape;845;p67"/>
                <p:cNvSpPr/>
                <p:nvPr/>
              </p:nvSpPr>
              <p:spPr>
                <a:xfrm>
                  <a:off x="1890963" y="1913250"/>
                  <a:ext cx="5111700" cy="345600"/>
                </a:xfrm>
                <a:prstGeom prst="rect">
                  <a:avLst/>
                </a:prstGeom>
                <a:solidFill>
                  <a:srgbClr val="D9D9D9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67"/>
                <p:cNvSpPr/>
                <p:nvPr/>
              </p:nvSpPr>
              <p:spPr>
                <a:xfrm>
                  <a:off x="4047204" y="1917000"/>
                  <a:ext cx="113700" cy="345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7" name="Google Shape;847;p67"/>
              <p:cNvSpPr/>
              <p:nvPr/>
            </p:nvSpPr>
            <p:spPr>
              <a:xfrm>
                <a:off x="1776825" y="2925000"/>
                <a:ext cx="2156100" cy="345600"/>
              </a:xfrm>
              <a:prstGeom prst="rect">
                <a:avLst/>
              </a:prstGeom>
              <a:solidFill>
                <a:srgbClr val="666666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8" name="Google Shape;848;p67"/>
            <p:cNvSpPr/>
            <p:nvPr/>
          </p:nvSpPr>
          <p:spPr>
            <a:xfrm>
              <a:off x="5493141" y="2572600"/>
              <a:ext cx="113700" cy="345600"/>
            </a:xfrm>
            <a:prstGeom prst="rect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9" name="Google Shape;849;p67"/>
            <p:cNvCxnSpPr>
              <a:stCxn id="836" idx="2"/>
              <a:endCxn id="848" idx="0"/>
            </p:cNvCxnSpPr>
            <p:nvPr/>
          </p:nvCxnSpPr>
          <p:spPr>
            <a:xfrm flipH="1" rot="-5400000">
              <a:off x="4727866" y="1750573"/>
              <a:ext cx="312000" cy="1332300"/>
            </a:xfrm>
            <a:prstGeom prst="curvedConnector3">
              <a:avLst>
                <a:gd fmla="val 49980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50" name="Google Shape;850;p67"/>
          <p:cNvSpPr/>
          <p:nvPr/>
        </p:nvSpPr>
        <p:spPr>
          <a:xfrm>
            <a:off x="4616250" y="3029800"/>
            <a:ext cx="1395900" cy="345600"/>
          </a:xfrm>
          <a:prstGeom prst="rect">
            <a:avLst/>
          </a:prstGeom>
          <a:solidFill>
            <a:srgbClr val="66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67"/>
          <p:cNvSpPr/>
          <p:nvPr/>
        </p:nvSpPr>
        <p:spPr>
          <a:xfrm>
            <a:off x="3170265" y="3033554"/>
            <a:ext cx="113700" cy="3456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2" name="Google Shape;852;p67"/>
          <p:cNvGrpSpPr/>
          <p:nvPr/>
        </p:nvGrpSpPr>
        <p:grpSpPr>
          <a:xfrm>
            <a:off x="900363" y="3379154"/>
            <a:ext cx="5111787" cy="682046"/>
            <a:chOff x="1890963" y="2921954"/>
            <a:chExt cx="5111787" cy="682046"/>
          </a:xfrm>
        </p:grpSpPr>
        <p:grpSp>
          <p:nvGrpSpPr>
            <p:cNvPr id="853" name="Google Shape;853;p67"/>
            <p:cNvGrpSpPr/>
            <p:nvPr/>
          </p:nvGrpSpPr>
          <p:grpSpPr>
            <a:xfrm>
              <a:off x="1890963" y="3258400"/>
              <a:ext cx="5111787" cy="345600"/>
              <a:chOff x="1890963" y="3258400"/>
              <a:chExt cx="5111787" cy="345600"/>
            </a:xfrm>
          </p:grpSpPr>
          <p:grpSp>
            <p:nvGrpSpPr>
              <p:cNvPr id="854" name="Google Shape;854;p67"/>
              <p:cNvGrpSpPr/>
              <p:nvPr/>
            </p:nvGrpSpPr>
            <p:grpSpPr>
              <a:xfrm>
                <a:off x="1890963" y="3258400"/>
                <a:ext cx="5111700" cy="345600"/>
                <a:chOff x="1890963" y="2572600"/>
                <a:chExt cx="5111700" cy="345600"/>
              </a:xfrm>
            </p:grpSpPr>
            <p:grpSp>
              <p:nvGrpSpPr>
                <p:cNvPr id="855" name="Google Shape;855;p67"/>
                <p:cNvGrpSpPr/>
                <p:nvPr/>
              </p:nvGrpSpPr>
              <p:grpSpPr>
                <a:xfrm>
                  <a:off x="1890963" y="2572600"/>
                  <a:ext cx="5111700" cy="345600"/>
                  <a:chOff x="1776663" y="2925000"/>
                  <a:chExt cx="5111700" cy="345600"/>
                </a:xfrm>
              </p:grpSpPr>
              <p:sp>
                <p:nvSpPr>
                  <p:cNvPr id="856" name="Google Shape;856;p67"/>
                  <p:cNvSpPr/>
                  <p:nvPr/>
                </p:nvSpPr>
                <p:spPr>
                  <a:xfrm>
                    <a:off x="1776663" y="2925000"/>
                    <a:ext cx="5111700" cy="345600"/>
                  </a:xfrm>
                  <a:prstGeom prst="rect">
                    <a:avLst/>
                  </a:prstGeom>
                  <a:solidFill>
                    <a:srgbClr val="D9D9D9"/>
                  </a:solidFill>
                  <a:ln cap="flat" cmpd="sng" w="19050">
                    <a:solidFill>
                      <a:srgbClr val="66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" name="Google Shape;857;p67"/>
                  <p:cNvSpPr/>
                  <p:nvPr/>
                </p:nvSpPr>
                <p:spPr>
                  <a:xfrm>
                    <a:off x="1776825" y="2925000"/>
                    <a:ext cx="2179800" cy="345600"/>
                  </a:xfrm>
                  <a:prstGeom prst="rect">
                    <a:avLst/>
                  </a:prstGeom>
                  <a:solidFill>
                    <a:srgbClr val="666666"/>
                  </a:solidFill>
                  <a:ln cap="flat" cmpd="sng" w="19050">
                    <a:solidFill>
                      <a:srgbClr val="66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58" name="Google Shape;858;p67"/>
                <p:cNvSpPr/>
                <p:nvPr/>
              </p:nvSpPr>
              <p:spPr>
                <a:xfrm>
                  <a:off x="5493141" y="2572600"/>
                  <a:ext cx="113700" cy="345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9" name="Google Shape;859;p67"/>
              <p:cNvSpPr/>
              <p:nvPr/>
            </p:nvSpPr>
            <p:spPr>
              <a:xfrm>
                <a:off x="5606850" y="3258400"/>
                <a:ext cx="1395900" cy="345600"/>
              </a:xfrm>
              <a:prstGeom prst="rect">
                <a:avLst/>
              </a:prstGeom>
              <a:solidFill>
                <a:srgbClr val="666666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67"/>
              <p:cNvSpPr/>
              <p:nvPr/>
            </p:nvSpPr>
            <p:spPr>
              <a:xfrm>
                <a:off x="4855429" y="3258400"/>
                <a:ext cx="113700" cy="3456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61" name="Google Shape;861;p67"/>
            <p:cNvCxnSpPr>
              <a:stCxn id="851" idx="2"/>
              <a:endCxn id="860" idx="0"/>
            </p:cNvCxnSpPr>
            <p:nvPr/>
          </p:nvCxnSpPr>
          <p:spPr>
            <a:xfrm flipH="1" rot="-5400000">
              <a:off x="4396815" y="2742854"/>
              <a:ext cx="336300" cy="694500"/>
            </a:xfrm>
            <a:prstGeom prst="curvedConnector3">
              <a:avLst>
                <a:gd fmla="val 50022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62" name="Google Shape;862;p67"/>
          <p:cNvSpPr/>
          <p:nvPr/>
        </p:nvSpPr>
        <p:spPr>
          <a:xfrm>
            <a:off x="3194102" y="3719604"/>
            <a:ext cx="113700" cy="3456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7"/>
          <p:cNvSpPr/>
          <p:nvPr/>
        </p:nvSpPr>
        <p:spPr>
          <a:xfrm>
            <a:off x="3992725" y="3724375"/>
            <a:ext cx="492000" cy="333000"/>
          </a:xfrm>
          <a:prstGeom prst="rect">
            <a:avLst/>
          </a:prstGeom>
          <a:solidFill>
            <a:srgbClr val="66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7"/>
          <p:cNvSpPr/>
          <p:nvPr/>
        </p:nvSpPr>
        <p:spPr>
          <a:xfrm>
            <a:off x="3080391" y="3719613"/>
            <a:ext cx="113700" cy="345600"/>
          </a:xfrm>
          <a:prstGeom prst="rect">
            <a:avLst/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5" name="Google Shape;865;p67"/>
          <p:cNvGrpSpPr/>
          <p:nvPr/>
        </p:nvGrpSpPr>
        <p:grpSpPr>
          <a:xfrm>
            <a:off x="900362" y="4065204"/>
            <a:ext cx="5111787" cy="684625"/>
            <a:chOff x="852738" y="4278854"/>
            <a:chExt cx="5111787" cy="684625"/>
          </a:xfrm>
        </p:grpSpPr>
        <p:grpSp>
          <p:nvGrpSpPr>
            <p:cNvPr id="866" name="Google Shape;866;p67"/>
            <p:cNvGrpSpPr/>
            <p:nvPr/>
          </p:nvGrpSpPr>
          <p:grpSpPr>
            <a:xfrm>
              <a:off x="852738" y="4609725"/>
              <a:ext cx="5111787" cy="349612"/>
              <a:chOff x="852738" y="4601525"/>
              <a:chExt cx="5111787" cy="349612"/>
            </a:xfrm>
          </p:grpSpPr>
          <p:grpSp>
            <p:nvGrpSpPr>
              <p:cNvPr id="867" name="Google Shape;867;p67"/>
              <p:cNvGrpSpPr/>
              <p:nvPr/>
            </p:nvGrpSpPr>
            <p:grpSpPr>
              <a:xfrm>
                <a:off x="852738" y="4601525"/>
                <a:ext cx="5111787" cy="345600"/>
                <a:chOff x="1890963" y="3258400"/>
                <a:chExt cx="5111787" cy="345600"/>
              </a:xfrm>
            </p:grpSpPr>
            <p:grpSp>
              <p:nvGrpSpPr>
                <p:cNvPr id="868" name="Google Shape;868;p67"/>
                <p:cNvGrpSpPr/>
                <p:nvPr/>
              </p:nvGrpSpPr>
              <p:grpSpPr>
                <a:xfrm>
                  <a:off x="1890963" y="3258400"/>
                  <a:ext cx="5111700" cy="345600"/>
                  <a:chOff x="1890963" y="2572600"/>
                  <a:chExt cx="5111700" cy="345600"/>
                </a:xfrm>
              </p:grpSpPr>
              <p:grpSp>
                <p:nvGrpSpPr>
                  <p:cNvPr id="869" name="Google Shape;869;p67"/>
                  <p:cNvGrpSpPr/>
                  <p:nvPr/>
                </p:nvGrpSpPr>
                <p:grpSpPr>
                  <a:xfrm>
                    <a:off x="1890963" y="2572600"/>
                    <a:ext cx="5111700" cy="345600"/>
                    <a:chOff x="1776663" y="2925000"/>
                    <a:chExt cx="5111700" cy="345600"/>
                  </a:xfrm>
                </p:grpSpPr>
                <p:sp>
                  <p:nvSpPr>
                    <p:cNvPr id="870" name="Google Shape;870;p67"/>
                    <p:cNvSpPr/>
                    <p:nvPr/>
                  </p:nvSpPr>
                  <p:spPr>
                    <a:xfrm>
                      <a:off x="1776663" y="2925000"/>
                      <a:ext cx="5111700" cy="345600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1" name="Google Shape;871;p67"/>
                    <p:cNvSpPr/>
                    <p:nvPr/>
                  </p:nvSpPr>
                  <p:spPr>
                    <a:xfrm>
                      <a:off x="1776825" y="2925000"/>
                      <a:ext cx="2179800" cy="345600"/>
                    </a:xfrm>
                    <a:prstGeom prst="rect">
                      <a:avLst/>
                    </a:prstGeom>
                    <a:solidFill>
                      <a:srgbClr val="666666"/>
                    </a:solidFill>
                    <a:ln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872" name="Google Shape;872;p67"/>
                  <p:cNvSpPr/>
                  <p:nvPr/>
                </p:nvSpPr>
                <p:spPr>
                  <a:xfrm>
                    <a:off x="5493141" y="2572600"/>
                    <a:ext cx="113700" cy="345600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73" name="Google Shape;873;p67"/>
                <p:cNvSpPr/>
                <p:nvPr/>
              </p:nvSpPr>
              <p:spPr>
                <a:xfrm>
                  <a:off x="5606850" y="3258400"/>
                  <a:ext cx="1395900" cy="345600"/>
                </a:xfrm>
                <a:prstGeom prst="rect">
                  <a:avLst/>
                </a:prstGeom>
                <a:solidFill>
                  <a:srgbClr val="666666"/>
                </a:solidFill>
                <a:ln cap="flat" cmpd="sng" w="19050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4" name="Google Shape;874;p67"/>
                <p:cNvSpPr/>
                <p:nvPr/>
              </p:nvSpPr>
              <p:spPr>
                <a:xfrm>
                  <a:off x="4855429" y="3258400"/>
                  <a:ext cx="113700" cy="345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5" name="Google Shape;875;p67"/>
              <p:cNvSpPr/>
              <p:nvPr/>
            </p:nvSpPr>
            <p:spPr>
              <a:xfrm>
                <a:off x="3945100" y="4610300"/>
                <a:ext cx="492000" cy="333000"/>
              </a:xfrm>
              <a:prstGeom prst="rect">
                <a:avLst/>
              </a:prstGeom>
              <a:solidFill>
                <a:srgbClr val="666666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67"/>
              <p:cNvSpPr/>
              <p:nvPr/>
            </p:nvSpPr>
            <p:spPr>
              <a:xfrm>
                <a:off x="3032766" y="4605538"/>
                <a:ext cx="113700" cy="3456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77" name="Google Shape;877;p67"/>
            <p:cNvCxnSpPr>
              <a:stCxn id="862" idx="2"/>
              <a:endCxn id="878" idx="0"/>
            </p:cNvCxnSpPr>
            <p:nvPr/>
          </p:nvCxnSpPr>
          <p:spPr>
            <a:xfrm flipH="1" rot="-5400000">
              <a:off x="3086027" y="4396154"/>
              <a:ext cx="339000" cy="104400"/>
            </a:xfrm>
            <a:prstGeom prst="curvedConnector3">
              <a:avLst>
                <a:gd fmla="val 50004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8" name="Google Shape;878;p67"/>
            <p:cNvSpPr/>
            <p:nvPr/>
          </p:nvSpPr>
          <p:spPr>
            <a:xfrm>
              <a:off x="3250954" y="4617879"/>
              <a:ext cx="113700" cy="345600"/>
            </a:xfrm>
            <a:prstGeom prst="rect">
              <a:avLst/>
            </a:prstGeom>
            <a:solidFill>
              <a:srgbClr val="9900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9" name="Google Shape;879;p67"/>
          <p:cNvGrpSpPr/>
          <p:nvPr/>
        </p:nvGrpSpPr>
        <p:grpSpPr>
          <a:xfrm>
            <a:off x="6048200" y="1391100"/>
            <a:ext cx="2869650" cy="2747100"/>
            <a:chOff x="6048200" y="1391100"/>
            <a:chExt cx="2869650" cy="2747100"/>
          </a:xfrm>
        </p:grpSpPr>
        <p:sp>
          <p:nvSpPr>
            <p:cNvPr id="880" name="Google Shape;880;p67"/>
            <p:cNvSpPr txBox="1"/>
            <p:nvPr/>
          </p:nvSpPr>
          <p:spPr>
            <a:xfrm>
              <a:off x="6048200" y="2349200"/>
              <a:ext cx="13959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~N compares</a:t>
              </a:r>
              <a:endParaRPr/>
            </a:p>
          </p:txBody>
        </p:sp>
        <p:sp>
          <p:nvSpPr>
            <p:cNvPr id="881" name="Google Shape;881;p67"/>
            <p:cNvSpPr txBox="1"/>
            <p:nvPr/>
          </p:nvSpPr>
          <p:spPr>
            <a:xfrm>
              <a:off x="6062575" y="3077800"/>
              <a:ext cx="15528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~N/2 compares</a:t>
              </a:r>
              <a:endParaRPr/>
            </a:p>
          </p:txBody>
        </p:sp>
        <p:sp>
          <p:nvSpPr>
            <p:cNvPr id="882" name="Google Shape;882;p67"/>
            <p:cNvSpPr txBox="1"/>
            <p:nvPr/>
          </p:nvSpPr>
          <p:spPr>
            <a:xfrm>
              <a:off x="6048200" y="3730200"/>
              <a:ext cx="15528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~N/4 compares</a:t>
              </a:r>
              <a:endParaRPr/>
            </a:p>
          </p:txBody>
        </p:sp>
        <p:cxnSp>
          <p:nvCxnSpPr>
            <p:cNvPr id="883" name="Google Shape;883;p67"/>
            <p:cNvCxnSpPr/>
            <p:nvPr/>
          </p:nvCxnSpPr>
          <p:spPr>
            <a:xfrm flipH="1">
              <a:off x="6169500" y="1904025"/>
              <a:ext cx="1113000" cy="358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4" name="Google Shape;884;p67"/>
            <p:cNvSpPr txBox="1"/>
            <p:nvPr/>
          </p:nvSpPr>
          <p:spPr>
            <a:xfrm>
              <a:off x="7365050" y="1391100"/>
              <a:ext cx="1552800" cy="1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On average, pivot ends up about halfway</a:t>
              </a:r>
              <a:endParaRPr/>
            </a:p>
          </p:txBody>
        </p:sp>
      </p:grpSp>
      <p:sp>
        <p:nvSpPr>
          <p:cNvPr id="885" name="Google Shape;885;p67"/>
          <p:cNvSpPr txBox="1"/>
          <p:nvPr/>
        </p:nvSpPr>
        <p:spPr>
          <a:xfrm>
            <a:off x="5178650" y="858600"/>
            <a:ext cx="3851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 + N/2 + N/4 + … + 1 = Θ(N)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Quicksort With Quickselect?</a:t>
            </a:r>
            <a:endParaRPr/>
          </a:p>
        </p:txBody>
      </p:sp>
      <p:sp>
        <p:nvSpPr>
          <p:cNvPr id="891" name="Google Shape;891;p68"/>
          <p:cNvSpPr txBox="1"/>
          <p:nvPr>
            <p:ph idx="1" type="body"/>
          </p:nvPr>
        </p:nvSpPr>
        <p:spPr>
          <a:xfrm>
            <a:off x="243000" y="3157050"/>
            <a:ext cx="8443800" cy="15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Quicksort with PICK to find exact median was terrible.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we used Quickselect to find the exact median?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Resulting algorithm is still quite slow. Also: a little strange to do a bunch of partitions to identify the optimal item to partition around.</a:t>
            </a:r>
            <a:endParaRPr/>
          </a:p>
        </p:txBody>
      </p:sp>
      <p:graphicFrame>
        <p:nvGraphicFramePr>
          <p:cNvPr id="892" name="Google Shape;892;p68"/>
          <p:cNvGraphicFramePr/>
          <p:nvPr/>
        </p:nvGraphicFramePr>
        <p:xfrm>
          <a:off x="316925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{CD119730-6714-43CB-AF46-6103592D6F28}</a:tableStyleId>
              </a:tblPr>
              <a:tblGrid>
                <a:gridCol w="1584175"/>
                <a:gridCol w="1333200"/>
                <a:gridCol w="1118150"/>
                <a:gridCol w="1407600"/>
                <a:gridCol w="1656325"/>
                <a:gridCol w="12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Pivot Selection Strategy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Partition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 Avoidance Strategy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to sort 1000 arrays of 10000 ints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N/A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1.3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 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L3S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Leftmost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3-scan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Shuffle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</a:t>
                      </a:r>
                      <a:r>
                        <a:rPr baseline="30000" lang="en"/>
                        <a:t>2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LTHS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Leftmost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Tony Hoare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Shuffle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</a:t>
                      </a:r>
                      <a:r>
                        <a:rPr baseline="30000" lang="en"/>
                        <a:t>2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Quicksort PickTH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 Median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Tony Hoare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 Median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4.9 seconds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Θ(N 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898" name="Google Shape;898;p6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Quicksort Variants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Philosophies for Avoiding Worst Case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Quicksort Variant Experiments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 Select (median finding)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Sorting Stability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Sounds of Sorting</a:t>
            </a:r>
            <a:endParaRPr/>
          </a:p>
        </p:txBody>
      </p:sp>
      <p:sp>
        <p:nvSpPr>
          <p:cNvPr id="899" name="Google Shape;899;p6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Stability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Summary (so far)</a:t>
            </a:r>
            <a:endParaRPr/>
          </a:p>
        </p:txBody>
      </p:sp>
      <p:sp>
        <p:nvSpPr>
          <p:cNvPr id="905" name="Google Shape;905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Listed by mechanism: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sort: Find the smallest item and put it at the front.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Insertion sort: Figure out where to insert the current item.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 sort: Merge two sorted halves into one sorted whole.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(quick) sort: Partition items around a pivot.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Listed by memory and runtime: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6" name="Google Shape;906;p70"/>
          <p:cNvGraphicFramePr/>
          <p:nvPr/>
        </p:nvGraphicFramePr>
        <p:xfrm>
          <a:off x="826864" y="30814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 Compares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Heapsort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 worst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Bad caching (61C)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Insertion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worst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 if almost sorted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 worst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Quicksort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Θ(log N) (call stack)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 expected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Desirable Sorting Properties: Stability</a:t>
            </a:r>
            <a:endParaRPr/>
          </a:p>
        </p:txBody>
      </p:sp>
      <p:sp>
        <p:nvSpPr>
          <p:cNvPr id="912" name="Google Shape;912;p7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sort is said to be stable if order of equivalent items is preserved.</a:t>
            </a:r>
            <a:endParaRPr/>
          </a:p>
        </p:txBody>
      </p:sp>
      <p:graphicFrame>
        <p:nvGraphicFramePr>
          <p:cNvPr id="913" name="Google Shape;913;p71"/>
          <p:cNvGraphicFramePr/>
          <p:nvPr/>
        </p:nvGraphicFramePr>
        <p:xfrm>
          <a:off x="787450" y="134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166800"/>
                <a:gridCol w="1166800"/>
              </a:tblGrid>
              <a:tr h="37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Fikriyya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Jana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Jouni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Nikolaj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Rosella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Sigurd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914" name="Google Shape;914;p71"/>
          <p:cNvSpPr txBox="1"/>
          <p:nvPr/>
        </p:nvSpPr>
        <p:spPr>
          <a:xfrm>
            <a:off x="531650" y="966900"/>
            <a:ext cx="301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sort(studentRecords, BY_NAME);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15" name="Google Shape;915;p71"/>
          <p:cNvGraphicFramePr/>
          <p:nvPr/>
        </p:nvGraphicFramePr>
        <p:xfrm>
          <a:off x="6062800" y="134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166800"/>
                <a:gridCol w="1166800"/>
              </a:tblGrid>
              <a:tr h="37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Sigurd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Jana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Jouni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Rosella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Fikriyya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Nikolaj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916" name="Google Shape;916;p71"/>
          <p:cNvSpPr txBox="1"/>
          <p:nvPr/>
        </p:nvSpPr>
        <p:spPr>
          <a:xfrm>
            <a:off x="5778101" y="968975"/>
            <a:ext cx="33660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sort(studentRecords, BY_SECTION);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7" name="Google Shape;917;p71"/>
          <p:cNvCxnSpPr/>
          <p:nvPr/>
        </p:nvCxnSpPr>
        <p:spPr>
          <a:xfrm>
            <a:off x="3140500" y="2341350"/>
            <a:ext cx="2918100" cy="38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8" name="Google Shape;918;p71"/>
          <p:cNvCxnSpPr/>
          <p:nvPr/>
        </p:nvCxnSpPr>
        <p:spPr>
          <a:xfrm>
            <a:off x="3115775" y="2749375"/>
            <a:ext cx="2955000" cy="3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71"/>
          <p:cNvCxnSpPr/>
          <p:nvPr/>
        </p:nvCxnSpPr>
        <p:spPr>
          <a:xfrm flipH="1" rot="10800000">
            <a:off x="3128150" y="3530300"/>
            <a:ext cx="2930400" cy="38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0" name="Google Shape;920;p71"/>
          <p:cNvCxnSpPr/>
          <p:nvPr/>
        </p:nvCxnSpPr>
        <p:spPr>
          <a:xfrm>
            <a:off x="3115775" y="1550050"/>
            <a:ext cx="2942700" cy="7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" name="Google Shape;921;p71"/>
          <p:cNvSpPr txBox="1"/>
          <p:nvPr/>
        </p:nvSpPr>
        <p:spPr>
          <a:xfrm>
            <a:off x="358550" y="4496750"/>
            <a:ext cx="878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71"/>
          <p:cNvSpPr txBox="1"/>
          <p:nvPr/>
        </p:nvSpPr>
        <p:spPr>
          <a:xfrm>
            <a:off x="510950" y="4649150"/>
            <a:ext cx="6924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Equivalent items don’t ‘cross over’ when being stably sorted.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Desirable Sorting Properties: Stability</a:t>
            </a:r>
            <a:endParaRPr/>
          </a:p>
        </p:txBody>
      </p:sp>
      <p:sp>
        <p:nvSpPr>
          <p:cNvPr id="928" name="Google Shape;928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sort is said to be stable if order of equivalent items is preserved.</a:t>
            </a:r>
            <a:endParaRPr/>
          </a:p>
        </p:txBody>
      </p:sp>
      <p:graphicFrame>
        <p:nvGraphicFramePr>
          <p:cNvPr id="929" name="Google Shape;929;p72"/>
          <p:cNvGraphicFramePr/>
          <p:nvPr/>
        </p:nvGraphicFramePr>
        <p:xfrm>
          <a:off x="787450" y="134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166800"/>
                <a:gridCol w="1166800"/>
              </a:tblGrid>
              <a:tr h="37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Fikriyya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Jana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Jouni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Nikolaj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Rosella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Sigurd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930" name="Google Shape;930;p72"/>
          <p:cNvSpPr txBox="1"/>
          <p:nvPr/>
        </p:nvSpPr>
        <p:spPr>
          <a:xfrm>
            <a:off x="531650" y="966900"/>
            <a:ext cx="301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sort(studentRecords, BY_NAME);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31" name="Google Shape;931;p72"/>
          <p:cNvGraphicFramePr/>
          <p:nvPr/>
        </p:nvGraphicFramePr>
        <p:xfrm>
          <a:off x="6062800" y="134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166800"/>
                <a:gridCol w="1166800"/>
              </a:tblGrid>
              <a:tr h="37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Sigurd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Jouni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Rosella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Jana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Fikriyya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Nikolaj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932" name="Google Shape;932;p72"/>
          <p:cNvSpPr txBox="1"/>
          <p:nvPr/>
        </p:nvSpPr>
        <p:spPr>
          <a:xfrm>
            <a:off x="5778101" y="968975"/>
            <a:ext cx="33660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sort(studentRecords, BY_SECTION);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3" name="Google Shape;933;p72"/>
          <p:cNvCxnSpPr/>
          <p:nvPr/>
        </p:nvCxnSpPr>
        <p:spPr>
          <a:xfrm>
            <a:off x="3140500" y="2341350"/>
            <a:ext cx="2918100" cy="114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4" name="Google Shape;934;p72"/>
          <p:cNvCxnSpPr/>
          <p:nvPr/>
        </p:nvCxnSpPr>
        <p:spPr>
          <a:xfrm flipH="1" rot="10800000">
            <a:off x="3115775" y="2341375"/>
            <a:ext cx="2942700" cy="40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72"/>
          <p:cNvCxnSpPr/>
          <p:nvPr/>
        </p:nvCxnSpPr>
        <p:spPr>
          <a:xfrm flipH="1" rot="10800000">
            <a:off x="3128150" y="2749400"/>
            <a:ext cx="2930400" cy="116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72"/>
          <p:cNvCxnSpPr/>
          <p:nvPr/>
        </p:nvCxnSpPr>
        <p:spPr>
          <a:xfrm>
            <a:off x="3115775" y="1550050"/>
            <a:ext cx="2955000" cy="155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7" name="Google Shape;937;p72"/>
          <p:cNvSpPr txBox="1"/>
          <p:nvPr/>
        </p:nvSpPr>
        <p:spPr>
          <a:xfrm>
            <a:off x="510950" y="4649150"/>
            <a:ext cx="8421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Sorting instability can be really annoying! Wanted students listed alphabetically by section.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Stability        www.yellkey.com/</a:t>
            </a:r>
            <a:r>
              <a:rPr lang="en">
                <a:solidFill>
                  <a:srgbClr val="38761D"/>
                </a:solidFill>
              </a:rPr>
              <a:t>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43" name="Google Shape;943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insertion sort stable?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Quicksort stable?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--------&gt;</a:t>
            </a:r>
            <a:endParaRPr/>
          </a:p>
        </p:txBody>
      </p:sp>
      <p:sp>
        <p:nvSpPr>
          <p:cNvPr id="944" name="Google Shape;944;p73"/>
          <p:cNvSpPr txBox="1"/>
          <p:nvPr/>
        </p:nvSpPr>
        <p:spPr>
          <a:xfrm>
            <a:off x="4535600" y="751075"/>
            <a:ext cx="37383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S O R T E X A M P L E</a:t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O R T E X A 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(0 swaps)</a:t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 T E X A M P L E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(1 swap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O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T E X A M P L E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(1 swap )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O R S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 X A 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(0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 R 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X A M P L E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(4 swaps)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 O R S 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(0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 O R S 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(6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 R S T X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(5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M O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 S T X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(4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 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 S T X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(7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 O P R S T X  (8 swaps)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73"/>
          <p:cNvSpPr/>
          <p:nvPr/>
        </p:nvSpPr>
        <p:spPr>
          <a:xfrm>
            <a:off x="2710550" y="3566036"/>
            <a:ext cx="5400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73"/>
          <p:cNvSpPr/>
          <p:nvPr/>
        </p:nvSpPr>
        <p:spPr>
          <a:xfrm>
            <a:off x="3239605" y="3566036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73"/>
          <p:cNvSpPr/>
          <p:nvPr/>
        </p:nvSpPr>
        <p:spPr>
          <a:xfrm>
            <a:off x="3773186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3"/>
          <p:cNvSpPr/>
          <p:nvPr/>
        </p:nvSpPr>
        <p:spPr>
          <a:xfrm>
            <a:off x="4302241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3"/>
          <p:cNvSpPr/>
          <p:nvPr/>
        </p:nvSpPr>
        <p:spPr>
          <a:xfrm>
            <a:off x="4830809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73"/>
          <p:cNvSpPr/>
          <p:nvPr/>
        </p:nvSpPr>
        <p:spPr>
          <a:xfrm>
            <a:off x="5359863" y="3566036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3"/>
          <p:cNvSpPr/>
          <p:nvPr/>
        </p:nvSpPr>
        <p:spPr>
          <a:xfrm>
            <a:off x="5893445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Stability</a:t>
            </a:r>
            <a:endParaRPr/>
          </a:p>
        </p:txBody>
      </p:sp>
      <p:sp>
        <p:nvSpPr>
          <p:cNvPr id="957" name="Google Shape;957;p74"/>
          <p:cNvSpPr txBox="1"/>
          <p:nvPr>
            <p:ph idx="1" type="body"/>
          </p:nvPr>
        </p:nvSpPr>
        <p:spPr>
          <a:xfrm>
            <a:off x="243000" y="556500"/>
            <a:ext cx="42282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insertion sort stable?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Equivalent items never move past their equivalent brethren.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Quicksort stable?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Depends on your partitioning strategy.</a:t>
            </a:r>
            <a:endParaRPr/>
          </a:p>
        </p:txBody>
      </p:sp>
      <p:sp>
        <p:nvSpPr>
          <p:cNvPr id="958" name="Google Shape;958;p74"/>
          <p:cNvSpPr txBox="1"/>
          <p:nvPr/>
        </p:nvSpPr>
        <p:spPr>
          <a:xfrm>
            <a:off x="4535600" y="751075"/>
            <a:ext cx="37383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S O R T E X A M P L E</a:t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O R T E X A 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(0 swaps)</a:t>
            </a:r>
            <a:endParaRPr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 T E X A M P L E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(1 swap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O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T E X A M P L E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(1 swap )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O R S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 X A 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(0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 R 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X A M P L E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(4 swaps)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 O R S 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(0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 O R S 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M 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(6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 R S T X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P 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(5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M O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 S T X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L 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(4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 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 S T X </a:t>
            </a: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(7 swaps)</a:t>
            </a:r>
            <a:endParaRPr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 E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 O P R S T X  (8 swaps)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9" name="Google Shape;959;p74"/>
          <p:cNvSpPr/>
          <p:nvPr/>
        </p:nvSpPr>
        <p:spPr>
          <a:xfrm>
            <a:off x="2710550" y="3566036"/>
            <a:ext cx="5400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74"/>
          <p:cNvSpPr/>
          <p:nvPr/>
        </p:nvSpPr>
        <p:spPr>
          <a:xfrm>
            <a:off x="3239605" y="3566036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74"/>
          <p:cNvSpPr/>
          <p:nvPr/>
        </p:nvSpPr>
        <p:spPr>
          <a:xfrm>
            <a:off x="3773186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74"/>
          <p:cNvSpPr/>
          <p:nvPr/>
        </p:nvSpPr>
        <p:spPr>
          <a:xfrm>
            <a:off x="4302241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74"/>
          <p:cNvSpPr/>
          <p:nvPr/>
        </p:nvSpPr>
        <p:spPr>
          <a:xfrm>
            <a:off x="4830809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74"/>
          <p:cNvSpPr/>
          <p:nvPr/>
        </p:nvSpPr>
        <p:spPr>
          <a:xfrm>
            <a:off x="5359863" y="3566036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74"/>
          <p:cNvSpPr/>
          <p:nvPr/>
        </p:nvSpPr>
        <p:spPr>
          <a:xfrm>
            <a:off x="5893445" y="3566036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74"/>
          <p:cNvSpPr/>
          <p:nvPr/>
        </p:nvSpPr>
        <p:spPr>
          <a:xfrm>
            <a:off x="4937042" y="4407878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4"/>
          <p:cNvSpPr/>
          <p:nvPr/>
        </p:nvSpPr>
        <p:spPr>
          <a:xfrm>
            <a:off x="5466097" y="4407878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4"/>
          <p:cNvSpPr/>
          <p:nvPr/>
        </p:nvSpPr>
        <p:spPr>
          <a:xfrm>
            <a:off x="5999678" y="4407878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74"/>
          <p:cNvSpPr/>
          <p:nvPr/>
        </p:nvSpPr>
        <p:spPr>
          <a:xfrm>
            <a:off x="6528734" y="4407878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74"/>
          <p:cNvSpPr/>
          <p:nvPr/>
        </p:nvSpPr>
        <p:spPr>
          <a:xfrm>
            <a:off x="7057301" y="4407878"/>
            <a:ext cx="5400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7586355" y="4407878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4"/>
          <p:cNvSpPr/>
          <p:nvPr/>
        </p:nvSpPr>
        <p:spPr>
          <a:xfrm>
            <a:off x="8119937" y="4407878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4"/>
          <p:cNvSpPr/>
          <p:nvPr/>
        </p:nvSpPr>
        <p:spPr>
          <a:xfrm>
            <a:off x="499425" y="4421100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4"/>
          <p:cNvSpPr/>
          <p:nvPr/>
        </p:nvSpPr>
        <p:spPr>
          <a:xfrm>
            <a:off x="1028480" y="4421100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74"/>
          <p:cNvSpPr/>
          <p:nvPr/>
        </p:nvSpPr>
        <p:spPr>
          <a:xfrm>
            <a:off x="1562061" y="4421100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74"/>
          <p:cNvSpPr/>
          <p:nvPr/>
        </p:nvSpPr>
        <p:spPr>
          <a:xfrm>
            <a:off x="2091116" y="4421100"/>
            <a:ext cx="540000" cy="4953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74"/>
          <p:cNvSpPr/>
          <p:nvPr/>
        </p:nvSpPr>
        <p:spPr>
          <a:xfrm>
            <a:off x="2619684" y="4421100"/>
            <a:ext cx="5400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74"/>
          <p:cNvSpPr/>
          <p:nvPr/>
        </p:nvSpPr>
        <p:spPr>
          <a:xfrm>
            <a:off x="3148738" y="4421100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74"/>
          <p:cNvSpPr/>
          <p:nvPr/>
        </p:nvSpPr>
        <p:spPr>
          <a:xfrm>
            <a:off x="3682320" y="4421100"/>
            <a:ext cx="5400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0" name="Google Shape;980;p74"/>
          <p:cNvCxnSpPr>
            <a:stCxn id="961" idx="2"/>
            <a:endCxn id="968" idx="0"/>
          </p:cNvCxnSpPr>
          <p:nvPr/>
        </p:nvCxnSpPr>
        <p:spPr>
          <a:xfrm>
            <a:off x="4043186" y="4061336"/>
            <a:ext cx="2226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1" name="Google Shape;981;p74"/>
          <p:cNvCxnSpPr>
            <a:stCxn id="965" idx="2"/>
            <a:endCxn id="967" idx="0"/>
          </p:cNvCxnSpPr>
          <p:nvPr/>
        </p:nvCxnSpPr>
        <p:spPr>
          <a:xfrm flipH="1">
            <a:off x="5736245" y="4061336"/>
            <a:ext cx="4272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2" name="Google Shape;982;p74"/>
          <p:cNvSpPr txBox="1"/>
          <p:nvPr/>
        </p:nvSpPr>
        <p:spPr>
          <a:xfrm>
            <a:off x="7033221" y="4060650"/>
            <a:ext cx="1656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Hoare partitioning.</a:t>
            </a:r>
            <a:endParaRPr/>
          </a:p>
        </p:txBody>
      </p:sp>
      <p:sp>
        <p:nvSpPr>
          <p:cNvPr id="983" name="Google Shape;983;p74"/>
          <p:cNvSpPr txBox="1"/>
          <p:nvPr/>
        </p:nvSpPr>
        <p:spPr>
          <a:xfrm>
            <a:off x="437172" y="4072605"/>
            <a:ext cx="2129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array partitioning.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Stability</a:t>
            </a:r>
            <a:endParaRPr/>
          </a:p>
        </p:txBody>
      </p:sp>
      <p:graphicFrame>
        <p:nvGraphicFramePr>
          <p:cNvPr id="989" name="Google Shape;989;p75"/>
          <p:cNvGraphicFramePr/>
          <p:nvPr/>
        </p:nvGraphicFramePr>
        <p:xfrm>
          <a:off x="810464" y="8084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{9E83FCBE-742E-4D1B-A467-25AE52B67359}</a:tableStyleId>
              </a:tblPr>
              <a:tblGrid>
                <a:gridCol w="1740050"/>
                <a:gridCol w="906625"/>
                <a:gridCol w="1813075"/>
                <a:gridCol w="1769800"/>
                <a:gridCol w="14483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 Compares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Stable?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Heapsort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Bad caching (61C)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Insertion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 if almost sorted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Quicksort LTHS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 expected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90" name="Google Shape;990;p75"/>
          <p:cNvCxnSpPr/>
          <p:nvPr/>
        </p:nvCxnSpPr>
        <p:spPr>
          <a:xfrm flipH="1" rot="10800000">
            <a:off x="6651925" y="2708075"/>
            <a:ext cx="531600" cy="4821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75"/>
          <p:cNvSpPr txBox="1"/>
          <p:nvPr/>
        </p:nvSpPr>
        <p:spPr>
          <a:xfrm>
            <a:off x="3842625" y="3171750"/>
            <a:ext cx="42804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You can create a stable Quicksort (i.e. the version from the previous lecture). However, unstable partitioning schemes (like Hoare partitioning) tend to be faster. All reasonable partitioning schemes yield </a:t>
            </a:r>
            <a:r>
              <a:rPr lang="en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Θ(N log N) expected </a:t>
            </a:r>
            <a:r>
              <a:rPr lang="en">
                <a:solidFill>
                  <a:srgbClr val="BE0712"/>
                </a:solidFill>
              </a:rPr>
              <a:t>runtime</a:t>
            </a:r>
            <a:r>
              <a:rPr lang="en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>
                <a:solidFill>
                  <a:srgbClr val="BE0712"/>
                </a:solidFill>
              </a:rPr>
              <a:t>but with different constants.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992" name="Google Shape;992;p75"/>
          <p:cNvCxnSpPr/>
          <p:nvPr/>
        </p:nvCxnSpPr>
        <p:spPr>
          <a:xfrm flipH="1" rot="10800000">
            <a:off x="2340150" y="2732337"/>
            <a:ext cx="531600" cy="4821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3" name="Google Shape;993;p75"/>
          <p:cNvSpPr txBox="1"/>
          <p:nvPr/>
        </p:nvSpPr>
        <p:spPr>
          <a:xfrm>
            <a:off x="166800" y="3171750"/>
            <a:ext cx="2705100" cy="13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This is due to the cost of tracking recursive calls by the computer, and is also an “expected” amount. The difference between log N and constant memory is trivial.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Arrays.sort</a:t>
            </a:r>
            <a:endParaRPr/>
          </a:p>
        </p:txBody>
      </p:sp>
      <p:sp>
        <p:nvSpPr>
          <p:cNvPr id="999" name="Google Shape;999;p7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Java, Arrays.sort(someArray) uses: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Mergesort (specifically the TimSort variant) if someArray consists of Objects.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Quicksort if someArray consists of primitives.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Why? See A level problems.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0" name="Google Shape;100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00" y="3293525"/>
            <a:ext cx="9010550" cy="79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088" y="4282550"/>
            <a:ext cx="774382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Arrays.sort</a:t>
            </a:r>
            <a:endParaRPr/>
          </a:p>
        </p:txBody>
      </p:sp>
      <p:sp>
        <p:nvSpPr>
          <p:cNvPr id="1007" name="Google Shape;1007;p7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Java, Arrays.sort(someArray) uses: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Mergesort (specifically the TimSort variant) if someArray consists of Objects.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Quicksort if someArray consists of primitives.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Quicksort isn’t stable, but there’s only one way to order them. Wouldn’t have multiple types of orders.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sort by other things, say sum of the digits. 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Order by number of digits.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My usual answer: 5 is just 5. There’s no different possible 5s.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Arrays.sort</a:t>
            </a:r>
            <a:endParaRPr/>
          </a:p>
        </p:txBody>
      </p:sp>
      <p:sp>
        <p:nvSpPr>
          <p:cNvPr id="1013" name="Google Shape;1013;p7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Java, Arrays.sort(someArray) uses: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Mergesort (specifically the TimSort variant) if someArray consists of Objects.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Quicksort if someArray consists of primitives.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are using a primitive value, they are the ‘same’. A 4 is a 4. Unstable sort has no observable effect.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There’s really only one natural order for numbers, so why not just assume that’s the case and sort them that way.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contrast, objects can have many properties, e.g. section and name, so equivalent items CAN be differentiated.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know there’s only one way, can you force Java to use Quicksort?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Sorts</a:t>
            </a:r>
            <a:endParaRPr/>
          </a:p>
        </p:txBody>
      </p:sp>
      <p:sp>
        <p:nvSpPr>
          <p:cNvPr id="1019" name="Google Shape;1019;p7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Additional tricks we can play: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 to insertion sort: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subproblem reaches size 15 or lower, use insertion sort.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sort </a:t>
            </a:r>
            <a:r>
              <a:rPr b="1" i="1" lang="en"/>
              <a:t>adaptive</a:t>
            </a:r>
            <a:r>
              <a:rPr lang="en"/>
              <a:t>: Exploit existing order in array (Insertion Sort, SmoothSort, TimSort (</a:t>
            </a:r>
            <a:r>
              <a:rPr i="1" lang="en"/>
              <a:t>the </a:t>
            </a:r>
            <a:r>
              <a:rPr lang="en"/>
              <a:t>sort in Python and Java)).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Exploit restrictions on set of keys. If number of keys is some constant, e.g. [3, 4, 1, 2, 4, 3, …, 2, 2, 2, 1, 4, 3, 2, 3], can sort faster (see 3-way quicksort -- if you’re curious, see: 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http://goo.gl/3sYnv3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Quicksort: Make the algorithm introspective, switching to a different sorting method if recursion goes too deep. Only a problem for deterministic flavors of Quicksort.</a:t>
            </a:r>
            <a:endParaRPr/>
          </a:p>
        </p:txBody>
      </p:sp>
      <p:pic>
        <p:nvPicPr>
          <p:cNvPr id="1020" name="Google Shape;102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7958" y="0"/>
            <a:ext cx="956042" cy="84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79"/>
          <p:cNvCxnSpPr>
            <a:stCxn id="1020" idx="2"/>
          </p:cNvCxnSpPr>
          <p:nvPr/>
        </p:nvCxnSpPr>
        <p:spPr>
          <a:xfrm rot="5400000">
            <a:off x="7052129" y="280750"/>
            <a:ext cx="1051200" cy="2176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1027" name="Google Shape;1027;p8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Quicksort Variants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Philosophies for Avoiding Worst Case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Quicksort Variant Experiments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Quick Select (median finding)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Sorting Stability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Sounds of Sorting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8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Sounds of Sorting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Sounds of Sorting Algorithms (of 125 items)</a:t>
            </a:r>
            <a:endParaRPr/>
          </a:p>
        </p:txBody>
      </p:sp>
      <p:sp>
        <p:nvSpPr>
          <p:cNvPr id="1034" name="Google Shape;1034;p8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Starts with selection sort: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https://www.youtube.com/watch?v=kPRA0W1kECg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Insertion sort: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https://www.youtube.com/watch?v=kPRA0W1kECg&amp;t=0m9s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Quicksort: </a:t>
            </a:r>
            <a:r>
              <a:rPr lang="en" sz="1400" u="sng">
                <a:solidFill>
                  <a:schemeClr val="hlink"/>
                </a:solidFill>
                <a:hlinkClick r:id="rId5"/>
              </a:rPr>
              <a:t>https://www.youtube.com/watch?v=kPRA0W1kECg&amp;t=0m38s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Mergesort: </a:t>
            </a:r>
            <a:r>
              <a:rPr lang="en" sz="1400" u="sng">
                <a:solidFill>
                  <a:schemeClr val="hlink"/>
                </a:solidFill>
                <a:hlinkClick r:id="rId6"/>
              </a:rPr>
              <a:t>https://www.youtube.com/watch?v=kPRA0W1kECg&amp;t=1m05s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Heapsort: </a:t>
            </a:r>
            <a:r>
              <a:rPr lang="en" sz="1400" u="sng">
                <a:solidFill>
                  <a:schemeClr val="hlink"/>
                </a:solidFill>
                <a:hlinkClick r:id="rId7"/>
              </a:rPr>
              <a:t>https://www.youtube.com/watch?v=kPRA0W1kECg&amp;t=1m28s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LSD sort: </a:t>
            </a:r>
            <a:r>
              <a:rPr lang="en" sz="1400" u="sng">
                <a:solidFill>
                  <a:schemeClr val="hlink"/>
                </a:solidFill>
                <a:hlinkClick r:id="rId8"/>
              </a:rPr>
              <a:t>https://www.youtube.com/watch?v=kPRA0W1kECg&amp;t=1m54s</a:t>
            </a:r>
            <a:r>
              <a:rPr lang="en" sz="1400"/>
              <a:t> [coming in a future lecture]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MSD sort: </a:t>
            </a:r>
            <a:r>
              <a:rPr lang="en" sz="1400" u="sng">
                <a:solidFill>
                  <a:schemeClr val="hlink"/>
                </a:solidFill>
                <a:hlinkClick r:id="rId9"/>
              </a:rPr>
              <a:t>https://www.youtube.com/watch?v=kPRA0W1kECg&amp;t=2m10s</a:t>
            </a:r>
            <a:r>
              <a:rPr lang="en" sz="1400"/>
              <a:t> [coming in a future lecture]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Shell’s sort: </a:t>
            </a:r>
            <a:r>
              <a:rPr lang="en" sz="1400" u="sng">
                <a:solidFill>
                  <a:schemeClr val="hlink"/>
                </a:solidFill>
                <a:hlinkClick r:id="rId10"/>
              </a:rPr>
              <a:t>https://www.youtube.com/watch?v=kPRA0W1kECg&amp;t=3m37s</a:t>
            </a:r>
            <a:r>
              <a:rPr lang="en" sz="1400"/>
              <a:t> [bonus from an earlier lecture]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Questions to ponder (later… after class): 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many items for selection 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Why does insertion sort take longer / more compares than selection 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 what time stamp does the first partition complete for Quicksort?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Could the size of the input to mergesort be a power of 2?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do the colors mean for heapsort?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many characters are in the alphabet used for the LSD sort problem?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many digits are in the keys used for the LSD sort problem?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